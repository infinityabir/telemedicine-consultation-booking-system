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133"/>
  </p:notesMasterIdLst>
  <p:sldIdLst>
    <p:sldId id="256" r:id="rId2"/>
    <p:sldId id="257" r:id="rId3"/>
    <p:sldId id="258" r:id="rId4"/>
    <p:sldId id="259" r:id="rId5"/>
    <p:sldId id="352" r:id="rId6"/>
    <p:sldId id="312" r:id="rId7"/>
    <p:sldId id="353" r:id="rId8"/>
    <p:sldId id="412" r:id="rId9"/>
    <p:sldId id="260" r:id="rId10"/>
    <p:sldId id="354" r:id="rId11"/>
    <p:sldId id="355" r:id="rId12"/>
    <p:sldId id="356" r:id="rId13"/>
    <p:sldId id="357" r:id="rId14"/>
    <p:sldId id="358" r:id="rId15"/>
    <p:sldId id="316" r:id="rId16"/>
    <p:sldId id="317" r:id="rId17"/>
    <p:sldId id="318" r:id="rId18"/>
    <p:sldId id="319" r:id="rId19"/>
    <p:sldId id="320" r:id="rId20"/>
    <p:sldId id="321" r:id="rId21"/>
    <p:sldId id="322" r:id="rId22"/>
    <p:sldId id="311" r:id="rId23"/>
    <p:sldId id="323" r:id="rId24"/>
    <p:sldId id="324" r:id="rId25"/>
    <p:sldId id="325" r:id="rId26"/>
    <p:sldId id="326" r:id="rId27"/>
    <p:sldId id="359" r:id="rId28"/>
    <p:sldId id="419" r:id="rId29"/>
    <p:sldId id="420" r:id="rId30"/>
    <p:sldId id="421" r:id="rId31"/>
    <p:sldId id="422" r:id="rId32"/>
    <p:sldId id="423" r:id="rId33"/>
    <p:sldId id="424" r:id="rId34"/>
    <p:sldId id="425" r:id="rId35"/>
    <p:sldId id="426" r:id="rId36"/>
    <p:sldId id="427" r:id="rId37"/>
    <p:sldId id="428" r:id="rId38"/>
    <p:sldId id="429" r:id="rId39"/>
    <p:sldId id="360" r:id="rId40"/>
    <p:sldId id="361" r:id="rId41"/>
    <p:sldId id="263" r:id="rId42"/>
    <p:sldId id="307" r:id="rId43"/>
    <p:sldId id="264" r:id="rId44"/>
    <p:sldId id="362" r:id="rId45"/>
    <p:sldId id="267" r:id="rId46"/>
    <p:sldId id="268" r:id="rId47"/>
    <p:sldId id="363" r:id="rId48"/>
    <p:sldId id="364" r:id="rId49"/>
    <p:sldId id="365" r:id="rId50"/>
    <p:sldId id="366" r:id="rId51"/>
    <p:sldId id="367" r:id="rId52"/>
    <p:sldId id="368" r:id="rId53"/>
    <p:sldId id="369" r:id="rId54"/>
    <p:sldId id="370" r:id="rId55"/>
    <p:sldId id="371" r:id="rId56"/>
    <p:sldId id="372" r:id="rId57"/>
    <p:sldId id="373" r:id="rId58"/>
    <p:sldId id="374" r:id="rId59"/>
    <p:sldId id="375" r:id="rId60"/>
    <p:sldId id="376" r:id="rId61"/>
    <p:sldId id="377" r:id="rId62"/>
    <p:sldId id="378" r:id="rId63"/>
    <p:sldId id="379" r:id="rId64"/>
    <p:sldId id="380" r:id="rId65"/>
    <p:sldId id="381" r:id="rId66"/>
    <p:sldId id="382" r:id="rId67"/>
    <p:sldId id="383" r:id="rId68"/>
    <p:sldId id="384" r:id="rId69"/>
    <p:sldId id="385" r:id="rId70"/>
    <p:sldId id="386" r:id="rId71"/>
    <p:sldId id="387" r:id="rId72"/>
    <p:sldId id="388" r:id="rId73"/>
    <p:sldId id="389" r:id="rId74"/>
    <p:sldId id="390" r:id="rId75"/>
    <p:sldId id="391" r:id="rId76"/>
    <p:sldId id="392" r:id="rId77"/>
    <p:sldId id="393" r:id="rId78"/>
    <p:sldId id="394" r:id="rId79"/>
    <p:sldId id="395" r:id="rId80"/>
    <p:sldId id="396" r:id="rId81"/>
    <p:sldId id="397" r:id="rId82"/>
    <p:sldId id="398" r:id="rId83"/>
    <p:sldId id="399" r:id="rId84"/>
    <p:sldId id="400" r:id="rId85"/>
    <p:sldId id="401" r:id="rId86"/>
    <p:sldId id="402" r:id="rId87"/>
    <p:sldId id="403" r:id="rId88"/>
    <p:sldId id="404" r:id="rId89"/>
    <p:sldId id="405" r:id="rId90"/>
    <p:sldId id="406" r:id="rId91"/>
    <p:sldId id="407" r:id="rId92"/>
    <p:sldId id="408" r:id="rId93"/>
    <p:sldId id="409" r:id="rId94"/>
    <p:sldId id="410" r:id="rId95"/>
    <p:sldId id="411" r:id="rId96"/>
    <p:sldId id="327" r:id="rId97"/>
    <p:sldId id="314" r:id="rId98"/>
    <p:sldId id="313" r:id="rId99"/>
    <p:sldId id="328" r:id="rId100"/>
    <p:sldId id="331" r:id="rId101"/>
    <p:sldId id="351" r:id="rId102"/>
    <p:sldId id="261" r:id="rId103"/>
    <p:sldId id="329" r:id="rId104"/>
    <p:sldId id="332" r:id="rId105"/>
    <p:sldId id="330" r:id="rId106"/>
    <p:sldId id="333" r:id="rId107"/>
    <p:sldId id="334" r:id="rId108"/>
    <p:sldId id="335" r:id="rId109"/>
    <p:sldId id="338" r:id="rId110"/>
    <p:sldId id="336" r:id="rId111"/>
    <p:sldId id="337" r:id="rId112"/>
    <p:sldId id="340" r:id="rId113"/>
    <p:sldId id="339" r:id="rId114"/>
    <p:sldId id="341" r:id="rId115"/>
    <p:sldId id="342" r:id="rId116"/>
    <p:sldId id="344" r:id="rId117"/>
    <p:sldId id="343" r:id="rId118"/>
    <p:sldId id="345" r:id="rId119"/>
    <p:sldId id="346" r:id="rId120"/>
    <p:sldId id="347" r:id="rId121"/>
    <p:sldId id="348" r:id="rId122"/>
    <p:sldId id="349" r:id="rId123"/>
    <p:sldId id="350" r:id="rId124"/>
    <p:sldId id="413" r:id="rId125"/>
    <p:sldId id="414" r:id="rId126"/>
    <p:sldId id="415" r:id="rId127"/>
    <p:sldId id="416" r:id="rId128"/>
    <p:sldId id="417" r:id="rId129"/>
    <p:sldId id="418" r:id="rId130"/>
    <p:sldId id="265" r:id="rId131"/>
    <p:sldId id="291" r:id="rId132"/>
  </p:sldIdLst>
  <p:sldSz cx="9144000" cy="5143500" type="screen16x9"/>
  <p:notesSz cx="6858000" cy="9144000"/>
  <p:embeddedFontLst>
    <p:embeddedFont>
      <p:font typeface="Bebas Neue" panose="020B0604020202020204" charset="0"/>
      <p:regular r:id="rId134"/>
    </p:embeddedFont>
    <p:embeddedFont>
      <p:font typeface="Calibri" panose="020F0502020204030204" pitchFamily="34" charset="0"/>
      <p:regular r:id="rId135"/>
      <p:bold r:id="rId136"/>
      <p:italic r:id="rId137"/>
      <p:boldItalic r:id="rId138"/>
    </p:embeddedFont>
    <p:embeddedFont>
      <p:font typeface="Nunito Light" pitchFamily="2" charset="0"/>
      <p:regular r:id="rId139"/>
      <p:italic r:id="rId140"/>
    </p:embeddedFont>
    <p:embeddedFont>
      <p:font typeface="Open Sans" panose="020B0606030504020204" pitchFamily="34" charset="0"/>
      <p:regular r:id="rId141"/>
      <p:bold r:id="rId142"/>
      <p:italic r:id="rId143"/>
      <p:boldItalic r:id="rId144"/>
    </p:embeddedFont>
    <p:embeddedFont>
      <p:font typeface="Poppins" panose="00000500000000000000" pitchFamily="2" charset="0"/>
      <p:regular r:id="rId145"/>
      <p:bold r:id="rId146"/>
      <p:italic r:id="rId147"/>
      <p:boldItalic r:id="rId148"/>
    </p:embeddedFont>
    <p:embeddedFont>
      <p:font typeface="Poppins SemiBold" panose="00000700000000000000" pitchFamily="2" charset="0"/>
      <p:regular r:id="rId149"/>
      <p:bold r:id="rId150"/>
      <p:italic r:id="rId151"/>
      <p:boldItalic r:id="rId152"/>
    </p:embeddedFont>
    <p:embeddedFont>
      <p:font typeface="Sora" panose="020B0604020202020204" charset="0"/>
      <p:regular r:id="rId153"/>
      <p:bold r:id="rId1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E5BDD0F-B5EE-4CEE-9ACA-4190605349E3}">
  <a:tblStyle styleId="{3E5BDD0F-B5EE-4CEE-9ACA-4190605349E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snapToGrid="0">
      <p:cViewPr>
        <p:scale>
          <a:sx n="125" d="100"/>
          <a:sy n="125" d="100"/>
        </p:scale>
        <p:origin x="226" y="-7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5.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6.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font" Target="fonts/font6.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17.fntdata"/><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7.fntdata"/><Relationship Id="rId145"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font" Target="fonts/font2.fntdata"/><Relationship Id="rId151" Type="http://schemas.openxmlformats.org/officeDocument/2006/relationships/font" Target="fonts/font18.fntdata"/><Relationship Id="rId156"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8.fntdata"/><Relationship Id="rId146" Type="http://schemas.openxmlformats.org/officeDocument/2006/relationships/font" Target="fonts/font1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font" Target="fonts/font3.fntdata"/><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19.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9.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4.fntdata"/><Relationship Id="rId15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20.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0.fntdata"/><Relationship Id="rId148"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 Id="rId154" Type="http://schemas.openxmlformats.org/officeDocument/2006/relationships/font" Target="fonts/font21.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1.fntdata"/><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2d4e97ef00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2d4e97ef00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2da052de2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12da052de2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2d4e97ef00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12d4e97ef00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2da052de2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2da052de2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2da052de2e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2da052de2e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1349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5956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3323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5908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2da052de2e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2da052de2e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5956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9523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1255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6283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5016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4171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7106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0921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07999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1608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4011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5036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68966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97311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51425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12028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16636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9605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99089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96921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68446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58913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07830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11303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97562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35686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14129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50580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d1bf8d60a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d1bf8d60a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d1bf8d60a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d1bf8d60a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d1bf8d60a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d1bf8d60a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d1bf8d60a4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d1bf8d60a4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d1bf8d60a4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d1bf8d60a4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d1bf8d60a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d1bf8d60a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31624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59569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69366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7804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0923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43379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54525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43891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69690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21624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34147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45230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48207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32324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86042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53670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8881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66224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714505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50150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22319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729318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930831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631185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56941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616659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213978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710696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559770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376892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987482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029241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368602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287470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007285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164555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333821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083026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961736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039625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177011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705849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78220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361065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855856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691179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835811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891175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131409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491756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125577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952309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439309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655575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888631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08214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21318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002489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594752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510512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692237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748901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137540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405062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484949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786939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774818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194980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414171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540986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890420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60243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052672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343265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02195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4562614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429236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3196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2231293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676355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7760184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2d4e97ef00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2d4e97ef0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313727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2da052de2e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2da052de2e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12cdc6cee93_0_1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8" name="Google Shape;938;g12cdc6cee93_0_1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dk1"/>
            </a:gs>
            <a:gs pos="100000">
              <a:schemeClr val="lt1"/>
            </a:gs>
          </a:gsLst>
          <a:lin ang="5400012"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926475" y="1039950"/>
            <a:ext cx="4649100" cy="19581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37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3926475" y="3373050"/>
            <a:ext cx="2656200" cy="730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800">
                <a:solidFill>
                  <a:srgbClr val="666666"/>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6286800" y="0"/>
            <a:ext cx="28572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dk1"/>
            </a:gs>
            <a:gs pos="100000">
              <a:schemeClr val="lt1"/>
            </a:gs>
          </a:gsLst>
          <a:lin ang="5400012" scaled="0"/>
        </a:gradFill>
        <a:effectLst/>
      </p:bgPr>
    </p:bg>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13225" y="2221675"/>
            <a:ext cx="4387800" cy="6780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713225" y="982925"/>
            <a:ext cx="1126200" cy="8889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l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txBox="1">
            <a:spLocks noGrp="1"/>
          </p:cNvSpPr>
          <p:nvPr>
            <p:ph type="subTitle" idx="1"/>
          </p:nvPr>
        </p:nvSpPr>
        <p:spPr>
          <a:xfrm>
            <a:off x="713225" y="2899550"/>
            <a:ext cx="2369400" cy="5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 name="Google Shape;17;p3"/>
          <p:cNvSpPr/>
          <p:nvPr/>
        </p:nvSpPr>
        <p:spPr>
          <a:xfrm rot="10800000" flipH="1">
            <a:off x="0" y="0"/>
            <a:ext cx="28575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flipH="1">
            <a:off x="753090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dk1"/>
            </a:gs>
            <a:gs pos="100000">
              <a:schemeClr val="lt1"/>
            </a:gs>
          </a:gsLst>
          <a:lin ang="10801400" scaled="0"/>
        </a:gradFill>
        <a:effectLst/>
      </p:bgPr>
    </p:bg>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36" name="Google Shape;36;p6"/>
          <p:cNvSpPr/>
          <p:nvPr/>
        </p:nvSpPr>
        <p:spPr>
          <a:xfrm flipH="1">
            <a:off x="753090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p:nvPr/>
        </p:nvSpPr>
        <p:spPr>
          <a:xfrm rot="10800000" flipH="1">
            <a:off x="0" y="0"/>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6"/>
          <p:cNvSpPr/>
          <p:nvPr/>
        </p:nvSpPr>
        <p:spPr>
          <a:xfrm>
            <a:off x="-777475" y="4424625"/>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sp>
        <p:nvSpPr>
          <p:cNvPr id="40" name="Google Shape;40;p7"/>
          <p:cNvSpPr txBox="1">
            <a:spLocks noGrp="1"/>
          </p:cNvSpPr>
          <p:nvPr>
            <p:ph type="title"/>
          </p:nvPr>
        </p:nvSpPr>
        <p:spPr>
          <a:xfrm>
            <a:off x="3372600" y="838625"/>
            <a:ext cx="4104600" cy="892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1" name="Google Shape;41;p7"/>
          <p:cNvSpPr txBox="1">
            <a:spLocks noGrp="1"/>
          </p:cNvSpPr>
          <p:nvPr>
            <p:ph type="subTitle" idx="1"/>
          </p:nvPr>
        </p:nvSpPr>
        <p:spPr>
          <a:xfrm>
            <a:off x="3372600" y="2233671"/>
            <a:ext cx="4104600" cy="207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42" name="Google Shape;42;p7"/>
          <p:cNvSpPr/>
          <p:nvPr/>
        </p:nvSpPr>
        <p:spPr>
          <a:xfrm flipH="1">
            <a:off x="6286800" y="4822125"/>
            <a:ext cx="28572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7"/>
          <p:cNvSpPr/>
          <p:nvPr/>
        </p:nvSpPr>
        <p:spPr>
          <a:xfrm>
            <a:off x="-777475" y="-951200"/>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7"/>
          <p:cNvSpPr/>
          <p:nvPr/>
        </p:nvSpPr>
        <p:spPr>
          <a:xfrm>
            <a:off x="-308275" y="1426075"/>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bg>
      <p:bgPr>
        <a:gradFill>
          <a:gsLst>
            <a:gs pos="0">
              <a:schemeClr val="dk1"/>
            </a:gs>
            <a:gs pos="100000">
              <a:schemeClr val="lt1"/>
            </a:gs>
          </a:gsLst>
          <a:lin ang="10800025" scaled="0"/>
        </a:gradFill>
        <a:effectLst/>
      </p:bgPr>
    </p:bg>
    <p:spTree>
      <p:nvGrpSpPr>
        <p:cNvPr id="1" name="Shape 68"/>
        <p:cNvGrpSpPr/>
        <p:nvPr/>
      </p:nvGrpSpPr>
      <p:grpSpPr>
        <a:xfrm>
          <a:off x="0" y="0"/>
          <a:ext cx="0" cy="0"/>
          <a:chOff x="0" y="0"/>
          <a:chExt cx="0" cy="0"/>
        </a:xfrm>
      </p:grpSpPr>
      <p:sp>
        <p:nvSpPr>
          <p:cNvPr id="69" name="Google Shape;69;p13"/>
          <p:cNvSpPr txBox="1">
            <a:spLocks noGrp="1"/>
          </p:cNvSpPr>
          <p:nvPr>
            <p:ph type="title"/>
          </p:nvPr>
        </p:nvSpPr>
        <p:spPr>
          <a:xfrm>
            <a:off x="1772463" y="1654725"/>
            <a:ext cx="2638500" cy="357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3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0" name="Google Shape;70;p13"/>
          <p:cNvSpPr txBox="1">
            <a:spLocks noGrp="1"/>
          </p:cNvSpPr>
          <p:nvPr>
            <p:ph type="subTitle" idx="1"/>
          </p:nvPr>
        </p:nvSpPr>
        <p:spPr>
          <a:xfrm>
            <a:off x="1772463" y="2012990"/>
            <a:ext cx="2638500" cy="524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 name="Google Shape;71;p13"/>
          <p:cNvSpPr txBox="1">
            <a:spLocks noGrp="1"/>
          </p:cNvSpPr>
          <p:nvPr>
            <p:ph type="title" idx="2"/>
          </p:nvPr>
        </p:nvSpPr>
        <p:spPr>
          <a:xfrm>
            <a:off x="5474937" y="1654725"/>
            <a:ext cx="2638500" cy="357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3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 name="Google Shape;72;p13"/>
          <p:cNvSpPr txBox="1">
            <a:spLocks noGrp="1"/>
          </p:cNvSpPr>
          <p:nvPr>
            <p:ph type="subTitle" idx="3"/>
          </p:nvPr>
        </p:nvSpPr>
        <p:spPr>
          <a:xfrm>
            <a:off x="5474937" y="2012990"/>
            <a:ext cx="2638500" cy="524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 name="Google Shape;73;p13"/>
          <p:cNvSpPr txBox="1">
            <a:spLocks noGrp="1"/>
          </p:cNvSpPr>
          <p:nvPr>
            <p:ph type="title" idx="4" hasCustomPrompt="1"/>
          </p:nvPr>
        </p:nvSpPr>
        <p:spPr>
          <a:xfrm>
            <a:off x="1030563" y="1654725"/>
            <a:ext cx="665700" cy="3570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sz="2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a:spLocks noGrp="1"/>
          </p:cNvSpPr>
          <p:nvPr>
            <p:ph type="title" idx="5" hasCustomPrompt="1"/>
          </p:nvPr>
        </p:nvSpPr>
        <p:spPr>
          <a:xfrm>
            <a:off x="4733038" y="1654725"/>
            <a:ext cx="665700" cy="357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txBox="1">
            <a:spLocks noGrp="1"/>
          </p:cNvSpPr>
          <p:nvPr>
            <p:ph type="title" idx="6"/>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6" name="Google Shape;76;p13"/>
          <p:cNvSpPr txBox="1">
            <a:spLocks noGrp="1"/>
          </p:cNvSpPr>
          <p:nvPr>
            <p:ph type="title" idx="7"/>
          </p:nvPr>
        </p:nvSpPr>
        <p:spPr>
          <a:xfrm>
            <a:off x="1772463" y="3061675"/>
            <a:ext cx="2638500" cy="357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3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 name="Google Shape;77;p13"/>
          <p:cNvSpPr txBox="1">
            <a:spLocks noGrp="1"/>
          </p:cNvSpPr>
          <p:nvPr>
            <p:ph type="subTitle" idx="8"/>
          </p:nvPr>
        </p:nvSpPr>
        <p:spPr>
          <a:xfrm>
            <a:off x="1772463" y="3419940"/>
            <a:ext cx="2638500" cy="524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 name="Google Shape;78;p13"/>
          <p:cNvSpPr txBox="1">
            <a:spLocks noGrp="1"/>
          </p:cNvSpPr>
          <p:nvPr>
            <p:ph type="title" idx="9"/>
          </p:nvPr>
        </p:nvSpPr>
        <p:spPr>
          <a:xfrm>
            <a:off x="5474937" y="3061675"/>
            <a:ext cx="2638500" cy="357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3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9" name="Google Shape;79;p13"/>
          <p:cNvSpPr txBox="1">
            <a:spLocks noGrp="1"/>
          </p:cNvSpPr>
          <p:nvPr>
            <p:ph type="subTitle" idx="13"/>
          </p:nvPr>
        </p:nvSpPr>
        <p:spPr>
          <a:xfrm>
            <a:off x="5474937" y="3419940"/>
            <a:ext cx="2638500" cy="524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 name="Google Shape;80;p13"/>
          <p:cNvSpPr txBox="1">
            <a:spLocks noGrp="1"/>
          </p:cNvSpPr>
          <p:nvPr>
            <p:ph type="title" idx="14" hasCustomPrompt="1"/>
          </p:nvPr>
        </p:nvSpPr>
        <p:spPr>
          <a:xfrm>
            <a:off x="1030563" y="3061675"/>
            <a:ext cx="665700" cy="3570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sz="2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a:spLocks noGrp="1"/>
          </p:cNvSpPr>
          <p:nvPr>
            <p:ph type="title" idx="15" hasCustomPrompt="1"/>
          </p:nvPr>
        </p:nvSpPr>
        <p:spPr>
          <a:xfrm>
            <a:off x="4733038" y="3061675"/>
            <a:ext cx="665700" cy="357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p:nvPr/>
        </p:nvSpPr>
        <p:spPr>
          <a:xfrm>
            <a:off x="0" y="4822200"/>
            <a:ext cx="28575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_1">
    <p:bg>
      <p:bgPr>
        <a:gradFill>
          <a:gsLst>
            <a:gs pos="0">
              <a:schemeClr val="dk1"/>
            </a:gs>
            <a:gs pos="100000">
              <a:schemeClr val="lt1"/>
            </a:gs>
          </a:gsLst>
          <a:lin ang="5400700" scaled="0"/>
        </a:gradFill>
        <a:effectLst/>
      </p:bgPr>
    </p:bg>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a:off x="713225" y="1584850"/>
            <a:ext cx="4338600" cy="932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7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5" name="Google Shape;85;p14"/>
          <p:cNvSpPr txBox="1">
            <a:spLocks noGrp="1"/>
          </p:cNvSpPr>
          <p:nvPr>
            <p:ph type="subTitle" idx="1"/>
          </p:nvPr>
        </p:nvSpPr>
        <p:spPr>
          <a:xfrm>
            <a:off x="713225" y="2922025"/>
            <a:ext cx="4338600" cy="615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 name="Google Shape;86;p14"/>
          <p:cNvSpPr/>
          <p:nvPr/>
        </p:nvSpPr>
        <p:spPr>
          <a:xfrm rot="10800000" flipH="1">
            <a:off x="0" y="0"/>
            <a:ext cx="28575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p:nvPr/>
        </p:nvSpPr>
        <p:spPr>
          <a:xfrm flipH="1">
            <a:off x="753090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p:nvPr/>
        </p:nvSpPr>
        <p:spPr>
          <a:xfrm>
            <a:off x="-370650" y="4237275"/>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p:nvPr/>
        </p:nvSpPr>
        <p:spPr>
          <a:xfrm>
            <a:off x="7406975" y="-95120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CUSTOM_5">
    <p:bg>
      <p:bgPr>
        <a:gradFill>
          <a:gsLst>
            <a:gs pos="0">
              <a:schemeClr val="dk1"/>
            </a:gs>
            <a:gs pos="100000">
              <a:schemeClr val="lt1"/>
            </a:gs>
          </a:gsLst>
          <a:lin ang="5400700" scaled="0"/>
        </a:gradFill>
        <a:effectLst/>
      </p:bgPr>
    </p:bg>
    <p:spTree>
      <p:nvGrpSpPr>
        <p:cNvPr id="1" name="Shape 149"/>
        <p:cNvGrpSpPr/>
        <p:nvPr/>
      </p:nvGrpSpPr>
      <p:grpSpPr>
        <a:xfrm>
          <a:off x="0" y="0"/>
          <a:ext cx="0" cy="0"/>
          <a:chOff x="0" y="0"/>
          <a:chExt cx="0" cy="0"/>
        </a:xfrm>
      </p:grpSpPr>
      <p:sp>
        <p:nvSpPr>
          <p:cNvPr id="150" name="Google Shape;150;p22"/>
          <p:cNvSpPr txBox="1">
            <a:spLocks noGrp="1"/>
          </p:cNvSpPr>
          <p:nvPr>
            <p:ph type="title"/>
          </p:nvPr>
        </p:nvSpPr>
        <p:spPr>
          <a:xfrm>
            <a:off x="2145808" y="1635275"/>
            <a:ext cx="2139000" cy="356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3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1" name="Google Shape;151;p22"/>
          <p:cNvSpPr txBox="1">
            <a:spLocks noGrp="1"/>
          </p:cNvSpPr>
          <p:nvPr>
            <p:ph type="subTitle" idx="1"/>
          </p:nvPr>
        </p:nvSpPr>
        <p:spPr>
          <a:xfrm>
            <a:off x="2145808" y="1991975"/>
            <a:ext cx="2139000" cy="59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2" name="Google Shape;152;p22"/>
          <p:cNvSpPr txBox="1">
            <a:spLocks noGrp="1"/>
          </p:cNvSpPr>
          <p:nvPr>
            <p:ph type="title" idx="2"/>
          </p:nvPr>
        </p:nvSpPr>
        <p:spPr>
          <a:xfrm>
            <a:off x="5910993" y="1635275"/>
            <a:ext cx="2139000" cy="356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3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3" name="Google Shape;153;p22"/>
          <p:cNvSpPr txBox="1">
            <a:spLocks noGrp="1"/>
          </p:cNvSpPr>
          <p:nvPr>
            <p:ph type="subTitle" idx="3"/>
          </p:nvPr>
        </p:nvSpPr>
        <p:spPr>
          <a:xfrm>
            <a:off x="5910986" y="1991975"/>
            <a:ext cx="2139000" cy="59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4" name="Google Shape;154;p22"/>
          <p:cNvSpPr txBox="1">
            <a:spLocks noGrp="1"/>
          </p:cNvSpPr>
          <p:nvPr>
            <p:ph type="title" idx="4"/>
          </p:nvPr>
        </p:nvSpPr>
        <p:spPr>
          <a:xfrm>
            <a:off x="2145808" y="3068675"/>
            <a:ext cx="2139000" cy="356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3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5" name="Google Shape;155;p22"/>
          <p:cNvSpPr txBox="1">
            <a:spLocks noGrp="1"/>
          </p:cNvSpPr>
          <p:nvPr>
            <p:ph type="subTitle" idx="5"/>
          </p:nvPr>
        </p:nvSpPr>
        <p:spPr>
          <a:xfrm>
            <a:off x="2145808" y="3425375"/>
            <a:ext cx="2139000" cy="59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 name="Google Shape;156;p22"/>
          <p:cNvSpPr txBox="1">
            <a:spLocks noGrp="1"/>
          </p:cNvSpPr>
          <p:nvPr>
            <p:ph type="title" idx="6"/>
          </p:nvPr>
        </p:nvSpPr>
        <p:spPr>
          <a:xfrm>
            <a:off x="5910993" y="3068675"/>
            <a:ext cx="2139000" cy="356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3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7" name="Google Shape;157;p22"/>
          <p:cNvSpPr txBox="1">
            <a:spLocks noGrp="1"/>
          </p:cNvSpPr>
          <p:nvPr>
            <p:ph type="subTitle" idx="7"/>
          </p:nvPr>
        </p:nvSpPr>
        <p:spPr>
          <a:xfrm>
            <a:off x="5910986" y="3425375"/>
            <a:ext cx="2139000" cy="59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 name="Google Shape;158;p22"/>
          <p:cNvSpPr txBox="1">
            <a:spLocks noGrp="1"/>
          </p:cNvSpPr>
          <p:nvPr>
            <p:ph type="title" idx="8"/>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159" name="Google Shape;159;p22"/>
          <p:cNvSpPr/>
          <p:nvPr/>
        </p:nvSpPr>
        <p:spPr>
          <a:xfrm>
            <a:off x="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2"/>
          <p:cNvSpPr/>
          <p:nvPr/>
        </p:nvSpPr>
        <p:spPr>
          <a:xfrm rot="10800000">
            <a:off x="6286800" y="0"/>
            <a:ext cx="28572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2"/>
          <p:cNvSpPr/>
          <p:nvPr/>
        </p:nvSpPr>
        <p:spPr>
          <a:xfrm>
            <a:off x="6634050" y="4608575"/>
            <a:ext cx="2162700" cy="2163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10">
    <p:bg>
      <p:bgPr>
        <a:gradFill>
          <a:gsLst>
            <a:gs pos="0">
              <a:schemeClr val="dk1"/>
            </a:gs>
            <a:gs pos="100000">
              <a:schemeClr val="lt1"/>
            </a:gs>
          </a:gsLst>
          <a:lin ang="5400700" scaled="0"/>
        </a:gradFill>
        <a:effectLst/>
      </p:bgPr>
    </p:bg>
    <p:spTree>
      <p:nvGrpSpPr>
        <p:cNvPr id="1" name="Shape 201"/>
        <p:cNvGrpSpPr/>
        <p:nvPr/>
      </p:nvGrpSpPr>
      <p:grpSpPr>
        <a:xfrm>
          <a:off x="0" y="0"/>
          <a:ext cx="0" cy="0"/>
          <a:chOff x="0" y="0"/>
          <a:chExt cx="0" cy="0"/>
        </a:xfrm>
      </p:grpSpPr>
      <p:sp>
        <p:nvSpPr>
          <p:cNvPr id="202" name="Google Shape;202;p26"/>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203" name="Google Shape;203;p26"/>
          <p:cNvSpPr/>
          <p:nvPr/>
        </p:nvSpPr>
        <p:spPr>
          <a:xfrm>
            <a:off x="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bg>
      <p:bgPr>
        <a:gradFill>
          <a:gsLst>
            <a:gs pos="0">
              <a:schemeClr val="dk1"/>
            </a:gs>
            <a:gs pos="100000">
              <a:schemeClr val="lt1"/>
            </a:gs>
          </a:gsLst>
          <a:lin ang="5400700" scaled="0"/>
        </a:gradFill>
        <a:effectLst/>
      </p:bgPr>
    </p:bg>
    <p:spTree>
      <p:nvGrpSpPr>
        <p:cNvPr id="1" name="Shape 212"/>
        <p:cNvGrpSpPr/>
        <p:nvPr/>
      </p:nvGrpSpPr>
      <p:grpSpPr>
        <a:xfrm>
          <a:off x="0" y="0"/>
          <a:ext cx="0" cy="0"/>
          <a:chOff x="0" y="0"/>
          <a:chExt cx="0" cy="0"/>
        </a:xfrm>
      </p:grpSpPr>
      <p:sp>
        <p:nvSpPr>
          <p:cNvPr id="213" name="Google Shape;213;p28"/>
          <p:cNvSpPr/>
          <p:nvPr/>
        </p:nvSpPr>
        <p:spPr>
          <a:xfrm rot="10800000" flipH="1">
            <a:off x="0" y="0"/>
            <a:ext cx="28575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8"/>
          <p:cNvSpPr/>
          <p:nvPr/>
        </p:nvSpPr>
        <p:spPr>
          <a:xfrm flipH="1">
            <a:off x="6286800" y="4822125"/>
            <a:ext cx="28572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8"/>
          <p:cNvSpPr/>
          <p:nvPr/>
        </p:nvSpPr>
        <p:spPr>
          <a:xfrm>
            <a:off x="-542100" y="4363450"/>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8"/>
          <p:cNvSpPr/>
          <p:nvPr/>
        </p:nvSpPr>
        <p:spPr>
          <a:xfrm>
            <a:off x="8430775" y="-818150"/>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8"/>
          <p:cNvSpPr/>
          <p:nvPr/>
        </p:nvSpPr>
        <p:spPr>
          <a:xfrm>
            <a:off x="713225" y="4790200"/>
            <a:ext cx="637500" cy="6375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bg>
      <p:bgPr>
        <a:gradFill>
          <a:gsLst>
            <a:gs pos="0">
              <a:schemeClr val="dk1"/>
            </a:gs>
            <a:gs pos="100000">
              <a:schemeClr val="lt1"/>
            </a:gs>
          </a:gsLst>
          <a:lin ang="18900732" scaled="0"/>
        </a:gradFill>
        <a:effectLst/>
      </p:bgPr>
    </p:bg>
    <p:spTree>
      <p:nvGrpSpPr>
        <p:cNvPr id="1" name="Shape 218"/>
        <p:cNvGrpSpPr/>
        <p:nvPr/>
      </p:nvGrpSpPr>
      <p:grpSpPr>
        <a:xfrm>
          <a:off x="0" y="0"/>
          <a:ext cx="0" cy="0"/>
          <a:chOff x="0" y="0"/>
          <a:chExt cx="0" cy="0"/>
        </a:xfrm>
      </p:grpSpPr>
      <p:sp>
        <p:nvSpPr>
          <p:cNvPr id="219" name="Google Shape;219;p29"/>
          <p:cNvSpPr/>
          <p:nvPr/>
        </p:nvSpPr>
        <p:spPr>
          <a:xfrm>
            <a:off x="0" y="4822125"/>
            <a:ext cx="1613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9"/>
          <p:cNvSpPr/>
          <p:nvPr/>
        </p:nvSpPr>
        <p:spPr>
          <a:xfrm rot="10800000">
            <a:off x="7527900" y="0"/>
            <a:ext cx="1616100" cy="321300"/>
          </a:xfrm>
          <a:prstGeom prst="round1Rect">
            <a:avLst>
              <a:gd name="adj" fmla="val 50000"/>
            </a:avLst>
          </a:prstGeom>
          <a:gradFill>
            <a:gsLst>
              <a:gs pos="0">
                <a:schemeClr val="lt2"/>
              </a:gs>
              <a:gs pos="100000">
                <a:schemeClr val="accent1"/>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9"/>
          <p:cNvSpPr/>
          <p:nvPr/>
        </p:nvSpPr>
        <p:spPr>
          <a:xfrm>
            <a:off x="-561150" y="-818150"/>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9"/>
          <p:cNvSpPr/>
          <p:nvPr/>
        </p:nvSpPr>
        <p:spPr>
          <a:xfrm>
            <a:off x="8239950" y="4237275"/>
            <a:ext cx="1490700" cy="1491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9"/>
          <p:cNvSpPr/>
          <p:nvPr/>
        </p:nvSpPr>
        <p:spPr>
          <a:xfrm>
            <a:off x="713225" y="-391400"/>
            <a:ext cx="637500" cy="6375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1_Title and text">
    <p:spTree>
      <p:nvGrpSpPr>
        <p:cNvPr id="1" name="Shape 160"/>
        <p:cNvGrpSpPr/>
        <p:nvPr/>
      </p:nvGrpSpPr>
      <p:grpSpPr>
        <a:xfrm>
          <a:off x="0" y="0"/>
          <a:ext cx="0" cy="0"/>
          <a:chOff x="0" y="0"/>
          <a:chExt cx="0" cy="0"/>
        </a:xfrm>
      </p:grpSpPr>
      <p:sp>
        <p:nvSpPr>
          <p:cNvPr id="161" name="Google Shape;16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62" name="Google Shape;162;p17"/>
          <p:cNvSpPr txBox="1">
            <a:spLocks noGrp="1"/>
          </p:cNvSpPr>
          <p:nvPr>
            <p:ph type="subTitle" idx="1"/>
          </p:nvPr>
        </p:nvSpPr>
        <p:spPr>
          <a:xfrm>
            <a:off x="4827974"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3" name="Google Shape;163;p17"/>
          <p:cNvSpPr txBox="1">
            <a:spLocks noGrp="1"/>
          </p:cNvSpPr>
          <p:nvPr>
            <p:ph type="subTitle" idx="2"/>
          </p:nvPr>
        </p:nvSpPr>
        <p:spPr>
          <a:xfrm>
            <a:off x="997425"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164" name="Google Shape;164;p17"/>
          <p:cNvGrpSpPr/>
          <p:nvPr/>
        </p:nvGrpSpPr>
        <p:grpSpPr>
          <a:xfrm>
            <a:off x="-320650" y="-762725"/>
            <a:ext cx="9327075" cy="7125850"/>
            <a:chOff x="-320650" y="-762725"/>
            <a:chExt cx="9327075" cy="7125850"/>
          </a:xfrm>
        </p:grpSpPr>
        <p:cxnSp>
          <p:nvCxnSpPr>
            <p:cNvPr id="165" name="Google Shape;165;p17"/>
            <p:cNvCxnSpPr/>
            <p:nvPr/>
          </p:nvCxnSpPr>
          <p:spPr>
            <a:xfrm rot="-5400000" flipH="1">
              <a:off x="6857075" y="1775500"/>
              <a:ext cx="4097100" cy="187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6" name="Google Shape;166;p17"/>
            <p:cNvCxnSpPr/>
            <p:nvPr/>
          </p:nvCxnSpPr>
          <p:spPr>
            <a:xfrm rot="10800000" flipH="1">
              <a:off x="667900" y="4271400"/>
              <a:ext cx="2765700" cy="9639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7" name="Google Shape;167;p17"/>
            <p:cNvCxnSpPr/>
            <p:nvPr/>
          </p:nvCxnSpPr>
          <p:spPr>
            <a:xfrm rot="5400000" flipH="1">
              <a:off x="7318025" y="39077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8" name="Google Shape;168;p17"/>
            <p:cNvCxnSpPr/>
            <p:nvPr/>
          </p:nvCxnSpPr>
          <p:spPr>
            <a:xfrm rot="5400000" flipH="1">
              <a:off x="7083950" y="45416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cxnSp>
          <p:nvCxnSpPr>
            <p:cNvPr id="169" name="Google Shape;169;p17"/>
            <p:cNvCxnSpPr/>
            <p:nvPr/>
          </p:nvCxnSpPr>
          <p:spPr>
            <a:xfrm rot="10800000" flipH="1">
              <a:off x="-320650" y="4087825"/>
              <a:ext cx="5808300" cy="8787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70" name="Google Shape;170;p17"/>
            <p:cNvCxnSpPr/>
            <p:nvPr/>
          </p:nvCxnSpPr>
          <p:spPr>
            <a:xfrm rot="5400000">
              <a:off x="-237850" y="2225"/>
              <a:ext cx="2082300" cy="729600"/>
            </a:xfrm>
            <a:prstGeom prst="bentConnector3">
              <a:avLst>
                <a:gd name="adj1" fmla="val 43507"/>
              </a:avLst>
            </a:prstGeom>
            <a:noFill/>
            <a:ln w="19050" cap="flat" cmpd="sng">
              <a:solidFill>
                <a:schemeClr val="lt2"/>
              </a:solidFill>
              <a:prstDash val="solid"/>
              <a:round/>
              <a:headEnd type="none" w="med" len="med"/>
              <a:tailEnd type="oval" w="med" len="med"/>
            </a:ln>
          </p:spPr>
        </p:cxnSp>
        <p:cxnSp>
          <p:nvCxnSpPr>
            <p:cNvPr id="171" name="Google Shape;171;p17"/>
            <p:cNvCxnSpPr/>
            <p:nvPr/>
          </p:nvCxnSpPr>
          <p:spPr>
            <a:xfrm rot="5400000">
              <a:off x="-317750" y="-132725"/>
              <a:ext cx="1866600" cy="606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72" name="Google Shape;172;p17"/>
          <p:cNvGrpSpPr/>
          <p:nvPr/>
        </p:nvGrpSpPr>
        <p:grpSpPr>
          <a:xfrm>
            <a:off x="179243" y="1771891"/>
            <a:ext cx="400449" cy="2933146"/>
            <a:chOff x="7553711" y="-2334286"/>
            <a:chExt cx="455625" cy="3337292"/>
          </a:xfrm>
        </p:grpSpPr>
        <p:sp>
          <p:nvSpPr>
            <p:cNvPr id="173" name="Google Shape;173;p17"/>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7"/>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7"/>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28055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3" name="Google Shape;43;p5"/>
          <p:cNvSpPr txBox="1">
            <a:spLocks noGrp="1"/>
          </p:cNvSpPr>
          <p:nvPr>
            <p:ph type="subTitle" idx="1"/>
          </p:nvPr>
        </p:nvSpPr>
        <p:spPr>
          <a:xfrm>
            <a:off x="5040058" y="3057025"/>
            <a:ext cx="2560500" cy="12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sz="1400"/>
            </a:lvl1pPr>
            <a:lvl2pPr lvl="1" algn="ctr" rtl="0">
              <a:lnSpc>
                <a:spcPct val="115000"/>
              </a:lnSpc>
              <a:spcBef>
                <a:spcPts val="0"/>
              </a:spcBef>
              <a:spcAft>
                <a:spcPts val="0"/>
              </a:spcAft>
              <a:buSzPts val="2800"/>
              <a:buNone/>
              <a:defRPr sz="2800"/>
            </a:lvl2pPr>
            <a:lvl3pPr lvl="2" algn="ctr" rtl="0">
              <a:lnSpc>
                <a:spcPct val="115000"/>
              </a:lnSpc>
              <a:spcBef>
                <a:spcPts val="0"/>
              </a:spcBef>
              <a:spcAft>
                <a:spcPts val="0"/>
              </a:spcAft>
              <a:buSzPts val="2800"/>
              <a:buNone/>
              <a:defRPr sz="2800"/>
            </a:lvl3pPr>
            <a:lvl4pPr lvl="3" algn="ctr" rtl="0">
              <a:lnSpc>
                <a:spcPct val="115000"/>
              </a:lnSpc>
              <a:spcBef>
                <a:spcPts val="0"/>
              </a:spcBef>
              <a:spcAft>
                <a:spcPts val="0"/>
              </a:spcAft>
              <a:buSzPts val="2800"/>
              <a:buNone/>
              <a:defRPr sz="2800"/>
            </a:lvl4pPr>
            <a:lvl5pPr lvl="4" algn="ctr" rtl="0">
              <a:lnSpc>
                <a:spcPct val="115000"/>
              </a:lnSpc>
              <a:spcBef>
                <a:spcPts val="0"/>
              </a:spcBef>
              <a:spcAft>
                <a:spcPts val="0"/>
              </a:spcAft>
              <a:buSzPts val="2800"/>
              <a:buNone/>
              <a:defRPr sz="2800"/>
            </a:lvl5pPr>
            <a:lvl6pPr lvl="5" algn="ctr" rtl="0">
              <a:lnSpc>
                <a:spcPct val="115000"/>
              </a:lnSpc>
              <a:spcBef>
                <a:spcPts val="0"/>
              </a:spcBef>
              <a:spcAft>
                <a:spcPts val="0"/>
              </a:spcAft>
              <a:buSzPts val="2800"/>
              <a:buNone/>
              <a:defRPr sz="2800"/>
            </a:lvl6pPr>
            <a:lvl7pPr lvl="6" algn="ctr" rtl="0">
              <a:lnSpc>
                <a:spcPct val="115000"/>
              </a:lnSpc>
              <a:spcBef>
                <a:spcPts val="0"/>
              </a:spcBef>
              <a:spcAft>
                <a:spcPts val="0"/>
              </a:spcAft>
              <a:buSzPts val="2800"/>
              <a:buNone/>
              <a:defRPr sz="2800"/>
            </a:lvl7pPr>
            <a:lvl8pPr lvl="7" algn="ctr" rtl="0">
              <a:lnSpc>
                <a:spcPct val="115000"/>
              </a:lnSpc>
              <a:spcBef>
                <a:spcPts val="0"/>
              </a:spcBef>
              <a:spcAft>
                <a:spcPts val="0"/>
              </a:spcAft>
              <a:buSzPts val="2800"/>
              <a:buNone/>
              <a:defRPr sz="2800"/>
            </a:lvl8pPr>
            <a:lvl9pPr lvl="8" algn="ctr" rtl="0">
              <a:lnSpc>
                <a:spcPct val="115000"/>
              </a:lnSpc>
              <a:spcBef>
                <a:spcPts val="0"/>
              </a:spcBef>
              <a:spcAft>
                <a:spcPts val="0"/>
              </a:spcAft>
              <a:buSzPts val="2800"/>
              <a:buNone/>
              <a:defRPr sz="2800"/>
            </a:lvl9pPr>
          </a:lstStyle>
          <a:p>
            <a:endParaRPr/>
          </a:p>
        </p:txBody>
      </p:sp>
      <p:sp>
        <p:nvSpPr>
          <p:cNvPr id="44" name="Google Shape;44;p5"/>
          <p:cNvSpPr txBox="1">
            <a:spLocks noGrp="1"/>
          </p:cNvSpPr>
          <p:nvPr>
            <p:ph type="subTitle" idx="2"/>
          </p:nvPr>
        </p:nvSpPr>
        <p:spPr>
          <a:xfrm>
            <a:off x="1543450" y="3057025"/>
            <a:ext cx="2560500" cy="12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sz="1400"/>
            </a:lvl1pPr>
            <a:lvl2pPr lvl="1" algn="ctr" rtl="0">
              <a:lnSpc>
                <a:spcPct val="115000"/>
              </a:lnSpc>
              <a:spcBef>
                <a:spcPts val="0"/>
              </a:spcBef>
              <a:spcAft>
                <a:spcPts val="0"/>
              </a:spcAft>
              <a:buSzPts val="2800"/>
              <a:buNone/>
              <a:defRPr sz="2800"/>
            </a:lvl2pPr>
            <a:lvl3pPr lvl="2" algn="ctr" rtl="0">
              <a:lnSpc>
                <a:spcPct val="115000"/>
              </a:lnSpc>
              <a:spcBef>
                <a:spcPts val="0"/>
              </a:spcBef>
              <a:spcAft>
                <a:spcPts val="0"/>
              </a:spcAft>
              <a:buSzPts val="2800"/>
              <a:buNone/>
              <a:defRPr sz="2800"/>
            </a:lvl3pPr>
            <a:lvl4pPr lvl="3" algn="ctr" rtl="0">
              <a:lnSpc>
                <a:spcPct val="115000"/>
              </a:lnSpc>
              <a:spcBef>
                <a:spcPts val="0"/>
              </a:spcBef>
              <a:spcAft>
                <a:spcPts val="0"/>
              </a:spcAft>
              <a:buSzPts val="2800"/>
              <a:buNone/>
              <a:defRPr sz="2800"/>
            </a:lvl4pPr>
            <a:lvl5pPr lvl="4" algn="ctr" rtl="0">
              <a:lnSpc>
                <a:spcPct val="115000"/>
              </a:lnSpc>
              <a:spcBef>
                <a:spcPts val="0"/>
              </a:spcBef>
              <a:spcAft>
                <a:spcPts val="0"/>
              </a:spcAft>
              <a:buSzPts val="2800"/>
              <a:buNone/>
              <a:defRPr sz="2800"/>
            </a:lvl5pPr>
            <a:lvl6pPr lvl="5" algn="ctr" rtl="0">
              <a:lnSpc>
                <a:spcPct val="115000"/>
              </a:lnSpc>
              <a:spcBef>
                <a:spcPts val="0"/>
              </a:spcBef>
              <a:spcAft>
                <a:spcPts val="0"/>
              </a:spcAft>
              <a:buSzPts val="2800"/>
              <a:buNone/>
              <a:defRPr sz="2800"/>
            </a:lvl6pPr>
            <a:lvl7pPr lvl="6" algn="ctr" rtl="0">
              <a:lnSpc>
                <a:spcPct val="115000"/>
              </a:lnSpc>
              <a:spcBef>
                <a:spcPts val="0"/>
              </a:spcBef>
              <a:spcAft>
                <a:spcPts val="0"/>
              </a:spcAft>
              <a:buSzPts val="2800"/>
              <a:buNone/>
              <a:defRPr sz="2800"/>
            </a:lvl7pPr>
            <a:lvl8pPr lvl="7" algn="ctr" rtl="0">
              <a:lnSpc>
                <a:spcPct val="115000"/>
              </a:lnSpc>
              <a:spcBef>
                <a:spcPts val="0"/>
              </a:spcBef>
              <a:spcAft>
                <a:spcPts val="0"/>
              </a:spcAft>
              <a:buSzPts val="2800"/>
              <a:buNone/>
              <a:defRPr sz="2800"/>
            </a:lvl8pPr>
            <a:lvl9pPr lvl="8" algn="ctr" rtl="0">
              <a:lnSpc>
                <a:spcPct val="115000"/>
              </a:lnSpc>
              <a:spcBef>
                <a:spcPts val="0"/>
              </a:spcBef>
              <a:spcAft>
                <a:spcPts val="0"/>
              </a:spcAft>
              <a:buSzPts val="2800"/>
              <a:buNone/>
              <a:defRPr sz="2800"/>
            </a:lvl9pPr>
          </a:lstStyle>
          <a:p>
            <a:endParaRPr/>
          </a:p>
        </p:txBody>
      </p:sp>
      <p:sp>
        <p:nvSpPr>
          <p:cNvPr id="45" name="Google Shape;45;p5"/>
          <p:cNvSpPr txBox="1">
            <a:spLocks noGrp="1"/>
          </p:cNvSpPr>
          <p:nvPr>
            <p:ph type="subTitle" idx="3"/>
          </p:nvPr>
        </p:nvSpPr>
        <p:spPr>
          <a:xfrm>
            <a:off x="5040058" y="2662226"/>
            <a:ext cx="2560500" cy="4149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46" name="Google Shape;46;p5"/>
          <p:cNvSpPr txBox="1">
            <a:spLocks noGrp="1"/>
          </p:cNvSpPr>
          <p:nvPr>
            <p:ph type="subTitle" idx="4"/>
          </p:nvPr>
        </p:nvSpPr>
        <p:spPr>
          <a:xfrm>
            <a:off x="1543450" y="2662226"/>
            <a:ext cx="2560500" cy="4149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47" name="Google Shape;47;p5"/>
          <p:cNvGrpSpPr/>
          <p:nvPr/>
        </p:nvGrpSpPr>
        <p:grpSpPr>
          <a:xfrm>
            <a:off x="65750" y="123192"/>
            <a:ext cx="9078236" cy="5947020"/>
            <a:chOff x="65750" y="123192"/>
            <a:chExt cx="9078236" cy="5947020"/>
          </a:xfrm>
        </p:grpSpPr>
        <p:cxnSp>
          <p:nvCxnSpPr>
            <p:cNvPr id="48" name="Google Shape;48;p5"/>
            <p:cNvCxnSpPr/>
            <p:nvPr/>
          </p:nvCxnSpPr>
          <p:spPr>
            <a:xfrm rot="-5400000">
              <a:off x="6194650" y="2609525"/>
              <a:ext cx="4686900" cy="5463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49" name="Google Shape;49;p5"/>
            <p:cNvCxnSpPr/>
            <p:nvPr/>
          </p:nvCxnSpPr>
          <p:spPr>
            <a:xfrm rot="-5400000">
              <a:off x="6564000" y="2981200"/>
              <a:ext cx="4140000" cy="6066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50" name="Google Shape;50;p5"/>
            <p:cNvCxnSpPr/>
            <p:nvPr/>
          </p:nvCxnSpPr>
          <p:spPr>
            <a:xfrm rot="-5400000">
              <a:off x="-2013300" y="3409838"/>
              <a:ext cx="4697700" cy="3663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51" name="Google Shape;51;p5"/>
            <p:cNvCxnSpPr/>
            <p:nvPr/>
          </p:nvCxnSpPr>
          <p:spPr>
            <a:xfrm rot="-5400000">
              <a:off x="-1700950" y="3696913"/>
              <a:ext cx="4140000" cy="606600"/>
            </a:xfrm>
            <a:prstGeom prst="bentConnector3">
              <a:avLst>
                <a:gd name="adj1" fmla="val 50000"/>
              </a:avLst>
            </a:prstGeom>
            <a:noFill/>
            <a:ln w="19050" cap="flat" cmpd="sng">
              <a:solidFill>
                <a:schemeClr val="lt2"/>
              </a:solidFill>
              <a:prstDash val="solid"/>
              <a:round/>
              <a:headEnd type="none" w="med" len="med"/>
              <a:tailEnd type="oval" w="med" len="med"/>
            </a:ln>
          </p:spPr>
        </p:cxnSp>
        <p:grpSp>
          <p:nvGrpSpPr>
            <p:cNvPr id="52" name="Google Shape;52;p5"/>
            <p:cNvGrpSpPr/>
            <p:nvPr/>
          </p:nvGrpSpPr>
          <p:grpSpPr>
            <a:xfrm>
              <a:off x="244996" y="123192"/>
              <a:ext cx="8898990" cy="3904742"/>
              <a:chOff x="244996" y="123192"/>
              <a:chExt cx="8898990" cy="3904742"/>
            </a:xfrm>
          </p:grpSpPr>
          <p:sp>
            <p:nvSpPr>
              <p:cNvPr id="53" name="Google Shape;53;p5"/>
              <p:cNvSpPr/>
              <p:nvPr/>
            </p:nvSpPr>
            <p:spPr>
              <a:xfrm>
                <a:off x="8307552" y="123192"/>
                <a:ext cx="246441" cy="246441"/>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8554009" y="836635"/>
                <a:ext cx="181108" cy="181108"/>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9010993" y="3894941"/>
                <a:ext cx="132993" cy="132993"/>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244996" y="1750985"/>
                <a:ext cx="181108" cy="181108"/>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971410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35"/>
        <p:cNvGrpSpPr/>
        <p:nvPr/>
      </p:nvGrpSpPr>
      <p:grpSpPr>
        <a:xfrm>
          <a:off x="0" y="0"/>
          <a:ext cx="0" cy="0"/>
          <a:chOff x="0" y="0"/>
          <a:chExt cx="0" cy="0"/>
        </a:xfrm>
      </p:grpSpPr>
      <p:sp>
        <p:nvSpPr>
          <p:cNvPr id="236" name="Google Shape;236;p22"/>
          <p:cNvSpPr txBox="1">
            <a:spLocks noGrp="1"/>
          </p:cNvSpPr>
          <p:nvPr>
            <p:ph type="subTitle" idx="1"/>
          </p:nvPr>
        </p:nvSpPr>
        <p:spPr>
          <a:xfrm>
            <a:off x="937700" y="3138773"/>
            <a:ext cx="2175300" cy="861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37" name="Google Shape;237;p22"/>
          <p:cNvSpPr txBox="1">
            <a:spLocks noGrp="1"/>
          </p:cNvSpPr>
          <p:nvPr>
            <p:ph type="subTitle" idx="2"/>
          </p:nvPr>
        </p:nvSpPr>
        <p:spPr>
          <a:xfrm>
            <a:off x="3484422" y="3138773"/>
            <a:ext cx="2175300" cy="861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38" name="Google Shape;238;p22"/>
          <p:cNvSpPr txBox="1">
            <a:spLocks noGrp="1"/>
          </p:cNvSpPr>
          <p:nvPr>
            <p:ph type="subTitle" idx="3"/>
          </p:nvPr>
        </p:nvSpPr>
        <p:spPr>
          <a:xfrm>
            <a:off x="6031150" y="3138773"/>
            <a:ext cx="2175300" cy="861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39" name="Google Shape;239;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0" name="Google Shape;240;p22"/>
          <p:cNvSpPr txBox="1">
            <a:spLocks noGrp="1"/>
          </p:cNvSpPr>
          <p:nvPr>
            <p:ph type="subTitle" idx="4"/>
          </p:nvPr>
        </p:nvSpPr>
        <p:spPr>
          <a:xfrm>
            <a:off x="937700" y="2828225"/>
            <a:ext cx="2175300" cy="394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41" name="Google Shape;241;p22"/>
          <p:cNvSpPr txBox="1">
            <a:spLocks noGrp="1"/>
          </p:cNvSpPr>
          <p:nvPr>
            <p:ph type="subTitle" idx="5"/>
          </p:nvPr>
        </p:nvSpPr>
        <p:spPr>
          <a:xfrm>
            <a:off x="3484422" y="2828225"/>
            <a:ext cx="2175300" cy="394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42" name="Google Shape;242;p22"/>
          <p:cNvSpPr txBox="1">
            <a:spLocks noGrp="1"/>
          </p:cNvSpPr>
          <p:nvPr>
            <p:ph type="subTitle" idx="6"/>
          </p:nvPr>
        </p:nvSpPr>
        <p:spPr>
          <a:xfrm>
            <a:off x="6031150" y="2828225"/>
            <a:ext cx="2175300" cy="394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243" name="Google Shape;243;p22"/>
          <p:cNvGrpSpPr/>
          <p:nvPr/>
        </p:nvGrpSpPr>
        <p:grpSpPr>
          <a:xfrm>
            <a:off x="4047014" y="42573"/>
            <a:ext cx="4967892" cy="427565"/>
            <a:chOff x="4047014" y="42573"/>
            <a:chExt cx="4967892" cy="427565"/>
          </a:xfrm>
        </p:grpSpPr>
        <p:sp>
          <p:nvSpPr>
            <p:cNvPr id="244" name="Google Shape;244;p22"/>
            <p:cNvSpPr/>
            <p:nvPr/>
          </p:nvSpPr>
          <p:spPr>
            <a:xfrm rot="-5400000">
              <a:off x="4047014" y="223696"/>
              <a:ext cx="246441" cy="246441"/>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2"/>
            <p:cNvSpPr/>
            <p:nvPr/>
          </p:nvSpPr>
          <p:spPr>
            <a:xfrm rot="-5400000">
              <a:off x="5047357" y="42573"/>
              <a:ext cx="181108" cy="181108"/>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2"/>
            <p:cNvSpPr/>
            <p:nvPr/>
          </p:nvSpPr>
          <p:spPr>
            <a:xfrm rot="-5400000">
              <a:off x="8881913" y="280415"/>
              <a:ext cx="132993" cy="132993"/>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22"/>
          <p:cNvGrpSpPr/>
          <p:nvPr/>
        </p:nvGrpSpPr>
        <p:grpSpPr>
          <a:xfrm>
            <a:off x="-491175" y="145189"/>
            <a:ext cx="10284997" cy="4769636"/>
            <a:chOff x="-491175" y="145189"/>
            <a:chExt cx="10284997" cy="4769636"/>
          </a:xfrm>
        </p:grpSpPr>
        <p:cxnSp>
          <p:nvCxnSpPr>
            <p:cNvPr id="248" name="Google Shape;248;p22"/>
            <p:cNvCxnSpPr/>
            <p:nvPr/>
          </p:nvCxnSpPr>
          <p:spPr>
            <a:xfrm rot="10800000">
              <a:off x="4978547" y="271239"/>
              <a:ext cx="4686900" cy="546300"/>
            </a:xfrm>
            <a:prstGeom prst="bentConnector3">
              <a:avLst>
                <a:gd name="adj1" fmla="val 18882"/>
              </a:avLst>
            </a:prstGeom>
            <a:noFill/>
            <a:ln w="19050" cap="flat" cmpd="sng">
              <a:solidFill>
                <a:schemeClr val="lt2"/>
              </a:solidFill>
              <a:prstDash val="solid"/>
              <a:round/>
              <a:headEnd type="none" w="med" len="med"/>
              <a:tailEnd type="oval" w="med" len="med"/>
            </a:ln>
          </p:spPr>
        </p:cxnSp>
        <p:cxnSp>
          <p:nvCxnSpPr>
            <p:cNvPr id="249" name="Google Shape;249;p22"/>
            <p:cNvCxnSpPr/>
            <p:nvPr/>
          </p:nvCxnSpPr>
          <p:spPr>
            <a:xfrm rot="10800000">
              <a:off x="5653822" y="145189"/>
              <a:ext cx="4140000" cy="606600"/>
            </a:xfrm>
            <a:prstGeom prst="bentConnector3">
              <a:avLst>
                <a:gd name="adj1" fmla="val 32793"/>
              </a:avLst>
            </a:prstGeom>
            <a:noFill/>
            <a:ln w="19050" cap="flat" cmpd="sng">
              <a:solidFill>
                <a:schemeClr val="lt2"/>
              </a:solidFill>
              <a:prstDash val="solid"/>
              <a:round/>
              <a:headEnd type="none" w="med" len="med"/>
              <a:tailEnd type="oval" w="med" len="med"/>
            </a:ln>
          </p:spPr>
        </p:cxnSp>
        <p:cxnSp>
          <p:nvCxnSpPr>
            <p:cNvPr id="250" name="Google Shape;250;p22"/>
            <p:cNvCxnSpPr/>
            <p:nvPr/>
          </p:nvCxnSpPr>
          <p:spPr>
            <a:xfrm>
              <a:off x="-491175" y="4640850"/>
              <a:ext cx="8531100" cy="2139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251" name="Google Shape;251;p22"/>
            <p:cNvCxnSpPr/>
            <p:nvPr/>
          </p:nvCxnSpPr>
          <p:spPr>
            <a:xfrm>
              <a:off x="-399350" y="4560525"/>
              <a:ext cx="6630600" cy="354300"/>
            </a:xfrm>
            <a:prstGeom prst="bentConnector3">
              <a:avLst>
                <a:gd name="adj1" fmla="val 50000"/>
              </a:avLst>
            </a:prstGeom>
            <a:noFill/>
            <a:ln w="19050" cap="flat" cmpd="sng">
              <a:solidFill>
                <a:schemeClr val="lt2"/>
              </a:solidFill>
              <a:prstDash val="solid"/>
              <a:round/>
              <a:headEnd type="none" w="med" len="med"/>
              <a:tailEnd type="oval" w="med" len="med"/>
            </a:ln>
          </p:spPr>
        </p:cxnSp>
      </p:grpSp>
    </p:spTree>
    <p:extLst>
      <p:ext uri="{BB962C8B-B14F-4D97-AF65-F5344CB8AC3E}">
        <p14:creationId xmlns:p14="http://schemas.microsoft.com/office/powerpoint/2010/main" val="2000754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1_Title and four columns">
    <p:spTree>
      <p:nvGrpSpPr>
        <p:cNvPr id="1" name="Shape 267"/>
        <p:cNvGrpSpPr/>
        <p:nvPr/>
      </p:nvGrpSpPr>
      <p:grpSpPr>
        <a:xfrm>
          <a:off x="0" y="0"/>
          <a:ext cx="0" cy="0"/>
          <a:chOff x="0" y="0"/>
          <a:chExt cx="0" cy="0"/>
        </a:xfrm>
      </p:grpSpPr>
      <p:sp>
        <p:nvSpPr>
          <p:cNvPr id="268" name="Google Shape;268;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9" name="Google Shape;269;p24"/>
          <p:cNvSpPr txBox="1">
            <a:spLocks noGrp="1"/>
          </p:cNvSpPr>
          <p:nvPr>
            <p:ph type="subTitle" idx="1"/>
          </p:nvPr>
        </p:nvSpPr>
        <p:spPr>
          <a:xfrm>
            <a:off x="1967648" y="2084667"/>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70" name="Google Shape;270;p24"/>
          <p:cNvSpPr txBox="1">
            <a:spLocks noGrp="1"/>
          </p:cNvSpPr>
          <p:nvPr>
            <p:ph type="subTitle" idx="2"/>
          </p:nvPr>
        </p:nvSpPr>
        <p:spPr>
          <a:xfrm>
            <a:off x="5198152" y="2084667"/>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71" name="Google Shape;271;p24"/>
          <p:cNvSpPr txBox="1">
            <a:spLocks noGrp="1"/>
          </p:cNvSpPr>
          <p:nvPr>
            <p:ph type="subTitle" idx="3"/>
          </p:nvPr>
        </p:nvSpPr>
        <p:spPr>
          <a:xfrm>
            <a:off x="1967648" y="3518067"/>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72" name="Google Shape;272;p24"/>
          <p:cNvSpPr txBox="1">
            <a:spLocks noGrp="1"/>
          </p:cNvSpPr>
          <p:nvPr>
            <p:ph type="subTitle" idx="4"/>
          </p:nvPr>
        </p:nvSpPr>
        <p:spPr>
          <a:xfrm>
            <a:off x="5198152" y="3518067"/>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73" name="Google Shape;273;p24"/>
          <p:cNvSpPr txBox="1">
            <a:spLocks noGrp="1"/>
          </p:cNvSpPr>
          <p:nvPr>
            <p:ph type="subTitle" idx="5"/>
          </p:nvPr>
        </p:nvSpPr>
        <p:spPr>
          <a:xfrm>
            <a:off x="1967648" y="1778725"/>
            <a:ext cx="1978200" cy="405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74" name="Google Shape;274;p24"/>
          <p:cNvSpPr txBox="1">
            <a:spLocks noGrp="1"/>
          </p:cNvSpPr>
          <p:nvPr>
            <p:ph type="subTitle" idx="6"/>
          </p:nvPr>
        </p:nvSpPr>
        <p:spPr>
          <a:xfrm>
            <a:off x="5198150" y="1778725"/>
            <a:ext cx="1978200" cy="405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75" name="Google Shape;275;p24"/>
          <p:cNvSpPr txBox="1">
            <a:spLocks noGrp="1"/>
          </p:cNvSpPr>
          <p:nvPr>
            <p:ph type="subTitle" idx="7"/>
          </p:nvPr>
        </p:nvSpPr>
        <p:spPr>
          <a:xfrm>
            <a:off x="1967648" y="3212175"/>
            <a:ext cx="1978200" cy="405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76" name="Google Shape;276;p24"/>
          <p:cNvSpPr txBox="1">
            <a:spLocks noGrp="1"/>
          </p:cNvSpPr>
          <p:nvPr>
            <p:ph type="subTitle" idx="8"/>
          </p:nvPr>
        </p:nvSpPr>
        <p:spPr>
          <a:xfrm>
            <a:off x="5198150" y="3212175"/>
            <a:ext cx="1978200" cy="405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277" name="Google Shape;277;p24"/>
          <p:cNvGrpSpPr/>
          <p:nvPr/>
        </p:nvGrpSpPr>
        <p:grpSpPr>
          <a:xfrm>
            <a:off x="184960" y="-914261"/>
            <a:ext cx="8511650" cy="5875100"/>
            <a:chOff x="184960" y="-914261"/>
            <a:chExt cx="8511650" cy="5875100"/>
          </a:xfrm>
        </p:grpSpPr>
        <p:cxnSp>
          <p:nvCxnSpPr>
            <p:cNvPr id="278" name="Google Shape;278;p24"/>
            <p:cNvCxnSpPr/>
            <p:nvPr/>
          </p:nvCxnSpPr>
          <p:spPr>
            <a:xfrm rot="5400000">
              <a:off x="-1759290" y="1284414"/>
              <a:ext cx="4686900" cy="546300"/>
            </a:xfrm>
            <a:prstGeom prst="bentConnector3">
              <a:avLst>
                <a:gd name="adj1" fmla="val 18882"/>
              </a:avLst>
            </a:prstGeom>
            <a:noFill/>
            <a:ln w="19050" cap="flat" cmpd="sng">
              <a:solidFill>
                <a:schemeClr val="lt2"/>
              </a:solidFill>
              <a:prstDash val="solid"/>
              <a:round/>
              <a:headEnd type="none" w="med" len="med"/>
              <a:tailEnd type="oval" w="med" len="med"/>
            </a:ln>
          </p:spPr>
        </p:cxnSp>
        <p:cxnSp>
          <p:nvCxnSpPr>
            <p:cNvPr id="279" name="Google Shape;279;p24"/>
            <p:cNvCxnSpPr/>
            <p:nvPr/>
          </p:nvCxnSpPr>
          <p:spPr>
            <a:xfrm rot="5400000">
              <a:off x="-1581740" y="852439"/>
              <a:ext cx="4140000" cy="606600"/>
            </a:xfrm>
            <a:prstGeom prst="bentConnector3">
              <a:avLst>
                <a:gd name="adj1" fmla="val 32793"/>
              </a:avLst>
            </a:prstGeom>
            <a:noFill/>
            <a:ln w="19050" cap="flat" cmpd="sng">
              <a:solidFill>
                <a:schemeClr val="lt2"/>
              </a:solidFill>
              <a:prstDash val="solid"/>
              <a:round/>
              <a:headEnd type="none" w="med" len="med"/>
              <a:tailEnd type="oval" w="med" len="med"/>
            </a:ln>
          </p:spPr>
        </p:cxnSp>
        <p:cxnSp>
          <p:nvCxnSpPr>
            <p:cNvPr id="280" name="Google Shape;280;p24"/>
            <p:cNvCxnSpPr/>
            <p:nvPr/>
          </p:nvCxnSpPr>
          <p:spPr>
            <a:xfrm rot="5400000">
              <a:off x="5885760" y="2149989"/>
              <a:ext cx="5112900" cy="508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281" name="Google Shape;281;p24"/>
            <p:cNvCxnSpPr/>
            <p:nvPr/>
          </p:nvCxnSpPr>
          <p:spPr>
            <a:xfrm rot="5400000">
              <a:off x="5659460" y="1671214"/>
              <a:ext cx="5112900" cy="5088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282" name="Google Shape;282;p24"/>
          <p:cNvGrpSpPr/>
          <p:nvPr/>
        </p:nvGrpSpPr>
        <p:grpSpPr>
          <a:xfrm>
            <a:off x="4047014" y="27379"/>
            <a:ext cx="4845881" cy="3896497"/>
            <a:chOff x="4047014" y="27379"/>
            <a:chExt cx="4845881" cy="3896497"/>
          </a:xfrm>
        </p:grpSpPr>
        <p:sp>
          <p:nvSpPr>
            <p:cNvPr id="283" name="Google Shape;283;p24"/>
            <p:cNvSpPr/>
            <p:nvPr/>
          </p:nvSpPr>
          <p:spPr>
            <a:xfrm rot="-5400000">
              <a:off x="4047014" y="223696"/>
              <a:ext cx="246441" cy="246441"/>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4"/>
            <p:cNvSpPr/>
            <p:nvPr/>
          </p:nvSpPr>
          <p:spPr>
            <a:xfrm rot="-5400000">
              <a:off x="8470281" y="3727561"/>
              <a:ext cx="196332" cy="196299"/>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4"/>
            <p:cNvSpPr/>
            <p:nvPr/>
          </p:nvSpPr>
          <p:spPr>
            <a:xfrm rot="-5400000">
              <a:off x="8641534" y="2927466"/>
              <a:ext cx="251378" cy="25134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4"/>
            <p:cNvSpPr/>
            <p:nvPr/>
          </p:nvSpPr>
          <p:spPr>
            <a:xfrm rot="-5400000">
              <a:off x="4391516" y="27388"/>
              <a:ext cx="156245" cy="156228"/>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4"/>
            <p:cNvSpPr/>
            <p:nvPr/>
          </p:nvSpPr>
          <p:spPr>
            <a:xfrm rot="-5400000">
              <a:off x="8470291" y="2624037"/>
              <a:ext cx="161895" cy="161879"/>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34147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88"/>
        <p:cNvGrpSpPr/>
        <p:nvPr/>
      </p:nvGrpSpPr>
      <p:grpSpPr>
        <a:xfrm>
          <a:off x="0" y="0"/>
          <a:ext cx="0" cy="0"/>
          <a:chOff x="0" y="0"/>
          <a:chExt cx="0" cy="0"/>
        </a:xfrm>
      </p:grpSpPr>
      <p:sp>
        <p:nvSpPr>
          <p:cNvPr id="289" name="Google Shape;289;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90" name="Google Shape;290;p25"/>
          <p:cNvSpPr txBox="1">
            <a:spLocks noGrp="1"/>
          </p:cNvSpPr>
          <p:nvPr>
            <p:ph type="subTitle" idx="1"/>
          </p:nvPr>
        </p:nvSpPr>
        <p:spPr>
          <a:xfrm>
            <a:off x="974900" y="21169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1" name="Google Shape;291;p25"/>
          <p:cNvSpPr txBox="1">
            <a:spLocks noGrp="1"/>
          </p:cNvSpPr>
          <p:nvPr>
            <p:ph type="subTitle" idx="2"/>
          </p:nvPr>
        </p:nvSpPr>
        <p:spPr>
          <a:xfrm>
            <a:off x="3578947" y="21169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2" name="Google Shape;292;p25"/>
          <p:cNvSpPr txBox="1">
            <a:spLocks noGrp="1"/>
          </p:cNvSpPr>
          <p:nvPr>
            <p:ph type="subTitle" idx="3"/>
          </p:nvPr>
        </p:nvSpPr>
        <p:spPr>
          <a:xfrm>
            <a:off x="974900" y="39313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3" name="Google Shape;293;p25"/>
          <p:cNvSpPr txBox="1">
            <a:spLocks noGrp="1"/>
          </p:cNvSpPr>
          <p:nvPr>
            <p:ph type="subTitle" idx="4"/>
          </p:nvPr>
        </p:nvSpPr>
        <p:spPr>
          <a:xfrm>
            <a:off x="3578947" y="39313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4" name="Google Shape;294;p25"/>
          <p:cNvSpPr txBox="1">
            <a:spLocks noGrp="1"/>
          </p:cNvSpPr>
          <p:nvPr>
            <p:ph type="subTitle" idx="5"/>
          </p:nvPr>
        </p:nvSpPr>
        <p:spPr>
          <a:xfrm>
            <a:off x="6183000" y="21169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5" name="Google Shape;295;p25"/>
          <p:cNvSpPr txBox="1">
            <a:spLocks noGrp="1"/>
          </p:cNvSpPr>
          <p:nvPr>
            <p:ph type="subTitle" idx="6"/>
          </p:nvPr>
        </p:nvSpPr>
        <p:spPr>
          <a:xfrm>
            <a:off x="6183000" y="39313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6" name="Google Shape;296;p25"/>
          <p:cNvSpPr txBox="1">
            <a:spLocks noGrp="1"/>
          </p:cNvSpPr>
          <p:nvPr>
            <p:ph type="subTitle" idx="7"/>
          </p:nvPr>
        </p:nvSpPr>
        <p:spPr>
          <a:xfrm>
            <a:off x="974900" y="1908247"/>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97" name="Google Shape;297;p25"/>
          <p:cNvSpPr txBox="1">
            <a:spLocks noGrp="1"/>
          </p:cNvSpPr>
          <p:nvPr>
            <p:ph type="subTitle" idx="8"/>
          </p:nvPr>
        </p:nvSpPr>
        <p:spPr>
          <a:xfrm>
            <a:off x="3578947" y="1908247"/>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98" name="Google Shape;298;p25"/>
          <p:cNvSpPr txBox="1">
            <a:spLocks noGrp="1"/>
          </p:cNvSpPr>
          <p:nvPr>
            <p:ph type="subTitle" idx="9"/>
          </p:nvPr>
        </p:nvSpPr>
        <p:spPr>
          <a:xfrm>
            <a:off x="974900" y="3722672"/>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99" name="Google Shape;299;p25"/>
          <p:cNvSpPr txBox="1">
            <a:spLocks noGrp="1"/>
          </p:cNvSpPr>
          <p:nvPr>
            <p:ph type="subTitle" idx="13"/>
          </p:nvPr>
        </p:nvSpPr>
        <p:spPr>
          <a:xfrm>
            <a:off x="3578947" y="3722672"/>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300" name="Google Shape;300;p25"/>
          <p:cNvSpPr txBox="1">
            <a:spLocks noGrp="1"/>
          </p:cNvSpPr>
          <p:nvPr>
            <p:ph type="subTitle" idx="14"/>
          </p:nvPr>
        </p:nvSpPr>
        <p:spPr>
          <a:xfrm>
            <a:off x="6183000" y="1908247"/>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301" name="Google Shape;301;p25"/>
          <p:cNvSpPr txBox="1">
            <a:spLocks noGrp="1"/>
          </p:cNvSpPr>
          <p:nvPr>
            <p:ph type="subTitle" idx="15"/>
          </p:nvPr>
        </p:nvSpPr>
        <p:spPr>
          <a:xfrm>
            <a:off x="6183000" y="3722672"/>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302" name="Google Shape;302;p25"/>
          <p:cNvGrpSpPr/>
          <p:nvPr/>
        </p:nvGrpSpPr>
        <p:grpSpPr>
          <a:xfrm>
            <a:off x="378100" y="-216500"/>
            <a:ext cx="8131200" cy="5239200"/>
            <a:chOff x="378100" y="-216500"/>
            <a:chExt cx="8131200" cy="5239200"/>
          </a:xfrm>
        </p:grpSpPr>
        <p:cxnSp>
          <p:nvCxnSpPr>
            <p:cNvPr id="303" name="Google Shape;303;p25"/>
            <p:cNvCxnSpPr/>
            <p:nvPr/>
          </p:nvCxnSpPr>
          <p:spPr>
            <a:xfrm>
              <a:off x="378100" y="-216500"/>
              <a:ext cx="5878500" cy="5155800"/>
            </a:xfrm>
            <a:prstGeom prst="bentConnector3">
              <a:avLst>
                <a:gd name="adj1" fmla="val -3660"/>
              </a:avLst>
            </a:prstGeom>
            <a:noFill/>
            <a:ln w="19050" cap="flat" cmpd="sng">
              <a:solidFill>
                <a:schemeClr val="lt2"/>
              </a:solidFill>
              <a:prstDash val="solid"/>
              <a:round/>
              <a:headEnd type="none" w="med" len="med"/>
              <a:tailEnd type="oval" w="med" len="med"/>
            </a:ln>
          </p:spPr>
        </p:cxnSp>
        <p:cxnSp>
          <p:nvCxnSpPr>
            <p:cNvPr id="304" name="Google Shape;304;p25"/>
            <p:cNvCxnSpPr/>
            <p:nvPr/>
          </p:nvCxnSpPr>
          <p:spPr>
            <a:xfrm>
              <a:off x="530500" y="-641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grpSp>
      <p:grpSp>
        <p:nvGrpSpPr>
          <p:cNvPr id="305" name="Google Shape;305;p25"/>
          <p:cNvGrpSpPr/>
          <p:nvPr/>
        </p:nvGrpSpPr>
        <p:grpSpPr>
          <a:xfrm rot="-5400000">
            <a:off x="8411975" y="4406800"/>
            <a:ext cx="882599" cy="403555"/>
            <a:chOff x="7884075" y="238975"/>
            <a:chExt cx="882599" cy="403555"/>
          </a:xfrm>
        </p:grpSpPr>
        <p:sp>
          <p:nvSpPr>
            <p:cNvPr id="306" name="Google Shape;306;p25"/>
            <p:cNvSpPr/>
            <p:nvPr/>
          </p:nvSpPr>
          <p:spPr>
            <a:xfrm>
              <a:off x="8255437" y="43647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5"/>
            <p:cNvSpPr/>
            <p:nvPr/>
          </p:nvSpPr>
          <p:spPr>
            <a:xfrm>
              <a:off x="7884075" y="238975"/>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5"/>
            <p:cNvSpPr/>
            <p:nvPr/>
          </p:nvSpPr>
          <p:spPr>
            <a:xfrm>
              <a:off x="8626800" y="378850"/>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650879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3"/>
        <p:cNvGrpSpPr/>
        <p:nvPr/>
      </p:nvGrpSpPr>
      <p:grpSpPr>
        <a:xfrm>
          <a:off x="0" y="0"/>
          <a:ext cx="0" cy="0"/>
          <a:chOff x="0" y="0"/>
          <a:chExt cx="0" cy="0"/>
        </a:xfrm>
      </p:grpSpPr>
      <p:sp>
        <p:nvSpPr>
          <p:cNvPr id="84" name="Google Shape;84;p9"/>
          <p:cNvSpPr txBox="1">
            <a:spLocks noGrp="1"/>
          </p:cNvSpPr>
          <p:nvPr>
            <p:ph type="title"/>
          </p:nvPr>
        </p:nvSpPr>
        <p:spPr>
          <a:xfrm>
            <a:off x="4906675" y="1132975"/>
            <a:ext cx="3524100" cy="140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5" name="Google Shape;85;p9"/>
          <p:cNvSpPr txBox="1">
            <a:spLocks noGrp="1"/>
          </p:cNvSpPr>
          <p:nvPr>
            <p:ph type="subTitle" idx="1"/>
          </p:nvPr>
        </p:nvSpPr>
        <p:spPr>
          <a:xfrm>
            <a:off x="4906675" y="2724350"/>
            <a:ext cx="3524100" cy="1403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rgbClr val="999999"/>
              </a:buClr>
              <a:buSzPts val="800"/>
              <a:buFont typeface="Open Sans"/>
              <a:buChar char="●"/>
              <a:defRPr/>
            </a:lvl1pPr>
            <a:lvl2pPr lvl="1" algn="ctr" rtl="0">
              <a:lnSpc>
                <a:spcPct val="115000"/>
              </a:lnSpc>
              <a:spcBef>
                <a:spcPts val="0"/>
              </a:spcBef>
              <a:spcAft>
                <a:spcPts val="0"/>
              </a:spcAft>
              <a:buClr>
                <a:srgbClr val="999999"/>
              </a:buClr>
              <a:buSzPts val="800"/>
              <a:buFont typeface="Open Sans"/>
              <a:buChar char="○"/>
              <a:defRPr/>
            </a:lvl2pPr>
            <a:lvl3pPr lvl="2" algn="ctr" rtl="0">
              <a:lnSpc>
                <a:spcPct val="115000"/>
              </a:lnSpc>
              <a:spcBef>
                <a:spcPts val="0"/>
              </a:spcBef>
              <a:spcAft>
                <a:spcPts val="0"/>
              </a:spcAft>
              <a:buClr>
                <a:srgbClr val="999999"/>
              </a:buClr>
              <a:buSzPts val="800"/>
              <a:buFont typeface="Open Sans"/>
              <a:buChar char="■"/>
              <a:defRPr/>
            </a:lvl3pPr>
            <a:lvl4pPr lvl="3" algn="ctr" rtl="0">
              <a:lnSpc>
                <a:spcPct val="115000"/>
              </a:lnSpc>
              <a:spcBef>
                <a:spcPts val="0"/>
              </a:spcBef>
              <a:spcAft>
                <a:spcPts val="0"/>
              </a:spcAft>
              <a:buClr>
                <a:srgbClr val="999999"/>
              </a:buClr>
              <a:buSzPts val="800"/>
              <a:buFont typeface="Open Sans"/>
              <a:buChar char="●"/>
              <a:defRPr/>
            </a:lvl4pPr>
            <a:lvl5pPr lvl="4" algn="ctr" rtl="0">
              <a:lnSpc>
                <a:spcPct val="115000"/>
              </a:lnSpc>
              <a:spcBef>
                <a:spcPts val="0"/>
              </a:spcBef>
              <a:spcAft>
                <a:spcPts val="0"/>
              </a:spcAft>
              <a:buClr>
                <a:srgbClr val="999999"/>
              </a:buClr>
              <a:buSzPts val="1200"/>
              <a:buFont typeface="Open Sans"/>
              <a:buChar char="○"/>
              <a:defRPr/>
            </a:lvl5pPr>
            <a:lvl6pPr lvl="5" algn="ctr" rtl="0">
              <a:lnSpc>
                <a:spcPct val="115000"/>
              </a:lnSpc>
              <a:spcBef>
                <a:spcPts val="0"/>
              </a:spcBef>
              <a:spcAft>
                <a:spcPts val="0"/>
              </a:spcAft>
              <a:buClr>
                <a:srgbClr val="999999"/>
              </a:buClr>
              <a:buSzPts val="1200"/>
              <a:buFont typeface="Open Sans"/>
              <a:buChar char="■"/>
              <a:defRPr/>
            </a:lvl6pPr>
            <a:lvl7pPr lvl="6" algn="ctr" rtl="0">
              <a:lnSpc>
                <a:spcPct val="115000"/>
              </a:lnSpc>
              <a:spcBef>
                <a:spcPts val="0"/>
              </a:spcBef>
              <a:spcAft>
                <a:spcPts val="0"/>
              </a:spcAft>
              <a:buClr>
                <a:srgbClr val="999999"/>
              </a:buClr>
              <a:buSzPts val="700"/>
              <a:buFont typeface="Open Sans"/>
              <a:buChar char="●"/>
              <a:defRPr/>
            </a:lvl7pPr>
            <a:lvl8pPr lvl="7" algn="ctr" rtl="0">
              <a:lnSpc>
                <a:spcPct val="115000"/>
              </a:lnSpc>
              <a:spcBef>
                <a:spcPts val="0"/>
              </a:spcBef>
              <a:spcAft>
                <a:spcPts val="0"/>
              </a:spcAft>
              <a:buClr>
                <a:srgbClr val="999999"/>
              </a:buClr>
              <a:buSzPts val="700"/>
              <a:buFont typeface="Open Sans"/>
              <a:buChar char="○"/>
              <a:defRPr/>
            </a:lvl8pPr>
            <a:lvl9pPr lvl="8" algn="ctr" rtl="0">
              <a:lnSpc>
                <a:spcPct val="115000"/>
              </a:lnSpc>
              <a:spcBef>
                <a:spcPts val="0"/>
              </a:spcBef>
              <a:spcAft>
                <a:spcPts val="0"/>
              </a:spcAft>
              <a:buClr>
                <a:srgbClr val="999999"/>
              </a:buClr>
              <a:buSzPts val="600"/>
              <a:buFont typeface="Open Sans"/>
              <a:buChar char="■"/>
              <a:defRPr/>
            </a:lvl9pPr>
          </a:lstStyle>
          <a:p>
            <a:endParaRPr/>
          </a:p>
        </p:txBody>
      </p:sp>
      <p:sp>
        <p:nvSpPr>
          <p:cNvPr id="86" name="Google Shape;86;p9"/>
          <p:cNvSpPr>
            <a:spLocks noGrp="1"/>
          </p:cNvSpPr>
          <p:nvPr>
            <p:ph type="pic" idx="2"/>
          </p:nvPr>
        </p:nvSpPr>
        <p:spPr>
          <a:xfrm>
            <a:off x="202954" y="388500"/>
            <a:ext cx="4379700" cy="4379700"/>
          </a:xfrm>
          <a:prstGeom prst="ellipse">
            <a:avLst/>
          </a:prstGeom>
          <a:noFill/>
          <a:ln>
            <a:noFill/>
          </a:ln>
        </p:spPr>
      </p:sp>
      <p:grpSp>
        <p:nvGrpSpPr>
          <p:cNvPr id="87" name="Google Shape;87;p9"/>
          <p:cNvGrpSpPr/>
          <p:nvPr/>
        </p:nvGrpSpPr>
        <p:grpSpPr>
          <a:xfrm rot="-1395165">
            <a:off x="172631" y="490168"/>
            <a:ext cx="882626" cy="403567"/>
            <a:chOff x="7884075" y="238975"/>
            <a:chExt cx="882599" cy="403555"/>
          </a:xfrm>
        </p:grpSpPr>
        <p:sp>
          <p:nvSpPr>
            <p:cNvPr id="88" name="Google Shape;88;p9"/>
            <p:cNvSpPr/>
            <p:nvPr/>
          </p:nvSpPr>
          <p:spPr>
            <a:xfrm>
              <a:off x="8255437" y="43647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9"/>
            <p:cNvSpPr/>
            <p:nvPr/>
          </p:nvSpPr>
          <p:spPr>
            <a:xfrm>
              <a:off x="7884075" y="238975"/>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9"/>
            <p:cNvSpPr/>
            <p:nvPr/>
          </p:nvSpPr>
          <p:spPr>
            <a:xfrm>
              <a:off x="8626800" y="378850"/>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9"/>
          <p:cNvGrpSpPr/>
          <p:nvPr/>
        </p:nvGrpSpPr>
        <p:grpSpPr>
          <a:xfrm>
            <a:off x="2422725" y="4313625"/>
            <a:ext cx="7035600" cy="513300"/>
            <a:chOff x="2422725" y="4313625"/>
            <a:chExt cx="7035600" cy="513300"/>
          </a:xfrm>
        </p:grpSpPr>
        <p:cxnSp>
          <p:nvCxnSpPr>
            <p:cNvPr id="92" name="Google Shape;92;p9"/>
            <p:cNvCxnSpPr/>
            <p:nvPr/>
          </p:nvCxnSpPr>
          <p:spPr>
            <a:xfrm rot="10800000">
              <a:off x="3750275" y="4313625"/>
              <a:ext cx="5590200" cy="513300"/>
            </a:xfrm>
            <a:prstGeom prst="bentConnector3">
              <a:avLst>
                <a:gd name="adj1" fmla="val 64140"/>
              </a:avLst>
            </a:prstGeom>
            <a:noFill/>
            <a:ln w="19050" cap="flat" cmpd="sng">
              <a:solidFill>
                <a:schemeClr val="lt2"/>
              </a:solidFill>
              <a:prstDash val="solid"/>
              <a:round/>
              <a:headEnd type="none" w="med" len="med"/>
              <a:tailEnd type="oval" w="med" len="med"/>
            </a:ln>
          </p:spPr>
        </p:cxnSp>
        <p:cxnSp>
          <p:nvCxnSpPr>
            <p:cNvPr id="93" name="Google Shape;93;p9"/>
            <p:cNvCxnSpPr/>
            <p:nvPr/>
          </p:nvCxnSpPr>
          <p:spPr>
            <a:xfrm flipH="1">
              <a:off x="2422725" y="4652400"/>
              <a:ext cx="7035600" cy="115800"/>
            </a:xfrm>
            <a:prstGeom prst="bentConnector4">
              <a:avLst>
                <a:gd name="adj1" fmla="val 34437"/>
                <a:gd name="adj2" fmla="val 305635"/>
              </a:avLst>
            </a:prstGeom>
            <a:noFill/>
            <a:ln w="19050" cap="flat" cmpd="sng">
              <a:solidFill>
                <a:schemeClr val="lt2"/>
              </a:solidFill>
              <a:prstDash val="solid"/>
              <a:round/>
              <a:headEnd type="none" w="med" len="med"/>
              <a:tailEnd type="oval" w="med" len="med"/>
            </a:ln>
          </p:spPr>
        </p:cxnSp>
      </p:grpSp>
    </p:spTree>
    <p:extLst>
      <p:ext uri="{BB962C8B-B14F-4D97-AF65-F5344CB8AC3E}">
        <p14:creationId xmlns:p14="http://schemas.microsoft.com/office/powerpoint/2010/main" val="2256399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78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1pPr>
            <a:lvl2pPr lvl="1"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2pPr>
            <a:lvl3pPr lvl="2"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3pPr>
            <a:lvl4pPr lvl="3"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4pPr>
            <a:lvl5pPr lvl="4"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5pPr>
            <a:lvl6pPr lvl="5"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6pPr>
            <a:lvl7pPr lvl="6"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7pPr>
            <a:lvl8pPr lvl="7"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8pPr>
            <a:lvl9pPr lvl="8"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9pPr>
          </a:lstStyle>
          <a:p>
            <a:endParaRPr/>
          </a:p>
        </p:txBody>
      </p:sp>
      <p:sp>
        <p:nvSpPr>
          <p:cNvPr id="7" name="Google Shape;7;p1"/>
          <p:cNvSpPr txBox="1">
            <a:spLocks noGrp="1"/>
          </p:cNvSpPr>
          <p:nvPr>
            <p:ph type="body" idx="1"/>
          </p:nvPr>
        </p:nvSpPr>
        <p:spPr>
          <a:xfrm>
            <a:off x="713225" y="1152475"/>
            <a:ext cx="7717500" cy="3456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1pPr>
            <a:lvl2pPr marL="914400" lvl="1"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marL="1371600" lvl="2"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marL="1828800" lvl="3"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marL="2286000" lvl="4"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marL="2743200" lvl="5"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marL="3200400" lvl="6"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marL="3657600" lvl="7"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marL="4114800" lvl="8" indent="-3175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8" r:id="rId5"/>
    <p:sldLayoutId id="2147483659" r:id="rId6"/>
    <p:sldLayoutId id="2147483660" r:id="rId7"/>
    <p:sldLayoutId id="2147483668" r:id="rId8"/>
    <p:sldLayoutId id="2147483672" r:id="rId9"/>
    <p:sldLayoutId id="2147483674" r:id="rId10"/>
    <p:sldLayoutId id="2147483675" r:id="rId11"/>
    <p:sldLayoutId id="2147483679" r:id="rId12"/>
    <p:sldLayoutId id="2147483680" r:id="rId13"/>
    <p:sldLayoutId id="2147483681" r:id="rId14"/>
    <p:sldLayoutId id="2147483682" r:id="rId15"/>
    <p:sldLayoutId id="2147483683" r:id="rId16"/>
    <p:sldLayoutId id="2147483684"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3"/>
          <p:cNvSpPr txBox="1">
            <a:spLocks noGrp="1"/>
          </p:cNvSpPr>
          <p:nvPr>
            <p:ph type="ctrTitle"/>
          </p:nvPr>
        </p:nvSpPr>
        <p:spPr>
          <a:xfrm>
            <a:off x="3937600" y="2063451"/>
            <a:ext cx="4649100" cy="73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2"/>
                </a:solidFill>
              </a:rPr>
              <a:t>Welcome!</a:t>
            </a:r>
            <a:endParaRPr dirty="0">
              <a:solidFill>
                <a:schemeClr val="lt2"/>
              </a:solidFill>
            </a:endParaRPr>
          </a:p>
        </p:txBody>
      </p:sp>
      <p:sp>
        <p:nvSpPr>
          <p:cNvPr id="235" name="Google Shape;235;p33"/>
          <p:cNvSpPr txBox="1">
            <a:spLocks noGrp="1"/>
          </p:cNvSpPr>
          <p:nvPr>
            <p:ph type="subTitle" idx="1"/>
          </p:nvPr>
        </p:nvSpPr>
        <p:spPr>
          <a:xfrm>
            <a:off x="3926475" y="3373050"/>
            <a:ext cx="2656200" cy="53893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To Our </a:t>
            </a:r>
            <a:r>
              <a:rPr lang="en-US" dirty="0"/>
              <a:t>Presentation </a:t>
            </a:r>
            <a:endParaRPr dirty="0"/>
          </a:p>
        </p:txBody>
      </p:sp>
      <p:cxnSp>
        <p:nvCxnSpPr>
          <p:cNvPr id="236" name="Google Shape;236;p33"/>
          <p:cNvCxnSpPr>
            <a:cxnSpLocks/>
          </p:cNvCxnSpPr>
          <p:nvPr/>
        </p:nvCxnSpPr>
        <p:spPr>
          <a:xfrm>
            <a:off x="3926475" y="3044846"/>
            <a:ext cx="1869308" cy="0"/>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237" name="Google Shape;237;p33"/>
          <p:cNvSpPr/>
          <p:nvPr/>
        </p:nvSpPr>
        <p:spPr>
          <a:xfrm>
            <a:off x="7096000" y="3825650"/>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3"/>
          <p:cNvSpPr/>
          <p:nvPr/>
        </p:nvSpPr>
        <p:spPr>
          <a:xfrm>
            <a:off x="7707775" y="3165300"/>
            <a:ext cx="381000" cy="3810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3"/>
          <p:cNvSpPr/>
          <p:nvPr/>
        </p:nvSpPr>
        <p:spPr>
          <a:xfrm>
            <a:off x="8549975" y="2977775"/>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0" name="Google Shape;240;p33"/>
          <p:cNvPicPr preferRelativeResize="0"/>
          <p:nvPr/>
        </p:nvPicPr>
        <p:blipFill rotWithShape="1">
          <a:blip r:embed="rId3"/>
          <a:srcRect l="-526" t="1620" r="375" b="-87"/>
          <a:stretch/>
        </p:blipFill>
        <p:spPr>
          <a:xfrm>
            <a:off x="-764525" y="1017765"/>
            <a:ext cx="4338600" cy="3099790"/>
          </a:xfrm>
          <a:prstGeom prst="roundRect">
            <a:avLst>
              <a:gd name="adj" fmla="val 16667"/>
            </a:avLst>
          </a:prstGeom>
          <a:noFill/>
          <a:ln>
            <a:noFill/>
          </a:ln>
        </p:spPr>
      </p:pic>
      <p:sp>
        <p:nvSpPr>
          <p:cNvPr id="241" name="Google Shape;241;p33"/>
          <p:cNvSpPr/>
          <p:nvPr/>
        </p:nvSpPr>
        <p:spPr>
          <a:xfrm>
            <a:off x="-1081350" y="-635675"/>
            <a:ext cx="2162700" cy="2163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3"/>
          <p:cNvSpPr/>
          <p:nvPr/>
        </p:nvSpPr>
        <p:spPr>
          <a:xfrm>
            <a:off x="2361550" y="539500"/>
            <a:ext cx="637500" cy="6375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2"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wheel(2)">
                                      <p:cBhvr>
                                        <p:cTn id="7" dur="2000"/>
                                        <p:tgtEl>
                                          <p:spTgt spid="240"/>
                                        </p:tgtEl>
                                      </p:cBhvr>
                                    </p:animEffect>
                                  </p:childTnLst>
                                </p:cTn>
                              </p:par>
                              <p:par>
                                <p:cTn id="8" presetID="21" presetClass="entr" presetSubtype="2" fill="hold" grpId="0" nodeType="withEffect">
                                  <p:stCondLst>
                                    <p:cond delay="0"/>
                                  </p:stCondLst>
                                  <p:childTnLst>
                                    <p:set>
                                      <p:cBhvr>
                                        <p:cTn id="9" dur="1" fill="hold">
                                          <p:stCondLst>
                                            <p:cond delay="0"/>
                                          </p:stCondLst>
                                        </p:cTn>
                                        <p:tgtEl>
                                          <p:spTgt spid="234"/>
                                        </p:tgtEl>
                                        <p:attrNameLst>
                                          <p:attrName>style.visibility</p:attrName>
                                        </p:attrNameLst>
                                      </p:cBhvr>
                                      <p:to>
                                        <p:strVal val="visible"/>
                                      </p:to>
                                    </p:set>
                                    <p:animEffect transition="in" filter="wheel(2)">
                                      <p:cBhvr>
                                        <p:cTn id="10" dur="2000"/>
                                        <p:tgtEl>
                                          <p:spTgt spid="234"/>
                                        </p:tgtEl>
                                      </p:cBhvr>
                                    </p:animEffect>
                                  </p:childTnLst>
                                </p:cTn>
                              </p:par>
                              <p:par>
                                <p:cTn id="11" presetID="21" presetClass="entr" presetSubtype="2" fill="hold" grpId="0" nodeType="withEffect">
                                  <p:stCondLst>
                                    <p:cond delay="0"/>
                                  </p:stCondLst>
                                  <p:childTnLst>
                                    <p:set>
                                      <p:cBhvr>
                                        <p:cTn id="12" dur="1" fill="hold">
                                          <p:stCondLst>
                                            <p:cond delay="0"/>
                                          </p:stCondLst>
                                        </p:cTn>
                                        <p:tgtEl>
                                          <p:spTgt spid="235">
                                            <p:txEl>
                                              <p:pRg st="0" end="0"/>
                                            </p:txEl>
                                          </p:spTgt>
                                        </p:tgtEl>
                                        <p:attrNameLst>
                                          <p:attrName>style.visibility</p:attrName>
                                        </p:attrNameLst>
                                      </p:cBhvr>
                                      <p:to>
                                        <p:strVal val="visible"/>
                                      </p:to>
                                    </p:set>
                                    <p:animEffect transition="in" filter="wheel(2)">
                                      <p:cBhvr>
                                        <p:cTn id="13" dur="2000"/>
                                        <p:tgtEl>
                                          <p:spTgt spid="235">
                                            <p:txEl>
                                              <p:pRg st="0" end="0"/>
                                            </p:txEl>
                                          </p:spTgt>
                                        </p:tgtEl>
                                      </p:cBhvr>
                                    </p:animEffect>
                                  </p:childTnLst>
                                </p:cTn>
                              </p:par>
                              <p:par>
                                <p:cTn id="14" presetID="21" presetClass="entr" presetSubtype="2" fill="hold" nodeType="withEffect">
                                  <p:stCondLst>
                                    <p:cond delay="0"/>
                                  </p:stCondLst>
                                  <p:childTnLst>
                                    <p:set>
                                      <p:cBhvr>
                                        <p:cTn id="15" dur="1" fill="hold">
                                          <p:stCondLst>
                                            <p:cond delay="0"/>
                                          </p:stCondLst>
                                        </p:cTn>
                                        <p:tgtEl>
                                          <p:spTgt spid="236"/>
                                        </p:tgtEl>
                                        <p:attrNameLst>
                                          <p:attrName>style.visibility</p:attrName>
                                        </p:attrNameLst>
                                      </p:cBhvr>
                                      <p:to>
                                        <p:strVal val="visible"/>
                                      </p:to>
                                    </p:set>
                                    <p:animEffect transition="in" filter="wheel(2)">
                                      <p:cBhvr>
                                        <p:cTn id="16" dur="2000"/>
                                        <p:tgtEl>
                                          <p:spTgt spid="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P spid="23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4"/>
          <p:cNvSpPr txBox="1">
            <a:spLocks noGrp="1"/>
          </p:cNvSpPr>
          <p:nvPr>
            <p:ph type="title"/>
          </p:nvPr>
        </p:nvSpPr>
        <p:spPr>
          <a:xfrm>
            <a:off x="2493901" y="354679"/>
            <a:ext cx="3562425" cy="47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t>Table of Contents</a:t>
            </a:r>
            <a:endParaRPr sz="2800" dirty="0"/>
          </a:p>
        </p:txBody>
      </p:sp>
      <p:graphicFrame>
        <p:nvGraphicFramePr>
          <p:cNvPr id="248" name="Google Shape;248;p34"/>
          <p:cNvGraphicFramePr/>
          <p:nvPr>
            <p:extLst>
              <p:ext uri="{D42A27DB-BD31-4B8C-83A1-F6EECF244321}">
                <p14:modId xmlns:p14="http://schemas.microsoft.com/office/powerpoint/2010/main" val="4103560712"/>
              </p:ext>
            </p:extLst>
          </p:nvPr>
        </p:nvGraphicFramePr>
        <p:xfrm>
          <a:off x="1314275" y="930977"/>
          <a:ext cx="5921675" cy="4179331"/>
        </p:xfrm>
        <a:graphic>
          <a:graphicData uri="http://schemas.openxmlformats.org/drawingml/2006/table">
            <a:tbl>
              <a:tblPr>
                <a:tableStyleId>{3C2FFA5D-87B4-456A-9821-1D502468CF0F}</a:tableStyleId>
              </a:tblPr>
              <a:tblGrid>
                <a:gridCol w="5921675">
                  <a:extLst>
                    <a:ext uri="{9D8B030D-6E8A-4147-A177-3AD203B41FA5}">
                      <a16:colId xmlns:a16="http://schemas.microsoft.com/office/drawing/2014/main" val="20000"/>
                    </a:ext>
                  </a:extLst>
                </a:gridCol>
              </a:tblGrid>
              <a:tr h="321487">
                <a:tc>
                  <a:txBody>
                    <a:bodyPr/>
                    <a:lstStyle/>
                    <a:p>
                      <a:pPr marL="0" lvl="0" indent="0" algn="ctr" rtl="0">
                        <a:spcBef>
                          <a:spcPts val="0"/>
                        </a:spcBef>
                        <a:spcAft>
                          <a:spcPts val="0"/>
                        </a:spcAft>
                        <a:buNone/>
                      </a:pPr>
                      <a:r>
                        <a:rPr lang="en-US" sz="900" b="1" dirty="0">
                          <a:solidFill>
                            <a:schemeClr val="dk2"/>
                          </a:solidFill>
                          <a:uFill>
                            <a:noFill/>
                          </a:uFill>
                          <a:latin typeface="Times New Roman" panose="02020603050405020304" pitchFamily="18" charset="0"/>
                          <a:cs typeface="Times New Roman" panose="02020603050405020304" pitchFamily="18" charset="0"/>
                          <a:sym typeface="Poppins"/>
                        </a:rPr>
                        <a:t>Team Members </a:t>
                      </a:r>
                      <a:endParaRPr sz="900" b="1" dirty="0">
                        <a:solidFill>
                          <a:schemeClr val="dk2"/>
                        </a:solidFill>
                        <a:latin typeface="Times New Roman" panose="02020603050405020304" pitchFamily="18" charset="0"/>
                        <a:ea typeface="Poppins"/>
                        <a:cs typeface="Times New Roman" panose="02020603050405020304" pitchFamily="18" charset="0"/>
                        <a:sym typeface="Poppins"/>
                      </a:endParaRPr>
                    </a:p>
                  </a:txBody>
                  <a:tcPr marL="91425" marR="91425" marT="91425" marB="91425"/>
                </a:tc>
                <a:extLst>
                  <a:ext uri="{0D108BD9-81ED-4DB2-BD59-A6C34878D82A}">
                    <a16:rowId xmlns:a16="http://schemas.microsoft.com/office/drawing/2014/main" val="10000"/>
                  </a:ext>
                </a:extLst>
              </a:tr>
              <a:tr h="321487">
                <a:tc>
                  <a:txBody>
                    <a:bodyPr/>
                    <a:lstStyle/>
                    <a:p>
                      <a:pPr marL="0" lvl="0" indent="0" algn="ctr" rtl="0">
                        <a:spcBef>
                          <a:spcPts val="0"/>
                        </a:spcBef>
                        <a:spcAft>
                          <a:spcPts val="0"/>
                        </a:spcAft>
                        <a:buNone/>
                      </a:pPr>
                      <a:r>
                        <a:rPr lang="en-US" sz="900" b="1" dirty="0">
                          <a:solidFill>
                            <a:schemeClr val="dk2"/>
                          </a:solidFill>
                          <a:uFill>
                            <a:noFill/>
                          </a:uFill>
                          <a:latin typeface="Times New Roman" panose="02020603050405020304" pitchFamily="18" charset="0"/>
                          <a:cs typeface="Times New Roman" panose="02020603050405020304" pitchFamily="18" charset="0"/>
                          <a:sym typeface="Poppins"/>
                        </a:rPr>
                        <a:t>Introduction </a:t>
                      </a:r>
                      <a:endParaRPr lang="en-US" sz="900" b="1" dirty="0">
                        <a:solidFill>
                          <a:schemeClr val="dk2"/>
                        </a:solidFill>
                        <a:latin typeface="Times New Roman" panose="02020603050405020304" pitchFamily="18" charset="0"/>
                        <a:ea typeface="Poppins"/>
                        <a:cs typeface="Times New Roman" panose="02020603050405020304" pitchFamily="18" charset="0"/>
                        <a:sym typeface="Poppins"/>
                      </a:endParaRPr>
                    </a:p>
                  </a:txBody>
                  <a:tcPr marL="91425" marR="91425" marT="91425" marB="91425"/>
                </a:tc>
                <a:extLst>
                  <a:ext uri="{0D108BD9-81ED-4DB2-BD59-A6C34878D82A}">
                    <a16:rowId xmlns:a16="http://schemas.microsoft.com/office/drawing/2014/main" val="10001"/>
                  </a:ext>
                </a:extLst>
              </a:tr>
              <a:tr h="321487">
                <a:tc>
                  <a:txBody>
                    <a:bodyPr/>
                    <a:lstStyle/>
                    <a:p>
                      <a:pPr marL="0" lvl="0" indent="0" algn="ctr" rtl="0">
                        <a:spcBef>
                          <a:spcPts val="0"/>
                        </a:spcBef>
                        <a:spcAft>
                          <a:spcPts val="0"/>
                        </a:spcAft>
                        <a:buNone/>
                      </a:pPr>
                      <a:r>
                        <a:rPr lang="en-US" sz="900" b="1" dirty="0">
                          <a:solidFill>
                            <a:schemeClr val="dk2"/>
                          </a:solidFill>
                          <a:uFill>
                            <a:noFill/>
                          </a:uFill>
                          <a:latin typeface="Times New Roman" panose="02020603050405020304" pitchFamily="18" charset="0"/>
                          <a:ea typeface="Poppins"/>
                          <a:cs typeface="Times New Roman" panose="02020603050405020304" pitchFamily="18" charset="0"/>
                          <a:sym typeface="Poppins"/>
                        </a:rPr>
                        <a:t>Problem Statement </a:t>
                      </a:r>
                      <a:endParaRPr sz="900" b="1" dirty="0">
                        <a:solidFill>
                          <a:schemeClr val="dk2"/>
                        </a:solidFill>
                        <a:latin typeface="Times New Roman" panose="02020603050405020304" pitchFamily="18" charset="0"/>
                        <a:ea typeface="Poppins"/>
                        <a:cs typeface="Times New Roman" panose="02020603050405020304" pitchFamily="18" charset="0"/>
                        <a:sym typeface="Poppins"/>
                      </a:endParaRPr>
                    </a:p>
                  </a:txBody>
                  <a:tcPr marL="91425" marR="91425" marT="91425" marB="91425"/>
                </a:tc>
                <a:extLst>
                  <a:ext uri="{0D108BD9-81ED-4DB2-BD59-A6C34878D82A}">
                    <a16:rowId xmlns:a16="http://schemas.microsoft.com/office/drawing/2014/main" val="10002"/>
                  </a:ext>
                </a:extLst>
              </a:tr>
              <a:tr h="321487">
                <a:tc>
                  <a:txBody>
                    <a:bodyPr/>
                    <a:lstStyle/>
                    <a:p>
                      <a:pPr marL="0" lvl="0" indent="0" algn="ctr" rtl="0">
                        <a:spcBef>
                          <a:spcPts val="0"/>
                        </a:spcBef>
                        <a:spcAft>
                          <a:spcPts val="0"/>
                        </a:spcAft>
                        <a:buNone/>
                      </a:pPr>
                      <a:r>
                        <a:rPr lang="en-US" sz="900" b="1" dirty="0">
                          <a:solidFill>
                            <a:schemeClr val="dk2"/>
                          </a:solidFill>
                          <a:uFill>
                            <a:noFill/>
                          </a:uFill>
                          <a:latin typeface="Times New Roman" panose="02020603050405020304" pitchFamily="18" charset="0"/>
                          <a:cs typeface="Times New Roman" panose="02020603050405020304" pitchFamily="18" charset="0"/>
                          <a:sym typeface="Poppins"/>
                        </a:rPr>
                        <a:t>Solution Overview </a:t>
                      </a:r>
                      <a:endParaRPr sz="900" b="1" dirty="0">
                        <a:solidFill>
                          <a:schemeClr val="dk2"/>
                        </a:solidFill>
                        <a:latin typeface="Times New Roman" panose="02020603050405020304" pitchFamily="18" charset="0"/>
                        <a:ea typeface="Poppins"/>
                        <a:cs typeface="Times New Roman" panose="02020603050405020304" pitchFamily="18" charset="0"/>
                        <a:sym typeface="Poppins"/>
                      </a:endParaRPr>
                    </a:p>
                  </a:txBody>
                  <a:tcPr marL="91425" marR="91425" marT="91425" marB="91425"/>
                </a:tc>
                <a:extLst>
                  <a:ext uri="{0D108BD9-81ED-4DB2-BD59-A6C34878D82A}">
                    <a16:rowId xmlns:a16="http://schemas.microsoft.com/office/drawing/2014/main" val="10003"/>
                  </a:ext>
                </a:extLst>
              </a:tr>
              <a:tr h="321487">
                <a:tc>
                  <a:txBody>
                    <a:bodyPr/>
                    <a:lstStyle/>
                    <a:p>
                      <a:pPr marL="0" lvl="0" indent="0" algn="ctr" rtl="0">
                        <a:spcBef>
                          <a:spcPts val="0"/>
                        </a:spcBef>
                        <a:spcAft>
                          <a:spcPts val="0"/>
                        </a:spcAft>
                        <a:buNone/>
                      </a:pPr>
                      <a:r>
                        <a:rPr lang="en-US" sz="900" b="1" dirty="0">
                          <a:solidFill>
                            <a:schemeClr val="dk2"/>
                          </a:solidFill>
                          <a:latin typeface="Times New Roman" panose="02020603050405020304" pitchFamily="18" charset="0"/>
                          <a:ea typeface="Poppins"/>
                          <a:cs typeface="Times New Roman" panose="02020603050405020304" pitchFamily="18" charset="0"/>
                          <a:sym typeface="Poppins"/>
                        </a:rPr>
                        <a:t>Database Design </a:t>
                      </a:r>
                      <a:endParaRPr sz="900" b="1" dirty="0">
                        <a:solidFill>
                          <a:schemeClr val="dk2"/>
                        </a:solidFill>
                        <a:latin typeface="Times New Roman" panose="02020603050405020304" pitchFamily="18" charset="0"/>
                        <a:ea typeface="Poppins"/>
                        <a:cs typeface="Times New Roman" panose="02020603050405020304" pitchFamily="18" charset="0"/>
                        <a:sym typeface="Poppins"/>
                      </a:endParaRPr>
                    </a:p>
                  </a:txBody>
                  <a:tcPr marL="91425" marR="91425" marT="91425" marB="91425"/>
                </a:tc>
                <a:extLst>
                  <a:ext uri="{0D108BD9-81ED-4DB2-BD59-A6C34878D82A}">
                    <a16:rowId xmlns:a16="http://schemas.microsoft.com/office/drawing/2014/main" val="2322974497"/>
                  </a:ext>
                </a:extLst>
              </a:tr>
              <a:tr h="321487">
                <a:tc>
                  <a:txBody>
                    <a:bodyPr/>
                    <a:lstStyle/>
                    <a:p>
                      <a:pPr marL="0" lvl="0" indent="0" algn="ctr" rtl="0">
                        <a:spcBef>
                          <a:spcPts val="0"/>
                        </a:spcBef>
                        <a:spcAft>
                          <a:spcPts val="0"/>
                        </a:spcAft>
                        <a:buNone/>
                      </a:pPr>
                      <a:r>
                        <a:rPr lang="en-US" sz="900" b="1" dirty="0">
                          <a:solidFill>
                            <a:schemeClr val="dk2"/>
                          </a:solidFill>
                          <a:latin typeface="Times New Roman" panose="02020603050405020304" pitchFamily="18" charset="0"/>
                          <a:ea typeface="Poppins"/>
                          <a:cs typeface="Times New Roman" panose="02020603050405020304" pitchFamily="18" charset="0"/>
                          <a:sym typeface="Poppins"/>
                        </a:rPr>
                        <a:t>Key Features </a:t>
                      </a:r>
                      <a:endParaRPr sz="900" b="1" dirty="0">
                        <a:solidFill>
                          <a:schemeClr val="dk2"/>
                        </a:solidFill>
                        <a:latin typeface="Times New Roman" panose="02020603050405020304" pitchFamily="18" charset="0"/>
                        <a:ea typeface="Poppins"/>
                        <a:cs typeface="Times New Roman" panose="02020603050405020304" pitchFamily="18" charset="0"/>
                        <a:sym typeface="Poppins"/>
                      </a:endParaRPr>
                    </a:p>
                  </a:txBody>
                  <a:tcPr marL="91425" marR="91425" marT="91425" marB="91425"/>
                </a:tc>
                <a:extLst>
                  <a:ext uri="{0D108BD9-81ED-4DB2-BD59-A6C34878D82A}">
                    <a16:rowId xmlns:a16="http://schemas.microsoft.com/office/drawing/2014/main" val="1814599545"/>
                  </a:ext>
                </a:extLst>
              </a:tr>
              <a:tr h="321487">
                <a:tc>
                  <a:txBody>
                    <a:bodyPr/>
                    <a:lstStyle/>
                    <a:p>
                      <a:pPr marL="0" lvl="0" indent="0" algn="ctr" rtl="0">
                        <a:spcBef>
                          <a:spcPts val="0"/>
                        </a:spcBef>
                        <a:spcAft>
                          <a:spcPts val="0"/>
                        </a:spcAft>
                        <a:buNone/>
                      </a:pPr>
                      <a:r>
                        <a:rPr lang="en-US" sz="900" b="1" dirty="0">
                          <a:solidFill>
                            <a:schemeClr val="dk2"/>
                          </a:solidFill>
                          <a:latin typeface="Times New Roman" panose="02020603050405020304" pitchFamily="18" charset="0"/>
                          <a:ea typeface="Poppins"/>
                          <a:cs typeface="Times New Roman" panose="02020603050405020304" pitchFamily="18" charset="0"/>
                          <a:sym typeface="Poppins"/>
                        </a:rPr>
                        <a:t>Patient Module </a:t>
                      </a:r>
                      <a:endParaRPr sz="900" b="1" dirty="0">
                        <a:solidFill>
                          <a:schemeClr val="dk2"/>
                        </a:solidFill>
                        <a:latin typeface="Times New Roman" panose="02020603050405020304" pitchFamily="18" charset="0"/>
                        <a:ea typeface="Poppins"/>
                        <a:cs typeface="Times New Roman" panose="02020603050405020304" pitchFamily="18" charset="0"/>
                        <a:sym typeface="Poppins"/>
                      </a:endParaRPr>
                    </a:p>
                  </a:txBody>
                  <a:tcPr marL="91425" marR="91425" marT="91425" marB="91425"/>
                </a:tc>
                <a:extLst>
                  <a:ext uri="{0D108BD9-81ED-4DB2-BD59-A6C34878D82A}">
                    <a16:rowId xmlns:a16="http://schemas.microsoft.com/office/drawing/2014/main" val="1162345760"/>
                  </a:ext>
                </a:extLst>
              </a:tr>
              <a:tr h="321487">
                <a:tc>
                  <a:txBody>
                    <a:bodyPr/>
                    <a:lstStyle/>
                    <a:p>
                      <a:pPr marL="0" lvl="0" indent="0" algn="ctr" rtl="0">
                        <a:spcBef>
                          <a:spcPts val="0"/>
                        </a:spcBef>
                        <a:spcAft>
                          <a:spcPts val="0"/>
                        </a:spcAft>
                        <a:buNone/>
                      </a:pPr>
                      <a:r>
                        <a:rPr lang="en-US" sz="900" b="1" dirty="0">
                          <a:solidFill>
                            <a:schemeClr val="dk2"/>
                          </a:solidFill>
                          <a:latin typeface="Times New Roman" panose="02020603050405020304" pitchFamily="18" charset="0"/>
                          <a:ea typeface="Poppins"/>
                          <a:cs typeface="Times New Roman" panose="02020603050405020304" pitchFamily="18" charset="0"/>
                          <a:sym typeface="Poppins"/>
                        </a:rPr>
                        <a:t>Doctor Module </a:t>
                      </a:r>
                    </a:p>
                  </a:txBody>
                  <a:tcPr marL="91425" marR="91425" marT="91425" marB="91425"/>
                </a:tc>
                <a:extLst>
                  <a:ext uri="{0D108BD9-81ED-4DB2-BD59-A6C34878D82A}">
                    <a16:rowId xmlns:a16="http://schemas.microsoft.com/office/drawing/2014/main" val="1657992972"/>
                  </a:ext>
                </a:extLst>
              </a:tr>
              <a:tr h="32148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1" dirty="0">
                          <a:solidFill>
                            <a:schemeClr val="dk2"/>
                          </a:solidFill>
                          <a:latin typeface="Times New Roman" panose="02020603050405020304" pitchFamily="18" charset="0"/>
                          <a:ea typeface="Poppins"/>
                          <a:cs typeface="Times New Roman" panose="02020603050405020304" pitchFamily="18" charset="0"/>
                          <a:sym typeface="Poppins"/>
                        </a:rPr>
                        <a:t>Admin Module </a:t>
                      </a:r>
                    </a:p>
                  </a:txBody>
                  <a:tcPr marL="91425" marR="91425" marT="91425" marB="91425"/>
                </a:tc>
                <a:extLst>
                  <a:ext uri="{0D108BD9-81ED-4DB2-BD59-A6C34878D82A}">
                    <a16:rowId xmlns:a16="http://schemas.microsoft.com/office/drawing/2014/main" val="4109647670"/>
                  </a:ext>
                </a:extLst>
              </a:tr>
              <a:tr h="32148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1" dirty="0">
                          <a:solidFill>
                            <a:schemeClr val="dk2"/>
                          </a:solidFill>
                          <a:latin typeface="Times New Roman" panose="02020603050405020304" pitchFamily="18" charset="0"/>
                          <a:ea typeface="Poppins"/>
                          <a:cs typeface="Times New Roman" panose="02020603050405020304" pitchFamily="18" charset="0"/>
                          <a:sym typeface="Poppins"/>
                        </a:rPr>
                        <a:t>System Architecture / Workflow </a:t>
                      </a:r>
                    </a:p>
                  </a:txBody>
                  <a:tcPr marL="91425" marR="91425" marT="91425" marB="91425"/>
                </a:tc>
                <a:extLst>
                  <a:ext uri="{0D108BD9-81ED-4DB2-BD59-A6C34878D82A}">
                    <a16:rowId xmlns:a16="http://schemas.microsoft.com/office/drawing/2014/main" val="1725168931"/>
                  </a:ext>
                </a:extLst>
              </a:tr>
              <a:tr h="32148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00" b="1" dirty="0">
                          <a:solidFill>
                            <a:schemeClr val="dk2"/>
                          </a:solidFill>
                          <a:latin typeface="Times New Roman" panose="02020603050405020304" pitchFamily="18" charset="0"/>
                          <a:ea typeface="Poppins"/>
                          <a:cs typeface="Times New Roman" panose="02020603050405020304" pitchFamily="18" charset="0"/>
                          <a:sym typeface="Poppins"/>
                        </a:rPr>
                        <a:t>Technology Used</a:t>
                      </a:r>
                    </a:p>
                  </a:txBody>
                  <a:tcPr marL="91425" marR="91425" marT="91425" marB="91425"/>
                </a:tc>
                <a:extLst>
                  <a:ext uri="{0D108BD9-81ED-4DB2-BD59-A6C34878D82A}">
                    <a16:rowId xmlns:a16="http://schemas.microsoft.com/office/drawing/2014/main" val="297273809"/>
                  </a:ext>
                </a:extLst>
              </a:tr>
              <a:tr h="321487">
                <a:tc>
                  <a:txBody>
                    <a:bodyPr/>
                    <a:lstStyle/>
                    <a:p>
                      <a:pPr marL="0" lvl="0" indent="0" algn="ctr" rtl="0">
                        <a:spcBef>
                          <a:spcPts val="0"/>
                        </a:spcBef>
                        <a:spcAft>
                          <a:spcPts val="0"/>
                        </a:spcAft>
                        <a:buNone/>
                      </a:pPr>
                      <a:r>
                        <a:rPr lang="en-US" sz="900" b="1" dirty="0">
                          <a:solidFill>
                            <a:schemeClr val="dk2"/>
                          </a:solidFill>
                          <a:latin typeface="Times New Roman" panose="02020603050405020304" pitchFamily="18" charset="0"/>
                          <a:ea typeface="Poppins"/>
                          <a:cs typeface="Times New Roman" panose="02020603050405020304" pitchFamily="18" charset="0"/>
                          <a:sym typeface="Poppins"/>
                        </a:rPr>
                        <a:t>Conclusion </a:t>
                      </a:r>
                      <a:endParaRPr sz="900" b="1" dirty="0">
                        <a:solidFill>
                          <a:schemeClr val="dk2"/>
                        </a:solidFill>
                        <a:latin typeface="Times New Roman" panose="02020603050405020304" pitchFamily="18" charset="0"/>
                        <a:ea typeface="Poppins"/>
                        <a:cs typeface="Times New Roman" panose="02020603050405020304" pitchFamily="18" charset="0"/>
                        <a:sym typeface="Poppins"/>
                      </a:endParaRPr>
                    </a:p>
                  </a:txBody>
                  <a:tcPr marL="91425" marR="91425" marT="91425" marB="91425"/>
                </a:tc>
                <a:extLst>
                  <a:ext uri="{0D108BD9-81ED-4DB2-BD59-A6C34878D82A}">
                    <a16:rowId xmlns:a16="http://schemas.microsoft.com/office/drawing/2014/main" val="2454831024"/>
                  </a:ext>
                </a:extLst>
              </a:tr>
              <a:tr h="321487">
                <a:tc>
                  <a:txBody>
                    <a:bodyPr/>
                    <a:lstStyle/>
                    <a:p>
                      <a:pPr marL="0" lvl="0" indent="0" algn="ctr" rtl="0">
                        <a:spcBef>
                          <a:spcPts val="0"/>
                        </a:spcBef>
                        <a:spcAft>
                          <a:spcPts val="0"/>
                        </a:spcAft>
                        <a:buNone/>
                      </a:pPr>
                      <a:r>
                        <a:rPr lang="en" sz="900" b="1" dirty="0">
                          <a:solidFill>
                            <a:schemeClr val="dk2"/>
                          </a:solidFill>
                          <a:uFill>
                            <a:noFill/>
                          </a:uFill>
                          <a:latin typeface="Times New Roman" panose="02020603050405020304" pitchFamily="18" charset="0"/>
                          <a:cs typeface="Times New Roman" panose="02020603050405020304" pitchFamily="18" charset="0"/>
                          <a:sym typeface="Poppins"/>
                        </a:rPr>
                        <a:t>Q&amp;A</a:t>
                      </a:r>
                      <a:endParaRPr sz="900" b="1" dirty="0">
                        <a:solidFill>
                          <a:schemeClr val="dk2"/>
                        </a:solidFill>
                        <a:latin typeface="Times New Roman" panose="02020603050405020304" pitchFamily="18" charset="0"/>
                        <a:ea typeface="Poppins"/>
                        <a:cs typeface="Times New Roman" panose="02020603050405020304" pitchFamily="18" charset="0"/>
                        <a:sym typeface="Poppins"/>
                      </a:endParaRPr>
                    </a:p>
                  </a:txBody>
                  <a:tcPr marL="91425" marR="91425" marT="91425" marB="91425"/>
                </a:tc>
                <a:extLst>
                  <a:ext uri="{0D108BD9-81ED-4DB2-BD59-A6C34878D82A}">
                    <a16:rowId xmlns:a16="http://schemas.microsoft.com/office/drawing/2014/main" val="10005"/>
                  </a:ext>
                </a:extLst>
              </a:tr>
            </a:tbl>
          </a:graphicData>
        </a:graphic>
      </p:graphicFrame>
      <p:sp>
        <p:nvSpPr>
          <p:cNvPr id="252" name="Google Shape;252;p34"/>
          <p:cNvSpPr/>
          <p:nvPr/>
        </p:nvSpPr>
        <p:spPr>
          <a:xfrm>
            <a:off x="7795950" y="-783350"/>
            <a:ext cx="2162700" cy="21630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4"/>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75" name="Google Shape;275;p35"/>
          <p:cNvSpPr/>
          <p:nvPr/>
        </p:nvSpPr>
        <p:spPr>
          <a:xfrm>
            <a:off x="7514650" y="-1340675"/>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5"/>
          <p:cNvSpPr txBox="1">
            <a:spLocks noGrp="1"/>
          </p:cNvSpPr>
          <p:nvPr>
            <p:ph type="title"/>
          </p:nvPr>
        </p:nvSpPr>
        <p:spPr>
          <a:xfrm>
            <a:off x="1387449" y="1290339"/>
            <a:ext cx="2638500" cy="35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accent2"/>
              </a:buClr>
              <a:buSzPts val="1100"/>
              <a:buFont typeface="Arial"/>
              <a:buNone/>
            </a:pPr>
            <a:r>
              <a:rPr lang="en" dirty="0"/>
              <a:t>Abir Hasan</a:t>
            </a:r>
            <a:endParaRPr dirty="0"/>
          </a:p>
        </p:txBody>
      </p:sp>
      <p:sp>
        <p:nvSpPr>
          <p:cNvPr id="259" name="Google Shape;259;p35"/>
          <p:cNvSpPr txBox="1">
            <a:spLocks noGrp="1"/>
          </p:cNvSpPr>
          <p:nvPr>
            <p:ph type="subTitle" idx="1"/>
          </p:nvPr>
        </p:nvSpPr>
        <p:spPr>
          <a:xfrm>
            <a:off x="1387449" y="1648604"/>
            <a:ext cx="2638500" cy="52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2"/>
              </a:buClr>
              <a:buSzPts val="1100"/>
              <a:buFont typeface="Arial"/>
              <a:buNone/>
            </a:pPr>
            <a:r>
              <a:rPr lang="en" dirty="0"/>
              <a:t>Id: </a:t>
            </a:r>
            <a:r>
              <a:rPr lang="en-US" sz="1800" dirty="0">
                <a:effectLst/>
                <a:latin typeface="Times New Roman" panose="02020603050405020304" pitchFamily="18" charset="0"/>
                <a:ea typeface="Aptos"/>
              </a:rPr>
              <a:t>22303364</a:t>
            </a:r>
            <a:endParaRPr dirty="0"/>
          </a:p>
        </p:txBody>
      </p:sp>
      <p:sp>
        <p:nvSpPr>
          <p:cNvPr id="260" name="Google Shape;260;p35"/>
          <p:cNvSpPr txBox="1">
            <a:spLocks noGrp="1"/>
          </p:cNvSpPr>
          <p:nvPr>
            <p:ph type="title" idx="2"/>
          </p:nvPr>
        </p:nvSpPr>
        <p:spPr>
          <a:xfrm>
            <a:off x="6189958" y="1276845"/>
            <a:ext cx="2638500" cy="35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accent2"/>
              </a:buClr>
              <a:buSzPts val="1100"/>
              <a:buFont typeface="Arial"/>
              <a:buNone/>
            </a:pPr>
            <a:r>
              <a:rPr lang="en-US" dirty="0"/>
              <a:t>Sadia Yasmin</a:t>
            </a:r>
          </a:p>
        </p:txBody>
      </p:sp>
      <p:sp>
        <p:nvSpPr>
          <p:cNvPr id="261" name="Google Shape;261;p35"/>
          <p:cNvSpPr txBox="1">
            <a:spLocks noGrp="1"/>
          </p:cNvSpPr>
          <p:nvPr>
            <p:ph type="subTitle" idx="3"/>
          </p:nvPr>
        </p:nvSpPr>
        <p:spPr>
          <a:xfrm>
            <a:off x="6189958" y="1635110"/>
            <a:ext cx="2638500" cy="52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2"/>
              </a:buClr>
              <a:buSzPts val="1100"/>
              <a:buFont typeface="Arial"/>
              <a:buNone/>
            </a:pPr>
            <a:r>
              <a:rPr lang="en" dirty="0"/>
              <a:t>Id: </a:t>
            </a:r>
            <a:r>
              <a:rPr lang="en-US" sz="1800" dirty="0">
                <a:effectLst/>
                <a:latin typeface="Times New Roman" panose="02020603050405020304" pitchFamily="18" charset="0"/>
                <a:ea typeface="Aptos"/>
              </a:rPr>
              <a:t>22303235</a:t>
            </a:r>
            <a:endParaRPr dirty="0"/>
          </a:p>
        </p:txBody>
      </p:sp>
      <p:sp>
        <p:nvSpPr>
          <p:cNvPr id="262" name="Google Shape;262;p35"/>
          <p:cNvSpPr txBox="1">
            <a:spLocks noGrp="1"/>
          </p:cNvSpPr>
          <p:nvPr>
            <p:ph type="title" idx="4"/>
          </p:nvPr>
        </p:nvSpPr>
        <p:spPr>
          <a:xfrm>
            <a:off x="645549" y="1290339"/>
            <a:ext cx="665700"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263" name="Google Shape;263;p35"/>
          <p:cNvSpPr txBox="1">
            <a:spLocks noGrp="1"/>
          </p:cNvSpPr>
          <p:nvPr>
            <p:ph type="title" idx="5"/>
          </p:nvPr>
        </p:nvSpPr>
        <p:spPr>
          <a:xfrm>
            <a:off x="5448059" y="1276845"/>
            <a:ext cx="665700" cy="35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264" name="Google Shape;264;p35"/>
          <p:cNvSpPr txBox="1">
            <a:spLocks noGrp="1"/>
          </p:cNvSpPr>
          <p:nvPr>
            <p:ph type="title" idx="6"/>
          </p:nvPr>
        </p:nvSpPr>
        <p:spPr>
          <a:xfrm>
            <a:off x="336169" y="368280"/>
            <a:ext cx="3204366" cy="47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accent2"/>
              </a:buClr>
              <a:buSzPts val="1100"/>
              <a:buFont typeface="Arial"/>
              <a:buNone/>
            </a:pPr>
            <a:r>
              <a:rPr lang="en" sz="2800" dirty="0"/>
              <a:t>Team </a:t>
            </a:r>
            <a:r>
              <a:rPr lang="en-US" sz="2800" dirty="0"/>
              <a:t>Members </a:t>
            </a:r>
            <a:endParaRPr sz="2800" dirty="0"/>
          </a:p>
        </p:txBody>
      </p:sp>
      <p:sp>
        <p:nvSpPr>
          <p:cNvPr id="265" name="Google Shape;265;p35"/>
          <p:cNvSpPr txBox="1">
            <a:spLocks noGrp="1"/>
          </p:cNvSpPr>
          <p:nvPr>
            <p:ph type="title" idx="7"/>
          </p:nvPr>
        </p:nvSpPr>
        <p:spPr>
          <a:xfrm>
            <a:off x="1078068" y="2662912"/>
            <a:ext cx="3645186" cy="357000"/>
          </a:xfrm>
          <a:prstGeom prst="rect">
            <a:avLst/>
          </a:prstGeom>
        </p:spPr>
        <p:txBody>
          <a:bodyPr spcFirstLastPara="1" wrap="square" lIns="91425" tIns="91425" rIns="91425" bIns="91425" anchor="ctr" anchorCtr="0">
            <a:noAutofit/>
          </a:bodyPr>
          <a:lstStyle/>
          <a:p>
            <a:pPr algn="ctr">
              <a:lnSpc>
                <a:spcPct val="115000"/>
              </a:lnSpc>
            </a:pPr>
            <a:r>
              <a:rPr lang="en-US" sz="2400" dirty="0"/>
              <a:t>Md </a:t>
            </a:r>
            <a:r>
              <a:rPr lang="en-US" sz="2400" dirty="0" err="1"/>
              <a:t>Shamiul</a:t>
            </a:r>
            <a:r>
              <a:rPr lang="en-US" sz="2400" dirty="0"/>
              <a:t> Kabir </a:t>
            </a:r>
            <a:r>
              <a:rPr lang="en-US" sz="2400" dirty="0" err="1"/>
              <a:t>Alvi</a:t>
            </a:r>
            <a:endParaRPr lang="en-US" sz="2800" kern="100" dirty="0">
              <a:effectLst/>
              <a:latin typeface="Aptos"/>
              <a:ea typeface="Aptos"/>
              <a:cs typeface="Times New Roman" panose="02020603050405020304" pitchFamily="18" charset="0"/>
            </a:endParaRPr>
          </a:p>
        </p:txBody>
      </p:sp>
      <p:sp>
        <p:nvSpPr>
          <p:cNvPr id="266" name="Google Shape;266;p35"/>
          <p:cNvSpPr txBox="1">
            <a:spLocks noGrp="1"/>
          </p:cNvSpPr>
          <p:nvPr>
            <p:ph type="subTitle" idx="8"/>
          </p:nvPr>
        </p:nvSpPr>
        <p:spPr>
          <a:xfrm>
            <a:off x="1078069" y="3021177"/>
            <a:ext cx="2638500" cy="52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2"/>
              </a:buClr>
              <a:buSzPts val="1100"/>
              <a:buFont typeface="Arial"/>
              <a:buNone/>
            </a:pPr>
            <a:r>
              <a:rPr lang="en" dirty="0"/>
              <a:t>Id: </a:t>
            </a:r>
            <a:r>
              <a:rPr lang="en-US" sz="1800" dirty="0">
                <a:effectLst/>
                <a:latin typeface="Times New Roman" panose="02020603050405020304" pitchFamily="18" charset="0"/>
                <a:ea typeface="Aptos"/>
              </a:rPr>
              <a:t>22303297</a:t>
            </a:r>
            <a:endParaRPr dirty="0"/>
          </a:p>
        </p:txBody>
      </p:sp>
      <p:sp>
        <p:nvSpPr>
          <p:cNvPr id="267" name="Google Shape;267;p35"/>
          <p:cNvSpPr txBox="1">
            <a:spLocks noGrp="1"/>
          </p:cNvSpPr>
          <p:nvPr>
            <p:ph type="title" idx="9"/>
          </p:nvPr>
        </p:nvSpPr>
        <p:spPr>
          <a:xfrm>
            <a:off x="5963077" y="2704162"/>
            <a:ext cx="3070920" cy="357000"/>
          </a:xfrm>
          <a:prstGeom prst="rect">
            <a:avLst/>
          </a:prstGeom>
        </p:spPr>
        <p:txBody>
          <a:bodyPr spcFirstLastPara="1" wrap="square" lIns="91425" tIns="91425" rIns="91425" bIns="91425" anchor="ctr" anchorCtr="0">
            <a:noAutofit/>
          </a:bodyPr>
          <a:lstStyle/>
          <a:p>
            <a:pPr lvl="0">
              <a:buSzPts val="1100"/>
            </a:pPr>
            <a:r>
              <a:rPr lang="en-US" sz="2400" dirty="0">
                <a:latin typeface="Poppins SemiBold" panose="00000700000000000000" pitchFamily="2" charset="0"/>
                <a:ea typeface="Aptos"/>
                <a:cs typeface="Poppins SemiBold" panose="00000700000000000000" pitchFamily="2" charset="0"/>
              </a:rPr>
              <a:t>Umana </a:t>
            </a:r>
            <a:r>
              <a:rPr lang="en-US" sz="2400" dirty="0" err="1">
                <a:latin typeface="Poppins SemiBold" panose="00000700000000000000" pitchFamily="2" charset="0"/>
                <a:ea typeface="Aptos"/>
                <a:cs typeface="Poppins SemiBold" panose="00000700000000000000" pitchFamily="2" charset="0"/>
              </a:rPr>
              <a:t>Tahrim</a:t>
            </a:r>
            <a:endParaRPr sz="2800" dirty="0">
              <a:latin typeface="Poppins SemiBold" panose="00000700000000000000" pitchFamily="2" charset="0"/>
              <a:cs typeface="Poppins SemiBold" panose="00000700000000000000" pitchFamily="2" charset="0"/>
            </a:endParaRPr>
          </a:p>
        </p:txBody>
      </p:sp>
      <p:sp>
        <p:nvSpPr>
          <p:cNvPr id="268" name="Google Shape;268;p35"/>
          <p:cNvSpPr txBox="1">
            <a:spLocks noGrp="1"/>
          </p:cNvSpPr>
          <p:nvPr>
            <p:ph type="subTitle" idx="13"/>
          </p:nvPr>
        </p:nvSpPr>
        <p:spPr>
          <a:xfrm>
            <a:off x="5963077" y="3062427"/>
            <a:ext cx="2638500" cy="52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accent2"/>
              </a:buClr>
              <a:buSzPts val="1100"/>
              <a:buFont typeface="Arial"/>
              <a:buNone/>
            </a:pPr>
            <a:r>
              <a:rPr lang="en" dirty="0"/>
              <a:t>Id: </a:t>
            </a:r>
            <a:r>
              <a:rPr lang="en-US" sz="1800" dirty="0">
                <a:effectLst/>
                <a:latin typeface="Times New Roman" panose="02020603050405020304" pitchFamily="18" charset="0"/>
                <a:ea typeface="Aptos"/>
              </a:rPr>
              <a:t>22303258</a:t>
            </a:r>
            <a:endParaRPr dirty="0"/>
          </a:p>
        </p:txBody>
      </p:sp>
      <p:sp>
        <p:nvSpPr>
          <p:cNvPr id="269" name="Google Shape;269;p35"/>
          <p:cNvSpPr txBox="1">
            <a:spLocks noGrp="1"/>
          </p:cNvSpPr>
          <p:nvPr>
            <p:ph type="title" idx="14"/>
          </p:nvPr>
        </p:nvSpPr>
        <p:spPr>
          <a:xfrm>
            <a:off x="336169" y="2662912"/>
            <a:ext cx="665700"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70" name="Google Shape;270;p35"/>
          <p:cNvSpPr txBox="1">
            <a:spLocks noGrp="1"/>
          </p:cNvSpPr>
          <p:nvPr>
            <p:ph type="title" idx="15"/>
          </p:nvPr>
        </p:nvSpPr>
        <p:spPr>
          <a:xfrm>
            <a:off x="5221178" y="2683795"/>
            <a:ext cx="665700" cy="35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cxnSp>
        <p:nvCxnSpPr>
          <p:cNvPr id="271" name="Google Shape;271;p35"/>
          <p:cNvCxnSpPr/>
          <p:nvPr/>
        </p:nvCxnSpPr>
        <p:spPr>
          <a:xfrm>
            <a:off x="645549" y="1690437"/>
            <a:ext cx="665700" cy="0"/>
          </a:xfrm>
          <a:prstGeom prst="straightConnector1">
            <a:avLst/>
          </a:prstGeom>
          <a:noFill/>
          <a:ln w="9525" cap="flat" cmpd="sng">
            <a:solidFill>
              <a:schemeClr val="accent2"/>
            </a:solidFill>
            <a:prstDash val="solid"/>
            <a:round/>
            <a:headEnd type="none" w="med" len="med"/>
            <a:tailEnd type="none" w="med" len="med"/>
          </a:ln>
        </p:spPr>
      </p:cxnSp>
      <p:cxnSp>
        <p:nvCxnSpPr>
          <p:cNvPr id="272" name="Google Shape;272;p35"/>
          <p:cNvCxnSpPr/>
          <p:nvPr/>
        </p:nvCxnSpPr>
        <p:spPr>
          <a:xfrm>
            <a:off x="5448059" y="1711320"/>
            <a:ext cx="665700" cy="0"/>
          </a:xfrm>
          <a:prstGeom prst="straightConnector1">
            <a:avLst/>
          </a:prstGeom>
          <a:noFill/>
          <a:ln w="9525" cap="flat" cmpd="sng">
            <a:solidFill>
              <a:schemeClr val="accent2"/>
            </a:solidFill>
            <a:prstDash val="solid"/>
            <a:round/>
            <a:headEnd type="none" w="med" len="med"/>
            <a:tailEnd type="none" w="med" len="med"/>
          </a:ln>
        </p:spPr>
      </p:cxnSp>
      <p:cxnSp>
        <p:nvCxnSpPr>
          <p:cNvPr id="273" name="Google Shape;273;p35"/>
          <p:cNvCxnSpPr/>
          <p:nvPr/>
        </p:nvCxnSpPr>
        <p:spPr>
          <a:xfrm>
            <a:off x="336169" y="3097387"/>
            <a:ext cx="665700" cy="0"/>
          </a:xfrm>
          <a:prstGeom prst="straightConnector1">
            <a:avLst/>
          </a:prstGeom>
          <a:noFill/>
          <a:ln w="9525" cap="flat" cmpd="sng">
            <a:solidFill>
              <a:schemeClr val="accent2"/>
            </a:solidFill>
            <a:prstDash val="solid"/>
            <a:round/>
            <a:headEnd type="none" w="med" len="med"/>
            <a:tailEnd type="none" w="med" len="med"/>
          </a:ln>
        </p:spPr>
      </p:cxnSp>
      <p:cxnSp>
        <p:nvCxnSpPr>
          <p:cNvPr id="274" name="Google Shape;274;p35"/>
          <p:cNvCxnSpPr/>
          <p:nvPr/>
        </p:nvCxnSpPr>
        <p:spPr>
          <a:xfrm>
            <a:off x="5221178" y="3118270"/>
            <a:ext cx="665700" cy="0"/>
          </a:xfrm>
          <a:prstGeom prst="straightConnector1">
            <a:avLst/>
          </a:prstGeom>
          <a:noFill/>
          <a:ln w="9525" cap="flat" cmpd="sng">
            <a:solidFill>
              <a:schemeClr val="accent2"/>
            </a:solidFill>
            <a:prstDash val="solid"/>
            <a:round/>
            <a:headEnd type="none" w="med" len="med"/>
            <a:tailEnd type="none" w="med" len="med"/>
          </a:ln>
        </p:spPr>
      </p:cxnSp>
      <p:sp>
        <p:nvSpPr>
          <p:cNvPr id="276" name="Google Shape;276;p35"/>
          <p:cNvSpPr/>
          <p:nvPr/>
        </p:nvSpPr>
        <p:spPr>
          <a:xfrm>
            <a:off x="6586200" y="-595325"/>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65;p35">
            <a:extLst>
              <a:ext uri="{FF2B5EF4-FFF2-40B4-BE49-F238E27FC236}">
                <a16:creationId xmlns:a16="http://schemas.microsoft.com/office/drawing/2014/main" id="{276C7FEB-2A0F-430E-B7D6-70A491083E4E}"/>
              </a:ext>
            </a:extLst>
          </p:cNvPr>
          <p:cNvSpPr txBox="1">
            <a:spLocks/>
          </p:cNvSpPr>
          <p:nvPr/>
        </p:nvSpPr>
        <p:spPr>
          <a:xfrm>
            <a:off x="3540535" y="3819091"/>
            <a:ext cx="3974115"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2"/>
              </a:buClr>
              <a:buSzPts val="2500"/>
              <a:buFont typeface="Poppins SemiBold"/>
              <a:buNone/>
              <a:defRPr sz="2300" b="0" i="0" u="none" strike="noStrike" cap="none">
                <a:solidFill>
                  <a:schemeClr val="accent2"/>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accent2"/>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accent2"/>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accent2"/>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accent2"/>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accent2"/>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accent2"/>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accent2"/>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accent2"/>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9pPr>
          </a:lstStyle>
          <a:p>
            <a:pPr algn="ctr">
              <a:lnSpc>
                <a:spcPct val="115000"/>
              </a:lnSpc>
            </a:pPr>
            <a:r>
              <a:rPr lang="en-US" sz="2400" dirty="0">
                <a:latin typeface="Poppins SemiBold" panose="00000700000000000000" pitchFamily="2" charset="0"/>
                <a:ea typeface="Aptos"/>
                <a:cs typeface="Poppins SemiBold" panose="00000700000000000000" pitchFamily="2" charset="0"/>
              </a:rPr>
              <a:t>Samiul Basher Shaan</a:t>
            </a:r>
            <a:endParaRPr lang="en-US" sz="3600" kern="100" dirty="0">
              <a:latin typeface="Poppins SemiBold" panose="00000700000000000000" pitchFamily="2" charset="0"/>
              <a:ea typeface="Aptos"/>
              <a:cs typeface="Poppins SemiBold" panose="00000700000000000000" pitchFamily="2" charset="0"/>
            </a:endParaRPr>
          </a:p>
        </p:txBody>
      </p:sp>
      <p:sp>
        <p:nvSpPr>
          <p:cNvPr id="32" name="Google Shape;266;p35">
            <a:extLst>
              <a:ext uri="{FF2B5EF4-FFF2-40B4-BE49-F238E27FC236}">
                <a16:creationId xmlns:a16="http://schemas.microsoft.com/office/drawing/2014/main" id="{2FF03E1E-ABD7-416A-86DD-D8D5615C2D5E}"/>
              </a:ext>
            </a:extLst>
          </p:cNvPr>
          <p:cNvSpPr txBox="1">
            <a:spLocks/>
          </p:cNvSpPr>
          <p:nvPr/>
        </p:nvSpPr>
        <p:spPr>
          <a:xfrm>
            <a:off x="3540536" y="4177356"/>
            <a:ext cx="2638500" cy="52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2"/>
              </a:buClr>
              <a:buSzPts val="1400"/>
              <a:buFont typeface="Poppins"/>
              <a:buNone/>
              <a:defRPr sz="1400" b="0" i="0" u="none" strike="noStrike" cap="none">
                <a:solidFill>
                  <a:schemeClr val="dk2"/>
                </a:solidFill>
                <a:latin typeface="Poppins"/>
                <a:ea typeface="Poppins"/>
                <a:cs typeface="Poppins"/>
                <a:sym typeface="Poppins"/>
              </a:defRPr>
            </a:lvl9pPr>
          </a:lstStyle>
          <a:p>
            <a:pPr marL="0" indent="0">
              <a:buClr>
                <a:schemeClr val="accent2"/>
              </a:buClr>
              <a:buSzPts val="1100"/>
              <a:buFont typeface="Arial"/>
              <a:buNone/>
            </a:pPr>
            <a:r>
              <a:rPr lang="en-US" dirty="0"/>
              <a:t>Id: </a:t>
            </a:r>
            <a:r>
              <a:rPr lang="en-US" sz="1800" dirty="0">
                <a:effectLst/>
                <a:latin typeface="Times New Roman" panose="02020603050405020304" pitchFamily="18" charset="0"/>
                <a:ea typeface="Aptos"/>
              </a:rPr>
              <a:t>22303195</a:t>
            </a:r>
            <a:endParaRPr lang="en-US" dirty="0"/>
          </a:p>
        </p:txBody>
      </p:sp>
      <p:sp>
        <p:nvSpPr>
          <p:cNvPr id="33" name="Google Shape;269;p35">
            <a:extLst>
              <a:ext uri="{FF2B5EF4-FFF2-40B4-BE49-F238E27FC236}">
                <a16:creationId xmlns:a16="http://schemas.microsoft.com/office/drawing/2014/main" id="{BC1090F3-2B9A-48BD-9833-6B5AE770925E}"/>
              </a:ext>
            </a:extLst>
          </p:cNvPr>
          <p:cNvSpPr txBox="1">
            <a:spLocks/>
          </p:cNvSpPr>
          <p:nvPr/>
        </p:nvSpPr>
        <p:spPr>
          <a:xfrm>
            <a:off x="2798636" y="3819091"/>
            <a:ext cx="665700"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3000"/>
              <a:buFont typeface="Poppins SemiBold"/>
              <a:buNone/>
              <a:defRPr sz="2800" b="0" i="0" u="none" strike="noStrike" cap="none">
                <a:solidFill>
                  <a:schemeClr val="lt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accent2"/>
              </a:buClr>
              <a:buSzPts val="3000"/>
              <a:buFont typeface="Poppins SemiBold"/>
              <a:buNone/>
              <a:defRPr sz="3000" b="0" i="0" u="none" strike="noStrike" cap="none">
                <a:solidFill>
                  <a:schemeClr val="accent2"/>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accent2"/>
              </a:buClr>
              <a:buSzPts val="3000"/>
              <a:buFont typeface="Poppins SemiBold"/>
              <a:buNone/>
              <a:defRPr sz="3000" b="0" i="0" u="none" strike="noStrike" cap="none">
                <a:solidFill>
                  <a:schemeClr val="accent2"/>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accent2"/>
              </a:buClr>
              <a:buSzPts val="3000"/>
              <a:buFont typeface="Poppins SemiBold"/>
              <a:buNone/>
              <a:defRPr sz="3000" b="0" i="0" u="none" strike="noStrike" cap="none">
                <a:solidFill>
                  <a:schemeClr val="accent2"/>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accent2"/>
              </a:buClr>
              <a:buSzPts val="3000"/>
              <a:buFont typeface="Poppins SemiBold"/>
              <a:buNone/>
              <a:defRPr sz="3000" b="0" i="0" u="none" strike="noStrike" cap="none">
                <a:solidFill>
                  <a:schemeClr val="accent2"/>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accent2"/>
              </a:buClr>
              <a:buSzPts val="3000"/>
              <a:buFont typeface="Poppins SemiBold"/>
              <a:buNone/>
              <a:defRPr sz="3000" b="0" i="0" u="none" strike="noStrike" cap="none">
                <a:solidFill>
                  <a:schemeClr val="accent2"/>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accent2"/>
              </a:buClr>
              <a:buSzPts val="3000"/>
              <a:buFont typeface="Poppins SemiBold"/>
              <a:buNone/>
              <a:defRPr sz="3000" b="0" i="0" u="none" strike="noStrike" cap="none">
                <a:solidFill>
                  <a:schemeClr val="accent2"/>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accent2"/>
              </a:buClr>
              <a:buSzPts val="3000"/>
              <a:buFont typeface="Poppins SemiBold"/>
              <a:buNone/>
              <a:defRPr sz="3000" b="0" i="0" u="none" strike="noStrike" cap="none">
                <a:solidFill>
                  <a:schemeClr val="accent2"/>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accent2"/>
              </a:buClr>
              <a:buSzPts val="3000"/>
              <a:buFont typeface="Poppins SemiBold"/>
              <a:buNone/>
              <a:defRPr sz="3000" b="0" i="0" u="none" strike="noStrike" cap="none">
                <a:solidFill>
                  <a:schemeClr val="accent2"/>
                </a:solidFill>
                <a:latin typeface="Poppins SemiBold"/>
                <a:ea typeface="Poppins SemiBold"/>
                <a:cs typeface="Poppins SemiBold"/>
                <a:sym typeface="Poppins SemiBold"/>
              </a:defRPr>
            </a:lvl9pPr>
          </a:lstStyle>
          <a:p>
            <a:r>
              <a:rPr lang="en" dirty="0"/>
              <a:t>05</a:t>
            </a:r>
          </a:p>
        </p:txBody>
      </p:sp>
      <p:cxnSp>
        <p:nvCxnSpPr>
          <p:cNvPr id="34" name="Google Shape;273;p35">
            <a:extLst>
              <a:ext uri="{FF2B5EF4-FFF2-40B4-BE49-F238E27FC236}">
                <a16:creationId xmlns:a16="http://schemas.microsoft.com/office/drawing/2014/main" id="{BE1F1359-5448-4095-88A9-DF81BAEE8038}"/>
              </a:ext>
            </a:extLst>
          </p:cNvPr>
          <p:cNvCxnSpPr/>
          <p:nvPr/>
        </p:nvCxnSpPr>
        <p:spPr>
          <a:xfrm>
            <a:off x="2798636" y="4253566"/>
            <a:ext cx="665700" cy="0"/>
          </a:xfrm>
          <a:prstGeom prst="straightConnector1">
            <a:avLst/>
          </a:prstGeom>
          <a:noFill/>
          <a:ln w="9525" cap="flat" cmpd="sng">
            <a:solidFill>
              <a:schemeClr val="accent2"/>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62"/>
                                        </p:tgtEl>
                                        <p:attrNameLst>
                                          <p:attrName>style.visibility</p:attrName>
                                        </p:attrNameLst>
                                      </p:cBhvr>
                                      <p:to>
                                        <p:strVal val="visible"/>
                                      </p:to>
                                    </p:set>
                                    <p:animEffect transition="in" filter="circle(in)">
                                      <p:cBhvr>
                                        <p:cTn id="7" dur="2000"/>
                                        <p:tgtEl>
                                          <p:spTgt spid="26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258"/>
                                        </p:tgtEl>
                                        <p:attrNameLst>
                                          <p:attrName>style.visibility</p:attrName>
                                        </p:attrNameLst>
                                      </p:cBhvr>
                                      <p:to>
                                        <p:strVal val="visible"/>
                                      </p:to>
                                    </p:set>
                                    <p:animEffect transition="in" filter="circle(in)">
                                      <p:cBhvr>
                                        <p:cTn id="10" dur="2000"/>
                                        <p:tgtEl>
                                          <p:spTgt spid="258"/>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259">
                                            <p:txEl>
                                              <p:pRg st="0" end="0"/>
                                            </p:txEl>
                                          </p:spTgt>
                                        </p:tgtEl>
                                        <p:attrNameLst>
                                          <p:attrName>style.visibility</p:attrName>
                                        </p:attrNameLst>
                                      </p:cBhvr>
                                      <p:to>
                                        <p:strVal val="visible"/>
                                      </p:to>
                                    </p:set>
                                    <p:animEffect transition="in" filter="circle(in)">
                                      <p:cBhvr>
                                        <p:cTn id="13" dur="2000"/>
                                        <p:tgtEl>
                                          <p:spTgt spid="259">
                                            <p:txEl>
                                              <p:pRg st="0" end="0"/>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271"/>
                                        </p:tgtEl>
                                        <p:attrNameLst>
                                          <p:attrName>style.visibility</p:attrName>
                                        </p:attrNameLst>
                                      </p:cBhvr>
                                      <p:to>
                                        <p:strVal val="visible"/>
                                      </p:to>
                                    </p:set>
                                    <p:animEffect transition="in" filter="circle(in)">
                                      <p:cBhvr>
                                        <p:cTn id="16" dur="2000"/>
                                        <p:tgtEl>
                                          <p:spTgt spid="271"/>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263"/>
                                        </p:tgtEl>
                                        <p:attrNameLst>
                                          <p:attrName>style.visibility</p:attrName>
                                        </p:attrNameLst>
                                      </p:cBhvr>
                                      <p:to>
                                        <p:strVal val="visible"/>
                                      </p:to>
                                    </p:set>
                                    <p:animEffect transition="in" filter="circle(in)">
                                      <p:cBhvr>
                                        <p:cTn id="21" dur="2000"/>
                                        <p:tgtEl>
                                          <p:spTgt spid="263"/>
                                        </p:tgtEl>
                                      </p:cBhvr>
                                    </p:animEffect>
                                  </p:childTnLst>
                                </p:cTn>
                              </p:par>
                              <p:par>
                                <p:cTn id="22" presetID="6" presetClass="entr" presetSubtype="16" fill="hold" nodeType="withEffect">
                                  <p:stCondLst>
                                    <p:cond delay="0"/>
                                  </p:stCondLst>
                                  <p:childTnLst>
                                    <p:set>
                                      <p:cBhvr>
                                        <p:cTn id="23" dur="1" fill="hold">
                                          <p:stCondLst>
                                            <p:cond delay="0"/>
                                          </p:stCondLst>
                                        </p:cTn>
                                        <p:tgtEl>
                                          <p:spTgt spid="272"/>
                                        </p:tgtEl>
                                        <p:attrNameLst>
                                          <p:attrName>style.visibility</p:attrName>
                                        </p:attrNameLst>
                                      </p:cBhvr>
                                      <p:to>
                                        <p:strVal val="visible"/>
                                      </p:to>
                                    </p:set>
                                    <p:animEffect transition="in" filter="circle(in)">
                                      <p:cBhvr>
                                        <p:cTn id="24" dur="2000"/>
                                        <p:tgtEl>
                                          <p:spTgt spid="272"/>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260"/>
                                        </p:tgtEl>
                                        <p:attrNameLst>
                                          <p:attrName>style.visibility</p:attrName>
                                        </p:attrNameLst>
                                      </p:cBhvr>
                                      <p:to>
                                        <p:strVal val="visible"/>
                                      </p:to>
                                    </p:set>
                                    <p:animEffect transition="in" filter="circle(in)">
                                      <p:cBhvr>
                                        <p:cTn id="27" dur="2000"/>
                                        <p:tgtEl>
                                          <p:spTgt spid="260"/>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261">
                                            <p:txEl>
                                              <p:pRg st="0" end="0"/>
                                            </p:txEl>
                                          </p:spTgt>
                                        </p:tgtEl>
                                        <p:attrNameLst>
                                          <p:attrName>style.visibility</p:attrName>
                                        </p:attrNameLst>
                                      </p:cBhvr>
                                      <p:to>
                                        <p:strVal val="visible"/>
                                      </p:to>
                                    </p:set>
                                    <p:animEffect transition="in" filter="circle(in)">
                                      <p:cBhvr>
                                        <p:cTn id="30" dur="2000"/>
                                        <p:tgtEl>
                                          <p:spTgt spid="261">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269"/>
                                        </p:tgtEl>
                                        <p:attrNameLst>
                                          <p:attrName>style.visibility</p:attrName>
                                        </p:attrNameLst>
                                      </p:cBhvr>
                                      <p:to>
                                        <p:strVal val="visible"/>
                                      </p:to>
                                    </p:set>
                                    <p:animEffect transition="in" filter="circle(in)">
                                      <p:cBhvr>
                                        <p:cTn id="35" dur="2000"/>
                                        <p:tgtEl>
                                          <p:spTgt spid="269"/>
                                        </p:tgtEl>
                                      </p:cBhvr>
                                    </p:animEffect>
                                  </p:childTnLst>
                                </p:cTn>
                              </p:par>
                              <p:par>
                                <p:cTn id="36" presetID="6" presetClass="entr" presetSubtype="16" fill="hold" nodeType="withEffect">
                                  <p:stCondLst>
                                    <p:cond delay="0"/>
                                  </p:stCondLst>
                                  <p:childTnLst>
                                    <p:set>
                                      <p:cBhvr>
                                        <p:cTn id="37" dur="1" fill="hold">
                                          <p:stCondLst>
                                            <p:cond delay="0"/>
                                          </p:stCondLst>
                                        </p:cTn>
                                        <p:tgtEl>
                                          <p:spTgt spid="273"/>
                                        </p:tgtEl>
                                        <p:attrNameLst>
                                          <p:attrName>style.visibility</p:attrName>
                                        </p:attrNameLst>
                                      </p:cBhvr>
                                      <p:to>
                                        <p:strVal val="visible"/>
                                      </p:to>
                                    </p:set>
                                    <p:animEffect transition="in" filter="circle(in)">
                                      <p:cBhvr>
                                        <p:cTn id="38" dur="2000"/>
                                        <p:tgtEl>
                                          <p:spTgt spid="273"/>
                                        </p:tgtEl>
                                      </p:cBhvr>
                                    </p:animEffect>
                                  </p:childTnLst>
                                </p:cTn>
                              </p:par>
                              <p:par>
                                <p:cTn id="39" presetID="6" presetClass="entr" presetSubtype="16" fill="hold" grpId="0" nodeType="withEffect">
                                  <p:stCondLst>
                                    <p:cond delay="0"/>
                                  </p:stCondLst>
                                  <p:childTnLst>
                                    <p:set>
                                      <p:cBhvr>
                                        <p:cTn id="40" dur="1" fill="hold">
                                          <p:stCondLst>
                                            <p:cond delay="0"/>
                                          </p:stCondLst>
                                        </p:cTn>
                                        <p:tgtEl>
                                          <p:spTgt spid="265"/>
                                        </p:tgtEl>
                                        <p:attrNameLst>
                                          <p:attrName>style.visibility</p:attrName>
                                        </p:attrNameLst>
                                      </p:cBhvr>
                                      <p:to>
                                        <p:strVal val="visible"/>
                                      </p:to>
                                    </p:set>
                                    <p:animEffect transition="in" filter="circle(in)">
                                      <p:cBhvr>
                                        <p:cTn id="41" dur="2000"/>
                                        <p:tgtEl>
                                          <p:spTgt spid="265"/>
                                        </p:tgtEl>
                                      </p:cBhvr>
                                    </p:animEffect>
                                  </p:childTnLst>
                                </p:cTn>
                              </p:par>
                              <p:par>
                                <p:cTn id="42" presetID="6" presetClass="entr" presetSubtype="16" fill="hold" grpId="0" nodeType="withEffect">
                                  <p:stCondLst>
                                    <p:cond delay="0"/>
                                  </p:stCondLst>
                                  <p:childTnLst>
                                    <p:set>
                                      <p:cBhvr>
                                        <p:cTn id="43" dur="1" fill="hold">
                                          <p:stCondLst>
                                            <p:cond delay="0"/>
                                          </p:stCondLst>
                                        </p:cTn>
                                        <p:tgtEl>
                                          <p:spTgt spid="266">
                                            <p:txEl>
                                              <p:pRg st="0" end="0"/>
                                            </p:txEl>
                                          </p:spTgt>
                                        </p:tgtEl>
                                        <p:attrNameLst>
                                          <p:attrName>style.visibility</p:attrName>
                                        </p:attrNameLst>
                                      </p:cBhvr>
                                      <p:to>
                                        <p:strVal val="visible"/>
                                      </p:to>
                                    </p:set>
                                    <p:animEffect transition="in" filter="circle(in)">
                                      <p:cBhvr>
                                        <p:cTn id="44" dur="2000"/>
                                        <p:tgtEl>
                                          <p:spTgt spid="266">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270"/>
                                        </p:tgtEl>
                                        <p:attrNameLst>
                                          <p:attrName>style.visibility</p:attrName>
                                        </p:attrNameLst>
                                      </p:cBhvr>
                                      <p:to>
                                        <p:strVal val="visible"/>
                                      </p:to>
                                    </p:set>
                                    <p:animEffect transition="in" filter="circle(in)">
                                      <p:cBhvr>
                                        <p:cTn id="49" dur="2000"/>
                                        <p:tgtEl>
                                          <p:spTgt spid="270"/>
                                        </p:tgtEl>
                                      </p:cBhvr>
                                    </p:animEffect>
                                  </p:childTnLst>
                                </p:cTn>
                              </p:par>
                              <p:par>
                                <p:cTn id="50" presetID="6" presetClass="entr" presetSubtype="16" fill="hold" nodeType="withEffect">
                                  <p:stCondLst>
                                    <p:cond delay="0"/>
                                  </p:stCondLst>
                                  <p:childTnLst>
                                    <p:set>
                                      <p:cBhvr>
                                        <p:cTn id="51" dur="1" fill="hold">
                                          <p:stCondLst>
                                            <p:cond delay="0"/>
                                          </p:stCondLst>
                                        </p:cTn>
                                        <p:tgtEl>
                                          <p:spTgt spid="274"/>
                                        </p:tgtEl>
                                        <p:attrNameLst>
                                          <p:attrName>style.visibility</p:attrName>
                                        </p:attrNameLst>
                                      </p:cBhvr>
                                      <p:to>
                                        <p:strVal val="visible"/>
                                      </p:to>
                                    </p:set>
                                    <p:animEffect transition="in" filter="circle(in)">
                                      <p:cBhvr>
                                        <p:cTn id="52" dur="2000"/>
                                        <p:tgtEl>
                                          <p:spTgt spid="274"/>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67"/>
                                        </p:tgtEl>
                                        <p:attrNameLst>
                                          <p:attrName>style.visibility</p:attrName>
                                        </p:attrNameLst>
                                      </p:cBhvr>
                                      <p:to>
                                        <p:strVal val="visible"/>
                                      </p:to>
                                    </p:set>
                                    <p:animEffect transition="in" filter="circle(in)">
                                      <p:cBhvr>
                                        <p:cTn id="55" dur="2000"/>
                                        <p:tgtEl>
                                          <p:spTgt spid="267"/>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268">
                                            <p:txEl>
                                              <p:pRg st="0" end="0"/>
                                            </p:txEl>
                                          </p:spTgt>
                                        </p:tgtEl>
                                        <p:attrNameLst>
                                          <p:attrName>style.visibility</p:attrName>
                                        </p:attrNameLst>
                                      </p:cBhvr>
                                      <p:to>
                                        <p:strVal val="visible"/>
                                      </p:to>
                                    </p:set>
                                    <p:animEffect transition="in" filter="circle(in)">
                                      <p:cBhvr>
                                        <p:cTn id="58" dur="2000"/>
                                        <p:tgtEl>
                                          <p:spTgt spid="268">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circle(in)">
                                      <p:cBhvr>
                                        <p:cTn id="63" dur="2000"/>
                                        <p:tgtEl>
                                          <p:spTgt spid="33"/>
                                        </p:tgtEl>
                                      </p:cBhvr>
                                    </p:animEffect>
                                  </p:childTnLst>
                                </p:cTn>
                              </p:par>
                              <p:par>
                                <p:cTn id="64" presetID="6" presetClass="entr" presetSubtype="16" fill="hold"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circle(in)">
                                      <p:cBhvr>
                                        <p:cTn id="66" dur="2000"/>
                                        <p:tgtEl>
                                          <p:spTgt spid="34"/>
                                        </p:tgtEl>
                                      </p:cBhvr>
                                    </p:animEffect>
                                  </p:childTnLst>
                                </p:cTn>
                              </p:par>
                              <p:par>
                                <p:cTn id="67" presetID="6" presetClass="entr" presetSubtype="16"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circle(in)">
                                      <p:cBhvr>
                                        <p:cTn id="69" dur="2000"/>
                                        <p:tgtEl>
                                          <p:spTgt spid="31"/>
                                        </p:tgtEl>
                                      </p:cBhvr>
                                    </p:animEffect>
                                  </p:childTnLst>
                                </p:cTn>
                              </p:par>
                              <p:par>
                                <p:cTn id="70" presetID="6" presetClass="entr" presetSubtype="16" fill="hold" grpId="0" nodeType="with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circle(in)">
                                      <p:cBhvr>
                                        <p:cTn id="72"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p:bldP spid="259" grpId="0" build="p"/>
      <p:bldP spid="260" grpId="0"/>
      <p:bldP spid="261" grpId="0" build="p"/>
      <p:bldP spid="262" grpId="0"/>
      <p:bldP spid="263" grpId="0"/>
      <p:bldP spid="265" grpId="0"/>
      <p:bldP spid="266" grpId="0" build="p"/>
      <p:bldP spid="267" grpId="0"/>
      <p:bldP spid="268" grpId="0" build="p"/>
      <p:bldP spid="269" grpId="0"/>
      <p:bldP spid="270" grpId="0"/>
      <p:bldP spid="31"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36"/>
          <p:cNvPicPr preferRelativeResize="0"/>
          <p:nvPr/>
        </p:nvPicPr>
        <p:blipFill>
          <a:blip r:embed="rId3"/>
          <a:srcRect l="10251" r="10251"/>
          <a:stretch/>
        </p:blipFill>
        <p:spPr>
          <a:xfrm>
            <a:off x="5569800" y="965150"/>
            <a:ext cx="4338600" cy="3213300"/>
          </a:xfrm>
          <a:prstGeom prst="roundRect">
            <a:avLst>
              <a:gd name="adj" fmla="val 16667"/>
            </a:avLst>
          </a:prstGeom>
          <a:noFill/>
          <a:ln>
            <a:noFill/>
          </a:ln>
        </p:spPr>
      </p:pic>
      <p:sp>
        <p:nvSpPr>
          <p:cNvPr id="282" name="Google Shape;282;p36"/>
          <p:cNvSpPr txBox="1">
            <a:spLocks noGrp="1"/>
          </p:cNvSpPr>
          <p:nvPr>
            <p:ph type="title"/>
          </p:nvPr>
        </p:nvSpPr>
        <p:spPr>
          <a:xfrm>
            <a:off x="625819" y="860007"/>
            <a:ext cx="4338600" cy="93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800" dirty="0"/>
              <a:t>Introduction</a:t>
            </a:r>
            <a:r>
              <a:rPr lang="en" sz="4800" dirty="0"/>
              <a:t>!</a:t>
            </a:r>
            <a:endParaRPr sz="4800" dirty="0"/>
          </a:p>
        </p:txBody>
      </p:sp>
      <p:sp>
        <p:nvSpPr>
          <p:cNvPr id="283" name="Google Shape;283;p36"/>
          <p:cNvSpPr txBox="1">
            <a:spLocks noGrp="1"/>
          </p:cNvSpPr>
          <p:nvPr>
            <p:ph type="subTitle" idx="1"/>
          </p:nvPr>
        </p:nvSpPr>
        <p:spPr>
          <a:xfrm>
            <a:off x="578754" y="2147429"/>
            <a:ext cx="4759728" cy="2189247"/>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t>TeleMed System is an online telemedicine platform designed to make healthcare services more accessible and efficient. It allows patients to register, find doctors, and book appointments easily from anywhere. At the same time, doctors can manage appointments and patient interactions through a simple dashboard. This system helps reduce waiting time and improves the overall healthcare experience.</a:t>
            </a:r>
            <a:endParaRPr sz="1100" dirty="0"/>
          </a:p>
        </p:txBody>
      </p:sp>
      <p:cxnSp>
        <p:nvCxnSpPr>
          <p:cNvPr id="284" name="Google Shape;284;p36"/>
          <p:cNvCxnSpPr>
            <a:cxnSpLocks/>
          </p:cNvCxnSpPr>
          <p:nvPr/>
        </p:nvCxnSpPr>
        <p:spPr>
          <a:xfrm>
            <a:off x="728947" y="1848711"/>
            <a:ext cx="3684924"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285" name="Google Shape;285;p36"/>
          <p:cNvSpPr/>
          <p:nvPr/>
        </p:nvSpPr>
        <p:spPr>
          <a:xfrm>
            <a:off x="1261969" y="4753535"/>
            <a:ext cx="381000" cy="3810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6"/>
          <p:cNvSpPr/>
          <p:nvPr/>
        </p:nvSpPr>
        <p:spPr>
          <a:xfrm>
            <a:off x="6192800" y="67215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7"/>
          <p:cNvSpPr txBox="1">
            <a:spLocks noGrp="1"/>
          </p:cNvSpPr>
          <p:nvPr>
            <p:ph type="title"/>
          </p:nvPr>
        </p:nvSpPr>
        <p:spPr>
          <a:xfrm>
            <a:off x="3372600" y="818455"/>
            <a:ext cx="4104600" cy="892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Problem Statement </a:t>
            </a:r>
            <a:endParaRPr dirty="0"/>
          </a:p>
        </p:txBody>
      </p:sp>
      <p:sp>
        <p:nvSpPr>
          <p:cNvPr id="293" name="Google Shape;293;p37"/>
          <p:cNvSpPr/>
          <p:nvPr/>
        </p:nvSpPr>
        <p:spPr>
          <a:xfrm>
            <a:off x="1822925" y="2136475"/>
            <a:ext cx="381000" cy="3810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4" name="Google Shape;294;p37"/>
          <p:cNvCxnSpPr>
            <a:cxnSpLocks/>
          </p:cNvCxnSpPr>
          <p:nvPr/>
        </p:nvCxnSpPr>
        <p:spPr>
          <a:xfrm>
            <a:off x="3486900" y="1698464"/>
            <a:ext cx="3622044"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4" name="Subtitle 3">
            <a:extLst>
              <a:ext uri="{FF2B5EF4-FFF2-40B4-BE49-F238E27FC236}">
                <a16:creationId xmlns:a16="http://schemas.microsoft.com/office/drawing/2014/main" id="{D2736E81-0208-4B88-9EF5-E9756022EDBB}"/>
              </a:ext>
            </a:extLst>
          </p:cNvPr>
          <p:cNvSpPr>
            <a:spLocks noGrp="1" noChangeArrowheads="1"/>
          </p:cNvSpPr>
          <p:nvPr>
            <p:ph type="subTitle" idx="1"/>
          </p:nvPr>
        </p:nvSpPr>
        <p:spPr bwMode="auto">
          <a:xfrm>
            <a:off x="3248096" y="1941420"/>
            <a:ext cx="5647700"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algn="just"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Patients struggle to get quick doctor appointments</a:t>
            </a:r>
          </a:p>
          <a:p>
            <a:pPr marL="342900" indent="-342900" algn="just"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Remote areas lack easy access to healthcare</a:t>
            </a:r>
          </a:p>
          <a:p>
            <a:pPr marL="342900" indent="-342900" algn="just"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Manual systems waste time and cause delays</a:t>
            </a:r>
          </a:p>
        </p:txBody>
      </p:sp>
    </p:spTree>
    <p:extLst>
      <p:ext uri="{BB962C8B-B14F-4D97-AF65-F5344CB8AC3E}">
        <p14:creationId xmlns:p14="http://schemas.microsoft.com/office/powerpoint/2010/main" val="3639656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5992700" y="385800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56944" y="382156"/>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000" dirty="0"/>
              <a:t>Solution Overview </a:t>
            </a:r>
          </a:p>
        </p:txBody>
      </p:sp>
      <p:cxnSp>
        <p:nvCxnSpPr>
          <p:cNvPr id="305" name="Google Shape;305;p38"/>
          <p:cNvCxnSpPr>
            <a:cxnSpLocks/>
          </p:cNvCxnSpPr>
          <p:nvPr/>
        </p:nvCxnSpPr>
        <p:spPr>
          <a:xfrm>
            <a:off x="3371059" y="976612"/>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731403" y="1140589"/>
            <a:ext cx="720943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82600" indent="-342900">
              <a:lnSpc>
                <a:spcPct val="150000"/>
              </a:lnSpc>
              <a:buFont typeface="Wingdings" panose="05000000000000000000" pitchFamily="2" charset="2"/>
              <a:buChar char="Ø"/>
            </a:pPr>
            <a:r>
              <a:rPr lang="en-US" sz="2000" dirty="0">
                <a:solidFill>
                  <a:schemeClr val="accent2">
                    <a:lumMod val="95000"/>
                    <a:lumOff val="5000"/>
                  </a:schemeClr>
                </a:solidFill>
              </a:rPr>
              <a:t>TeleMed System enables online consultation &amp; booking</a:t>
            </a:r>
          </a:p>
          <a:p>
            <a:pPr marL="482600" indent="-342900">
              <a:lnSpc>
                <a:spcPct val="150000"/>
              </a:lnSpc>
              <a:buFont typeface="Wingdings" panose="05000000000000000000" pitchFamily="2" charset="2"/>
              <a:buChar char="Ø"/>
            </a:pPr>
            <a:r>
              <a:rPr lang="en-US" sz="2000" dirty="0">
                <a:solidFill>
                  <a:schemeClr val="accent2">
                    <a:lumMod val="95000"/>
                    <a:lumOff val="5000"/>
                  </a:schemeClr>
                </a:solidFill>
              </a:rPr>
              <a:t>Patients can register, book appointments, view doctors</a:t>
            </a:r>
          </a:p>
          <a:p>
            <a:pPr marL="482600" indent="-342900">
              <a:lnSpc>
                <a:spcPct val="150000"/>
              </a:lnSpc>
              <a:buFont typeface="Wingdings" panose="05000000000000000000" pitchFamily="2" charset="2"/>
              <a:buChar char="Ø"/>
            </a:pPr>
            <a:r>
              <a:rPr lang="en-US" sz="2000" dirty="0">
                <a:solidFill>
                  <a:schemeClr val="accent2">
                    <a:lumMod val="95000"/>
                    <a:lumOff val="5000"/>
                  </a:schemeClr>
                </a:solidFill>
              </a:rPr>
              <a:t>Doctors can manage schedules and patient records</a:t>
            </a:r>
          </a:p>
        </p:txBody>
      </p:sp>
    </p:spTree>
    <p:extLst>
      <p:ext uri="{BB962C8B-B14F-4D97-AF65-F5344CB8AC3E}">
        <p14:creationId xmlns:p14="http://schemas.microsoft.com/office/powerpoint/2010/main" val="2073900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aphicFrame>
        <p:nvGraphicFramePr>
          <p:cNvPr id="2" name="Table 2">
            <a:extLst>
              <a:ext uri="{FF2B5EF4-FFF2-40B4-BE49-F238E27FC236}">
                <a16:creationId xmlns:a16="http://schemas.microsoft.com/office/drawing/2014/main" id="{005D9472-3005-4284-93C5-57D7E7555E75}"/>
              </a:ext>
            </a:extLst>
          </p:cNvPr>
          <p:cNvGraphicFramePr>
            <a:graphicFrameLocks noGrp="1"/>
          </p:cNvGraphicFramePr>
          <p:nvPr>
            <p:extLst>
              <p:ext uri="{D42A27DB-BD31-4B8C-83A1-F6EECF244321}">
                <p14:modId xmlns:p14="http://schemas.microsoft.com/office/powerpoint/2010/main" val="4225503082"/>
              </p:ext>
            </p:extLst>
          </p:nvPr>
        </p:nvGraphicFramePr>
        <p:xfrm>
          <a:off x="1524000" y="1213518"/>
          <a:ext cx="6096000" cy="3337560"/>
        </p:xfrm>
        <a:graphic>
          <a:graphicData uri="http://schemas.openxmlformats.org/drawingml/2006/table">
            <a:tbl>
              <a:tblPr firstRow="1" bandRow="1">
                <a:tableStyleId>{3E5BDD0F-B5EE-4CEE-9ACA-4190605349E3}</a:tableStyleId>
              </a:tblPr>
              <a:tblGrid>
                <a:gridCol w="2032000">
                  <a:extLst>
                    <a:ext uri="{9D8B030D-6E8A-4147-A177-3AD203B41FA5}">
                      <a16:colId xmlns:a16="http://schemas.microsoft.com/office/drawing/2014/main" val="763815698"/>
                    </a:ext>
                  </a:extLst>
                </a:gridCol>
                <a:gridCol w="2032000">
                  <a:extLst>
                    <a:ext uri="{9D8B030D-6E8A-4147-A177-3AD203B41FA5}">
                      <a16:colId xmlns:a16="http://schemas.microsoft.com/office/drawing/2014/main" val="115224762"/>
                    </a:ext>
                  </a:extLst>
                </a:gridCol>
                <a:gridCol w="2032000">
                  <a:extLst>
                    <a:ext uri="{9D8B030D-6E8A-4147-A177-3AD203B41FA5}">
                      <a16:colId xmlns:a16="http://schemas.microsoft.com/office/drawing/2014/main" val="3035421727"/>
                    </a:ext>
                  </a:extLst>
                </a:gridCol>
              </a:tblGrid>
              <a:tr h="370840">
                <a:tc>
                  <a:txBody>
                    <a:bodyPr/>
                    <a:lstStyle/>
                    <a:p>
                      <a:r>
                        <a:rPr lang="en-US" b="1" dirty="0"/>
                        <a:t>Table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b="1" dirty="0"/>
                        <a:t>Primary 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b="1" dirty="0"/>
                        <a:t>Foreign 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1368219443"/>
                  </a:ext>
                </a:extLst>
              </a:tr>
              <a:tr h="370840">
                <a:tc>
                  <a:txBody>
                    <a:bodyPr/>
                    <a:lstStyle/>
                    <a:p>
                      <a:r>
                        <a:rPr lang="en-US" dirty="0"/>
                        <a:t>Patient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P_id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U_id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075902"/>
                  </a:ext>
                </a:extLst>
              </a:tr>
              <a:tr h="370840">
                <a:tc>
                  <a:txBody>
                    <a:bodyPr/>
                    <a:lstStyle/>
                    <a:p>
                      <a:r>
                        <a:rPr lang="en-US" dirty="0"/>
                        <a:t>Doctor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D_id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U_id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5085730"/>
                  </a:ext>
                </a:extLst>
              </a:tr>
              <a:tr h="370840">
                <a:tc>
                  <a:txBody>
                    <a:bodyPr/>
                    <a:lstStyle/>
                    <a:p>
                      <a:r>
                        <a:rPr lang="en-US" dirty="0"/>
                        <a:t>Appointment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A_id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P_id</a:t>
                      </a:r>
                      <a:r>
                        <a:rPr lang="en-US" dirty="0"/>
                        <a:t>, </a:t>
                      </a:r>
                      <a:r>
                        <a:rPr lang="en-US" dirty="0" err="1"/>
                        <a:t>D_id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111714"/>
                  </a:ext>
                </a:extLst>
              </a:tr>
              <a:tr h="370840">
                <a:tc>
                  <a:txBody>
                    <a:bodyPr/>
                    <a:lstStyle/>
                    <a:p>
                      <a:r>
                        <a:rPr lang="en-US" dirty="0"/>
                        <a:t>Payment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Py_id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A_id</a:t>
                      </a:r>
                      <a:r>
                        <a:rPr lang="en-US" dirty="0"/>
                        <a:t>, </a:t>
                      </a:r>
                      <a:r>
                        <a:rPr lang="en-US" dirty="0" err="1"/>
                        <a:t>I_id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0830474"/>
                  </a:ext>
                </a:extLst>
              </a:tr>
              <a:tr h="370840">
                <a:tc>
                  <a:txBody>
                    <a:bodyPr/>
                    <a:lstStyle/>
                    <a:p>
                      <a:r>
                        <a:rPr lang="en-US" dirty="0"/>
                        <a:t>Invoice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I_id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A_id</a:t>
                      </a:r>
                      <a:r>
                        <a:rPr lang="en-US" dirty="0"/>
                        <a:t>, </a:t>
                      </a:r>
                      <a:r>
                        <a:rPr lang="en-US" dirty="0" err="1"/>
                        <a:t>P_id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281503"/>
                  </a:ext>
                </a:extLst>
              </a:tr>
              <a:tr h="370840">
                <a:tc>
                  <a:txBody>
                    <a:bodyPr/>
                    <a:lstStyle/>
                    <a:p>
                      <a:r>
                        <a:rPr lang="en-US" dirty="0"/>
                        <a:t>Feedback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F_id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A_id</a:t>
                      </a:r>
                      <a:r>
                        <a:rPr lang="en-US" dirty="0"/>
                        <a:t>, </a:t>
                      </a:r>
                      <a:r>
                        <a:rPr lang="en-US" dirty="0" err="1"/>
                        <a:t>P_id</a:t>
                      </a:r>
                      <a:r>
                        <a:rPr lang="en-US" dirty="0"/>
                        <a:t>, </a:t>
                      </a:r>
                      <a:r>
                        <a:rPr lang="en-US" dirty="0" err="1"/>
                        <a:t>D_id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7876295"/>
                  </a:ext>
                </a:extLst>
              </a:tr>
              <a:tr h="370840">
                <a:tc>
                  <a:txBody>
                    <a:bodyPr/>
                    <a:lstStyle/>
                    <a:p>
                      <a:r>
                        <a:rPr lang="en-US" dirty="0"/>
                        <a:t>Prescription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Pr_id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A_id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0016564"/>
                  </a:ext>
                </a:extLst>
              </a:tr>
              <a:tr h="370840">
                <a:tc>
                  <a:txBody>
                    <a:bodyPr/>
                    <a:lstStyle/>
                    <a:p>
                      <a:r>
                        <a:rPr lang="en-US" dirty="0"/>
                        <a:t>User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U_id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373758"/>
                  </a:ext>
                </a:extLst>
              </a:tr>
            </a:tbl>
          </a:graphicData>
        </a:graphic>
      </p:graphicFrame>
      <p:sp>
        <p:nvSpPr>
          <p:cNvPr id="8" name="Google Shape;291;p37">
            <a:extLst>
              <a:ext uri="{FF2B5EF4-FFF2-40B4-BE49-F238E27FC236}">
                <a16:creationId xmlns:a16="http://schemas.microsoft.com/office/drawing/2014/main" id="{3BF9E5FC-C178-4115-8335-D2CE778F4BA9}"/>
              </a:ext>
            </a:extLst>
          </p:cNvPr>
          <p:cNvSpPr txBox="1">
            <a:spLocks noGrp="1"/>
          </p:cNvSpPr>
          <p:nvPr>
            <p:ph type="title"/>
          </p:nvPr>
        </p:nvSpPr>
        <p:spPr>
          <a:xfrm>
            <a:off x="2699470" y="71062"/>
            <a:ext cx="3172580" cy="892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t>Database Design</a:t>
            </a:r>
            <a:endParaRPr sz="2400" dirty="0"/>
          </a:p>
        </p:txBody>
      </p:sp>
      <p:cxnSp>
        <p:nvCxnSpPr>
          <p:cNvPr id="10" name="Google Shape;294;p37">
            <a:extLst>
              <a:ext uri="{FF2B5EF4-FFF2-40B4-BE49-F238E27FC236}">
                <a16:creationId xmlns:a16="http://schemas.microsoft.com/office/drawing/2014/main" id="{C6554F90-B99A-4D64-8E0F-3116FF852C20}"/>
              </a:ext>
            </a:extLst>
          </p:cNvPr>
          <p:cNvCxnSpPr>
            <a:cxnSpLocks/>
          </p:cNvCxnSpPr>
          <p:nvPr/>
        </p:nvCxnSpPr>
        <p:spPr>
          <a:xfrm>
            <a:off x="2758130" y="854818"/>
            <a:ext cx="1935721"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0233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6" name="Picture 5">
            <a:extLst>
              <a:ext uri="{FF2B5EF4-FFF2-40B4-BE49-F238E27FC236}">
                <a16:creationId xmlns:a16="http://schemas.microsoft.com/office/drawing/2014/main" id="{9E3FF32C-3535-4780-8CB1-7922A49F0972}"/>
              </a:ext>
            </a:extLst>
          </p:cNvPr>
          <p:cNvPicPr>
            <a:picLocks noChangeAspect="1"/>
          </p:cNvPicPr>
          <p:nvPr/>
        </p:nvPicPr>
        <p:blipFill>
          <a:blip r:embed="rId3"/>
          <a:stretch>
            <a:fillRect/>
          </a:stretch>
        </p:blipFill>
        <p:spPr>
          <a:xfrm rot="16200000">
            <a:off x="2184292" y="-1074910"/>
            <a:ext cx="4755247" cy="6905065"/>
          </a:xfrm>
          <a:prstGeom prst="rect">
            <a:avLst/>
          </a:prstGeom>
        </p:spPr>
      </p:pic>
    </p:spTree>
    <p:extLst>
      <p:ext uri="{BB962C8B-B14F-4D97-AF65-F5344CB8AC3E}">
        <p14:creationId xmlns:p14="http://schemas.microsoft.com/office/powerpoint/2010/main" val="502383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7"/>
          <p:cNvSpPr txBox="1">
            <a:spLocks noGrp="1"/>
          </p:cNvSpPr>
          <p:nvPr>
            <p:ph type="title"/>
          </p:nvPr>
        </p:nvSpPr>
        <p:spPr>
          <a:xfrm>
            <a:off x="3372600" y="838625"/>
            <a:ext cx="4104600" cy="892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User Requirements</a:t>
            </a:r>
            <a:r>
              <a:rPr lang="en" dirty="0"/>
              <a:t>!</a:t>
            </a:r>
            <a:endParaRPr dirty="0"/>
          </a:p>
        </p:txBody>
      </p:sp>
      <p:sp>
        <p:nvSpPr>
          <p:cNvPr id="292" name="Google Shape;292;p37"/>
          <p:cNvSpPr txBox="1">
            <a:spLocks noGrp="1"/>
          </p:cNvSpPr>
          <p:nvPr>
            <p:ph type="subTitle" idx="1"/>
          </p:nvPr>
        </p:nvSpPr>
        <p:spPr>
          <a:xfrm>
            <a:off x="3372600" y="2136475"/>
            <a:ext cx="4561165" cy="2071204"/>
          </a:xfrm>
          <a:prstGeom prst="rect">
            <a:avLst/>
          </a:prstGeom>
        </p:spPr>
        <p:txBody>
          <a:bodyPr spcFirstLastPara="1" wrap="square" lIns="91425" tIns="91425" rIns="91425" bIns="91425" anchor="t" anchorCtr="0">
            <a:noAutofit/>
          </a:bodyPr>
          <a:lstStyle/>
          <a:p>
            <a:pPr marL="139700" lvl="0" indent="0" algn="l" rtl="0">
              <a:spcBef>
                <a:spcPts val="1000"/>
              </a:spcBef>
              <a:spcAft>
                <a:spcPts val="0"/>
              </a:spcAft>
              <a:buSzPts val="1400"/>
              <a:buNone/>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rPr>
              <a:t>User requirements describe what </a:t>
            </a:r>
            <a:r>
              <a:rPr lang="en-US" sz="1800" kern="0" dirty="0">
                <a:solidFill>
                  <a:srgbClr val="002060"/>
                </a:solidFill>
                <a:effectLst/>
                <a:latin typeface="Times New Roman" panose="02020603050405020304" pitchFamily="18" charset="0"/>
                <a:ea typeface="Times New Roman" panose="02020603050405020304" pitchFamily="18" charset="0"/>
              </a:rPr>
              <a:t>patients</a:t>
            </a:r>
            <a:r>
              <a:rPr lang="en-US" sz="1800" kern="0" dirty="0">
                <a:solidFill>
                  <a:schemeClr val="bg1">
                    <a:lumMod val="10000"/>
                  </a:schemeClr>
                </a:solidFill>
                <a:effectLst/>
                <a:latin typeface="Times New Roman" panose="02020603050405020304" pitchFamily="18" charset="0"/>
                <a:ea typeface="Times New Roman" panose="02020603050405020304" pitchFamily="18" charset="0"/>
              </a:rPr>
              <a:t>, </a:t>
            </a:r>
            <a:r>
              <a:rPr lang="en-US" sz="1800" kern="0" dirty="0">
                <a:solidFill>
                  <a:srgbClr val="002060"/>
                </a:solidFill>
                <a:effectLst/>
                <a:latin typeface="Times New Roman" panose="02020603050405020304" pitchFamily="18" charset="0"/>
                <a:ea typeface="Times New Roman" panose="02020603050405020304" pitchFamily="18" charset="0"/>
              </a:rPr>
              <a:t>doctors</a:t>
            </a:r>
            <a:r>
              <a:rPr lang="en-US" sz="1800" kern="0" dirty="0">
                <a:solidFill>
                  <a:schemeClr val="bg1">
                    <a:lumMod val="10000"/>
                  </a:schemeClr>
                </a:solidFill>
                <a:effectLst/>
                <a:latin typeface="Times New Roman" panose="02020603050405020304" pitchFamily="18" charset="0"/>
                <a:ea typeface="Times New Roman" panose="02020603050405020304" pitchFamily="18" charset="0"/>
              </a:rPr>
              <a:t>, and </a:t>
            </a:r>
            <a:r>
              <a:rPr lang="en-US" sz="1800" kern="0" dirty="0">
                <a:solidFill>
                  <a:srgbClr val="002060"/>
                </a:solidFill>
                <a:effectLst/>
                <a:latin typeface="Times New Roman" panose="02020603050405020304" pitchFamily="18" charset="0"/>
                <a:ea typeface="Times New Roman" panose="02020603050405020304" pitchFamily="18" charset="0"/>
              </a:rPr>
              <a:t>administrators</a:t>
            </a:r>
            <a:r>
              <a:rPr lang="en-US" sz="1800" kern="0" dirty="0">
                <a:solidFill>
                  <a:schemeClr val="bg1">
                    <a:lumMod val="10000"/>
                  </a:schemeClr>
                </a:solidFill>
                <a:effectLst/>
                <a:latin typeface="Times New Roman" panose="02020603050405020304" pitchFamily="18" charset="0"/>
                <a:ea typeface="Times New Roman" panose="02020603050405020304" pitchFamily="18" charset="0"/>
              </a:rPr>
              <a:t> expect from the </a:t>
            </a:r>
            <a:r>
              <a:rPr lang="en-US" sz="1800" b="1" kern="0" dirty="0">
                <a:solidFill>
                  <a:schemeClr val="bg1">
                    <a:lumMod val="10000"/>
                  </a:schemeClr>
                </a:solidFill>
                <a:effectLst/>
                <a:latin typeface="Times New Roman" panose="02020603050405020304" pitchFamily="18" charset="0"/>
                <a:ea typeface="Times New Roman" panose="02020603050405020304" pitchFamily="18" charset="0"/>
              </a:rPr>
              <a:t>Telemedicine System</a:t>
            </a:r>
            <a:r>
              <a:rPr lang="en-US" sz="1800" kern="0" dirty="0">
                <a:solidFill>
                  <a:schemeClr val="bg1">
                    <a:lumMod val="10000"/>
                  </a:schemeClr>
                </a:solidFill>
                <a:effectLst/>
                <a:latin typeface="Times New Roman" panose="02020603050405020304" pitchFamily="18" charset="0"/>
                <a:ea typeface="Times New Roman" panose="02020603050405020304" pitchFamily="18" charset="0"/>
              </a:rPr>
              <a:t>. These requirements reflect real-world needs and outline the interactions, services, and experiences the system must provide.</a:t>
            </a:r>
            <a:endParaRPr dirty="0">
              <a:solidFill>
                <a:schemeClr val="bg1">
                  <a:lumMod val="10000"/>
                </a:schemeClr>
              </a:solidFill>
            </a:endParaRPr>
          </a:p>
        </p:txBody>
      </p:sp>
      <p:sp>
        <p:nvSpPr>
          <p:cNvPr id="293" name="Google Shape;293;p37"/>
          <p:cNvSpPr/>
          <p:nvPr/>
        </p:nvSpPr>
        <p:spPr>
          <a:xfrm>
            <a:off x="1822925" y="2136475"/>
            <a:ext cx="381000" cy="3810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4" name="Google Shape;294;p37"/>
          <p:cNvCxnSpPr>
            <a:cxnSpLocks/>
          </p:cNvCxnSpPr>
          <p:nvPr/>
        </p:nvCxnSpPr>
        <p:spPr>
          <a:xfrm>
            <a:off x="3486900" y="1718634"/>
            <a:ext cx="3622044"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5992700" y="385800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User Requirements (Cont.)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36261" y="1176769"/>
            <a:ext cx="7209439" cy="343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lnSpc>
                <a:spcPct val="115000"/>
              </a:lnSpc>
              <a:spcBef>
                <a:spcPts val="0"/>
              </a:spcBef>
              <a:spcAft>
                <a:spcPts val="800"/>
              </a:spcAft>
            </a:pPr>
            <a:r>
              <a:rPr lang="en-US" sz="1600" kern="0" dirty="0" err="1">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6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Patients can create an account using email or phone and manage a personal profile containing basic demographic and medical information.</a:t>
            </a:r>
            <a:endParaRPr lang="en-US" sz="16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6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ii. Doctors can register on the platform by submitting personal information, qualifications, professional documents, consultation preferences, and availability.</a:t>
            </a:r>
            <a:endParaRPr lang="en-US" sz="16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6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iii. Patients can search for doctors based on specialization, availability, consultation type, fees, and other relevant filters.</a:t>
            </a:r>
            <a:endParaRPr lang="en-US" sz="16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6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iv. Patients can book in-person or online consultations by selecting preferred doctors, dates, and time slots.</a:t>
            </a:r>
          </a:p>
          <a:p>
            <a:pPr marL="0" marR="0">
              <a:lnSpc>
                <a:spcPct val="115000"/>
              </a:lnSpc>
              <a:spcBef>
                <a:spcPts val="0"/>
              </a:spcBef>
              <a:spcAft>
                <a:spcPts val="800"/>
              </a:spcAft>
            </a:pPr>
            <a:r>
              <a:rPr lang="en-US" sz="16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 Both patients and doctors can manage appointments, including viewing upcoming sessions, cancellations.</a:t>
            </a:r>
            <a:endParaRPr lang="en-US" sz="1600" kern="100" dirty="0">
              <a:solidFill>
                <a:schemeClr val="bg1">
                  <a:lumMod val="10000"/>
                </a:schemeClr>
              </a:solidFill>
              <a:effectLst/>
              <a:latin typeface="Aptos"/>
              <a:ea typeface="Aptos"/>
              <a:cs typeface="Times New Roman" panose="02020603050405020304" pitchFamily="18" charset="0"/>
            </a:endParaRPr>
          </a:p>
        </p:txBody>
      </p:sp>
    </p:spTree>
    <p:extLst>
      <p:ext uri="{BB962C8B-B14F-4D97-AF65-F5344CB8AC3E}">
        <p14:creationId xmlns:p14="http://schemas.microsoft.com/office/powerpoint/2010/main" val="2388701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5992700" y="385800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User Requirements (Cont.)</a:t>
            </a:r>
          </a:p>
        </p:txBody>
      </p:sp>
      <p:cxnSp>
        <p:nvCxnSpPr>
          <p:cNvPr id="305" name="Google Shape;305;p38"/>
          <p:cNvCxnSpPr>
            <a:cxnSpLocks/>
          </p:cNvCxnSpPr>
          <p:nvPr/>
        </p:nvCxnSpPr>
        <p:spPr>
          <a:xfrm>
            <a:off x="3515438" y="637313"/>
            <a:ext cx="2355973"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36261" y="1369642"/>
            <a:ext cx="7209439" cy="305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vi. Patients and doctors can join secure online consultation sessions with support for chat, file sharing, and video communication.</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vii. Doctors can issue prescriptions, medical notes, and consultation summaries, while patients can view or download them anytime.</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viii. Patients can complete payments for consultations through integrated payment methods and receive digital receipts.</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ix. Admins can monitor system activities, approve doctor registrations, manage users, and generate reports.</a:t>
            </a:r>
            <a:endParaRPr lang="en-US" sz="1800" kern="100" dirty="0">
              <a:solidFill>
                <a:schemeClr val="bg1">
                  <a:lumMod val="10000"/>
                </a:schemeClr>
              </a:solidFill>
              <a:effectLst/>
              <a:latin typeface="Aptos"/>
              <a:ea typeface="Aptos"/>
              <a:cs typeface="Times New Roman" panose="02020603050405020304" pitchFamily="18" charset="0"/>
            </a:endParaRPr>
          </a:p>
        </p:txBody>
      </p:sp>
    </p:spTree>
    <p:extLst>
      <p:ext uri="{BB962C8B-B14F-4D97-AF65-F5344CB8AC3E}">
        <p14:creationId xmlns:p14="http://schemas.microsoft.com/office/powerpoint/2010/main" val="3613876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5992700" y="385800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448389" y="996474"/>
            <a:ext cx="4387800" cy="67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t>System Requirements!</a:t>
            </a:r>
            <a:endParaRPr sz="2400" dirty="0"/>
          </a:p>
        </p:txBody>
      </p:sp>
      <p:cxnSp>
        <p:nvCxnSpPr>
          <p:cNvPr id="305" name="Google Shape;305;p38"/>
          <p:cNvCxnSpPr>
            <a:cxnSpLocks/>
          </p:cNvCxnSpPr>
          <p:nvPr/>
        </p:nvCxnSpPr>
        <p:spPr>
          <a:xfrm>
            <a:off x="511200" y="1641091"/>
            <a:ext cx="3297654"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1607075" y="3416900"/>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892050" y="416225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11200" y="1826675"/>
            <a:ext cx="40608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pP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System requirements define the </a:t>
            </a:r>
            <a:r>
              <a:rPr lang="en-US" sz="1800" dirty="0">
                <a:solidFill>
                  <a:srgbClr val="0070C0"/>
                </a:solidFill>
                <a:effectLst/>
                <a:latin typeface="Times New Roman" panose="02020603050405020304" pitchFamily="18" charset="0"/>
                <a:ea typeface="Times New Roman" panose="02020603050405020304" pitchFamily="18" charset="0"/>
              </a:rPr>
              <a:t>technical</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a:t>
            </a:r>
            <a:r>
              <a:rPr lang="en-US" sz="1800" dirty="0">
                <a:solidFill>
                  <a:srgbClr val="0070C0"/>
                </a:solidFill>
                <a:effectLst/>
                <a:latin typeface="Times New Roman" panose="02020603050405020304" pitchFamily="18" charset="0"/>
                <a:ea typeface="Times New Roman" panose="02020603050405020304" pitchFamily="18" charset="0"/>
              </a:rPr>
              <a:t>functional</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and </a:t>
            </a:r>
            <a:r>
              <a:rPr lang="en-US" sz="1800" dirty="0">
                <a:solidFill>
                  <a:srgbClr val="0070C0"/>
                </a:solidFill>
                <a:effectLst/>
                <a:latin typeface="Times New Roman" panose="02020603050405020304" pitchFamily="18" charset="0"/>
                <a:ea typeface="Times New Roman" panose="02020603050405020304" pitchFamily="18" charset="0"/>
              </a:rPr>
              <a:t>operational</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capabilities the TeleMed System must implement to satisfy user requirements. These requirements guide system design, development, and evaluation.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32657" y="466693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System Requirements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639699" y="1127506"/>
            <a:ext cx="759021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UR#1: </a:t>
            </a:r>
            <a:r>
              <a:rPr lang="en-US" b="0" dirty="0">
                <a:solidFill>
                  <a:schemeClr val="accent2">
                    <a:lumMod val="95000"/>
                    <a:lumOff val="5000"/>
                  </a:schemeClr>
                </a:solidFill>
                <a:effectLst/>
                <a:latin typeface="Times New Roman" panose="02020603050405020304" pitchFamily="18" charset="0"/>
                <a:ea typeface="Times New Roman" panose="02020603050405020304" pitchFamily="18" charset="0"/>
              </a:rPr>
              <a:t>Patients can create an account using email or phone and manage a personal profile containing basic demographic and medical information.</a:t>
            </a:r>
            <a:endParaRPr lang="en-US" b="1" dirty="0">
              <a:solidFill>
                <a:schemeClr val="accent2">
                  <a:lumMod val="95000"/>
                  <a:lumOff val="5000"/>
                </a:schemeClr>
              </a:solidFill>
              <a:latin typeface="Times New Roman" panose="02020603050405020304" pitchFamily="18" charset="0"/>
              <a:ea typeface="Times New Roman" panose="02020603050405020304" pitchFamily="18" charset="0"/>
            </a:endParaRPr>
          </a:p>
          <a:p>
            <a:pPr marL="0" marR="0"/>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The system must allow users to register, authenticate, secure their accounts, and manage profiles.</a:t>
            </a:r>
          </a:p>
          <a:p>
            <a:pPr marL="0" marR="0"/>
            <a:endPar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1.1</a:t>
            </a:r>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provide registration via email or phone, collecting identity information and login credentials.</a:t>
            </a:r>
            <a:b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1.2</a:t>
            </a:r>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allow uploading of profile photographs and relevant medical or professional documents.</a:t>
            </a:r>
            <a:b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1.3</a:t>
            </a:r>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validate uploaded document types and enforce secure storage.</a:t>
            </a:r>
            <a:b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1.4</a:t>
            </a:r>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 Users may update or delete non-sensitive profile data.</a:t>
            </a:r>
            <a:b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1.5</a:t>
            </a:r>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maintain audit logs for profile changes and protect sensitive fields using encryption.</a:t>
            </a:r>
            <a:b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1.6</a:t>
            </a:r>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authenticate users with valid credentials before granting access.</a:t>
            </a:r>
            <a:b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1.7</a:t>
            </a:r>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 Incorrect login attempts beyond a limit shall trigger account lockout.</a:t>
            </a:r>
            <a:b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1.8</a:t>
            </a:r>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 Users may reset passwords through verified OTP or email-based recovery.</a:t>
            </a:r>
            <a:b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b="1" dirty="0">
                <a:solidFill>
                  <a:schemeClr val="accent2">
                    <a:lumMod val="95000"/>
                    <a:lumOff val="5000"/>
                  </a:schemeClr>
                </a:solidFill>
                <a:effectLst/>
                <a:latin typeface="Times New Roman" panose="02020603050405020304" pitchFamily="18" charset="0"/>
                <a:ea typeface="Times New Roman" panose="02020603050405020304" pitchFamily="18" charset="0"/>
              </a:rPr>
              <a:t>1.9</a:t>
            </a:r>
            <a:r>
              <a:rPr lang="en-US"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prevent unauthorized access to protected resources.</a:t>
            </a:r>
          </a:p>
        </p:txBody>
      </p:sp>
    </p:spTree>
    <p:extLst>
      <p:ext uri="{BB962C8B-B14F-4D97-AF65-F5344CB8AC3E}">
        <p14:creationId xmlns:p14="http://schemas.microsoft.com/office/powerpoint/2010/main" val="2330499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System Requirements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56888" y="1231767"/>
            <a:ext cx="759021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UR#2:</a:t>
            </a:r>
            <a:r>
              <a:rPr lang="en-US" sz="1800" b="0" dirty="0">
                <a:solidFill>
                  <a:schemeClr val="accent2">
                    <a:lumMod val="95000"/>
                    <a:lumOff val="5000"/>
                  </a:schemeClr>
                </a:solidFill>
                <a:effectLst/>
                <a:latin typeface="Times New Roman" panose="02020603050405020304" pitchFamily="18" charset="0"/>
                <a:ea typeface="Times New Roman" panose="02020603050405020304" pitchFamily="18" charset="0"/>
              </a:rPr>
              <a:t> Doctors can register on the platform by submitting personal information, qualifications, professional documents, consultation preferences, and availability.</a:t>
            </a:r>
            <a:endPar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The system must allow secure registration and validation of doctor credentials.</a:t>
            </a:r>
          </a:p>
          <a:p>
            <a:pPr marL="0" marR="0"/>
            <a:endPar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2.1</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allow doctors to upload credentials, qualification documents, and certifications.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2.2</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Admins shall review and approve doctor registrations before activation.</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2.3</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verify document authenticity where possible.</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2.4</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Doctors may manage consultation preferences, fees, and availability settings.</a:t>
            </a:r>
          </a:p>
        </p:txBody>
      </p:sp>
    </p:spTree>
    <p:extLst>
      <p:ext uri="{BB962C8B-B14F-4D97-AF65-F5344CB8AC3E}">
        <p14:creationId xmlns:p14="http://schemas.microsoft.com/office/powerpoint/2010/main" val="615163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System Requirements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15636" y="1231767"/>
            <a:ext cx="759021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UR#3:</a:t>
            </a:r>
            <a:r>
              <a:rPr lang="en-US" sz="1800" b="0" dirty="0">
                <a:solidFill>
                  <a:schemeClr val="accent2">
                    <a:lumMod val="95000"/>
                    <a:lumOff val="5000"/>
                  </a:schemeClr>
                </a:solidFill>
                <a:effectLst/>
                <a:latin typeface="Times New Roman" panose="02020603050405020304" pitchFamily="18" charset="0"/>
                <a:ea typeface="Times New Roman" panose="02020603050405020304" pitchFamily="18" charset="0"/>
              </a:rPr>
              <a:t> Patients can search for doctors based on specialization, availability, consultation type, fees, and other relevant filters.</a:t>
            </a:r>
            <a:endPar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The system must support searching, booking, and managing consultations.</a:t>
            </a:r>
          </a:p>
          <a:p>
            <a:pPr marL="0" marR="0"/>
            <a:endPar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3.1</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Patients can search for doctors based on specialty, availability, language, fee, and location.</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3.2</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Patients can select doctor, date, time, and consultation type during booking.</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3.3</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check slot availability and prevent overlapping appointments.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3.4</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Users can reschedule or cancel appointments according to system rules.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3.5</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Both patient and doctor can view appointment status and details.</a:t>
            </a:r>
          </a:p>
        </p:txBody>
      </p:sp>
    </p:spTree>
    <p:extLst>
      <p:ext uri="{BB962C8B-B14F-4D97-AF65-F5344CB8AC3E}">
        <p14:creationId xmlns:p14="http://schemas.microsoft.com/office/powerpoint/2010/main" val="17720273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System Requirements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36261" y="1602527"/>
            <a:ext cx="759021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UR#4: </a:t>
            </a:r>
            <a:r>
              <a:rPr lang="en-US" sz="1800" b="0" dirty="0">
                <a:solidFill>
                  <a:schemeClr val="accent2">
                    <a:lumMod val="95000"/>
                    <a:lumOff val="5000"/>
                  </a:schemeClr>
                </a:solidFill>
                <a:effectLst/>
                <a:latin typeface="Times New Roman" panose="02020603050405020304" pitchFamily="18" charset="0"/>
                <a:ea typeface="Times New Roman" panose="02020603050405020304" pitchFamily="18" charset="0"/>
              </a:rPr>
              <a:t>Patients can book in-person or online consultations by selecting preferred doctors, dates, and time slots.</a:t>
            </a:r>
            <a:endPar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The system must support secure online and offline consultations.</a:t>
            </a:r>
          </a:p>
          <a:p>
            <a:pPr marL="0" marR="0"/>
            <a:endPar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4.1</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generate secure, time-limited video session links for online appointments.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4.2</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Consultation screens shall support chat, attachments, and session controls.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4.3</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Doctors may mark sessions as started, paused, completed, or cancelled.</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4.4</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log timestamps for billing and auditing.</a:t>
            </a:r>
          </a:p>
        </p:txBody>
      </p:sp>
    </p:spTree>
    <p:extLst>
      <p:ext uri="{BB962C8B-B14F-4D97-AF65-F5344CB8AC3E}">
        <p14:creationId xmlns:p14="http://schemas.microsoft.com/office/powerpoint/2010/main" val="3368390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System Requirements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36261" y="1576589"/>
            <a:ext cx="759021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UR#5: </a:t>
            </a:r>
            <a:r>
              <a:rPr lang="en-US" sz="1800" b="0" dirty="0">
                <a:solidFill>
                  <a:schemeClr val="accent2">
                    <a:lumMod val="95000"/>
                    <a:lumOff val="5000"/>
                  </a:schemeClr>
                </a:solidFill>
                <a:effectLst/>
                <a:latin typeface="Times New Roman" panose="02020603050405020304" pitchFamily="18" charset="0"/>
                <a:ea typeface="Times New Roman" panose="02020603050405020304" pitchFamily="18" charset="0"/>
              </a:rPr>
              <a:t>Both patients and doctors can manage appointments, including viewing upcoming sessions, rescheduling, and cancellations.</a:t>
            </a:r>
            <a:endPar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The system must support secure creation and sharing of medical records.</a:t>
            </a:r>
          </a:p>
          <a:p>
            <a:pPr marL="0" marR="0"/>
            <a:endPar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5.1</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Doctors can create digital prescriptions and consultation notes.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5.2</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Patients may view and download prescriptions.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5.3</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maintain version history and immutable audit logs.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5.4</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Access to patient data shall require proper consent and role-based permissions.</a:t>
            </a:r>
          </a:p>
        </p:txBody>
      </p:sp>
    </p:spTree>
    <p:extLst>
      <p:ext uri="{BB962C8B-B14F-4D97-AF65-F5344CB8AC3E}">
        <p14:creationId xmlns:p14="http://schemas.microsoft.com/office/powerpoint/2010/main" val="5356219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System Requirements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36261" y="1715089"/>
            <a:ext cx="759021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UR#6: </a:t>
            </a:r>
            <a:r>
              <a:rPr lang="en-US" sz="1800" b="0" dirty="0">
                <a:solidFill>
                  <a:schemeClr val="accent2">
                    <a:lumMod val="95000"/>
                    <a:lumOff val="5000"/>
                  </a:schemeClr>
                </a:solidFill>
                <a:effectLst/>
                <a:latin typeface="Times New Roman" panose="02020603050405020304" pitchFamily="18" charset="0"/>
                <a:ea typeface="Times New Roman" panose="02020603050405020304" pitchFamily="18" charset="0"/>
              </a:rPr>
              <a:t>Patients and doctors can join secure online consultation sessions with support for chat, file sharing, and video communication.</a:t>
            </a:r>
            <a:endPar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The system must support secure and transparent payment handling.</a:t>
            </a:r>
          </a:p>
          <a:p>
            <a:pPr marL="0" marR="0"/>
            <a:endPar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6.1</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Patients can pay consultation fees using integrated payment gateways.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6.2</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update appointment payment status automatically.</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6.3</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Paid sessions generate downloadable digital receipts.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6.4</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Admins and doctors can view transaction histories and earnings summaries.</a:t>
            </a:r>
          </a:p>
        </p:txBody>
      </p:sp>
    </p:spTree>
    <p:extLst>
      <p:ext uri="{BB962C8B-B14F-4D97-AF65-F5344CB8AC3E}">
        <p14:creationId xmlns:p14="http://schemas.microsoft.com/office/powerpoint/2010/main" val="1624402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System Requirements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36261" y="1576589"/>
            <a:ext cx="759021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UR#7: </a:t>
            </a:r>
            <a:r>
              <a:rPr lang="en-US" sz="1800" b="0" dirty="0">
                <a:solidFill>
                  <a:schemeClr val="accent2">
                    <a:lumMod val="95000"/>
                    <a:lumOff val="5000"/>
                  </a:schemeClr>
                </a:solidFill>
                <a:effectLst/>
                <a:latin typeface="Times New Roman" panose="02020603050405020304" pitchFamily="18" charset="0"/>
                <a:ea typeface="Times New Roman" panose="02020603050405020304" pitchFamily="18" charset="0"/>
              </a:rPr>
              <a:t>Doctors can issue prescriptions, medical notes, and consultation summaries, while patients can view or download them anytime.</a:t>
            </a:r>
            <a:endPar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The system must make it easy to find relevant doctors.</a:t>
            </a:r>
          </a:p>
          <a:p>
            <a:pPr marL="0" marR="0"/>
            <a:endPar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7.1</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Search filters include specialization, location, availability, rating, and consultation fees.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7.2</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Results should show next available slot and quick booking options.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7.3</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Search queries must be optimized for speed through indexed and cached mechanisms.</a:t>
            </a:r>
          </a:p>
        </p:txBody>
      </p:sp>
    </p:spTree>
    <p:extLst>
      <p:ext uri="{BB962C8B-B14F-4D97-AF65-F5344CB8AC3E}">
        <p14:creationId xmlns:p14="http://schemas.microsoft.com/office/powerpoint/2010/main" val="884595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System Requirements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36261" y="1715089"/>
            <a:ext cx="759021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UR#8: </a:t>
            </a:r>
            <a:r>
              <a:rPr lang="en-US" sz="1800" b="0" dirty="0">
                <a:solidFill>
                  <a:schemeClr val="accent2">
                    <a:lumMod val="95000"/>
                    <a:lumOff val="5000"/>
                  </a:schemeClr>
                </a:solidFill>
                <a:effectLst/>
                <a:latin typeface="Times New Roman" panose="02020603050405020304" pitchFamily="18" charset="0"/>
                <a:ea typeface="Times New Roman" panose="02020603050405020304" pitchFamily="18" charset="0"/>
              </a:rPr>
              <a:t>Patients can complete payments for consultations through integrated payment methods and receive digital receipts.</a:t>
            </a:r>
            <a:endPar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The system must provide dashboards and exportable reports.</a:t>
            </a:r>
          </a:p>
          <a:p>
            <a:pPr marL="0" marR="0"/>
            <a:endPar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8.1</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Admins can view KPIs such as total appointments, revenue, top doctors, and cancellations.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8.2</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Reports can be generated on daily, weekly, and monthly bases.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8.3</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Doctors can view personal performance and earning statistics.</a:t>
            </a:r>
          </a:p>
        </p:txBody>
      </p:sp>
    </p:spTree>
    <p:extLst>
      <p:ext uri="{BB962C8B-B14F-4D97-AF65-F5344CB8AC3E}">
        <p14:creationId xmlns:p14="http://schemas.microsoft.com/office/powerpoint/2010/main" val="487848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System Requirements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36261" y="1626708"/>
            <a:ext cx="759021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UR#9: </a:t>
            </a:r>
            <a:r>
              <a:rPr lang="en-US" sz="1800" b="0" dirty="0">
                <a:solidFill>
                  <a:schemeClr val="accent2">
                    <a:lumMod val="95000"/>
                    <a:lumOff val="5000"/>
                  </a:schemeClr>
                </a:solidFill>
                <a:effectLst/>
                <a:latin typeface="Times New Roman" panose="02020603050405020304" pitchFamily="18" charset="0"/>
                <a:ea typeface="Times New Roman" panose="02020603050405020304" pitchFamily="18" charset="0"/>
              </a:rPr>
              <a:t>Admins can monitor system activities, approve doctor registrations, manage users, and generate reports.</a:t>
            </a:r>
            <a:endPar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The system must ensure data protection and continuity.</a:t>
            </a:r>
          </a:p>
          <a:p>
            <a:pPr marL="0" marR="0"/>
            <a:endPar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endParaRPr>
          </a:p>
          <a:p>
            <a:pPr marL="0" marR="0"/>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9.1</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The system shall automatically back up the database every 24 hours.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9.2</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Admins can trigger manual backups and restore operations.</a:t>
            </a:r>
            <a:b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br>
            <a:r>
              <a:rPr lang="en-US" sz="1800" b="1" dirty="0">
                <a:solidFill>
                  <a:schemeClr val="accent2">
                    <a:lumMod val="95000"/>
                    <a:lumOff val="5000"/>
                  </a:schemeClr>
                </a:solidFill>
                <a:effectLst/>
                <a:latin typeface="Times New Roman" panose="02020603050405020304" pitchFamily="18" charset="0"/>
                <a:ea typeface="Times New Roman" panose="02020603050405020304" pitchFamily="18" charset="0"/>
              </a:rPr>
              <a:t>9.3</a:t>
            </a:r>
            <a:r>
              <a:rPr lang="en-US" sz="1800" dirty="0">
                <a:solidFill>
                  <a:schemeClr val="accent2">
                    <a:lumMod val="95000"/>
                    <a:lumOff val="5000"/>
                  </a:schemeClr>
                </a:solidFill>
                <a:effectLst/>
                <a:latin typeface="Times New Roman" panose="02020603050405020304" pitchFamily="18" charset="0"/>
                <a:ea typeface="Times New Roman" panose="02020603050405020304" pitchFamily="18" charset="0"/>
              </a:rPr>
              <a:t> All critical actions must be logged with timestamps and user identifiers.</a:t>
            </a:r>
          </a:p>
        </p:txBody>
      </p:sp>
    </p:spTree>
    <p:extLst>
      <p:ext uri="{BB962C8B-B14F-4D97-AF65-F5344CB8AC3E}">
        <p14:creationId xmlns:p14="http://schemas.microsoft.com/office/powerpoint/2010/main" val="892760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6020201" y="416225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331511" y="434927"/>
            <a:ext cx="4387800" cy="67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000" dirty="0"/>
              <a:t>Functional Requirements!</a:t>
            </a:r>
            <a:endParaRPr sz="2000" dirty="0"/>
          </a:p>
        </p:txBody>
      </p:sp>
      <p:cxnSp>
        <p:nvCxnSpPr>
          <p:cNvPr id="305" name="Google Shape;305;p38"/>
          <p:cNvCxnSpPr>
            <a:cxnSpLocks/>
          </p:cNvCxnSpPr>
          <p:nvPr/>
        </p:nvCxnSpPr>
        <p:spPr>
          <a:xfrm>
            <a:off x="394322" y="1079544"/>
            <a:ext cx="3201401"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1911090" y="3746909"/>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892050" y="416225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2">
            <a:extLst>
              <a:ext uri="{FF2B5EF4-FFF2-40B4-BE49-F238E27FC236}">
                <a16:creationId xmlns:a16="http://schemas.microsoft.com/office/drawing/2014/main" id="{3151A528-4642-4743-B5AA-B95EB15BF27D}"/>
              </a:ext>
            </a:extLst>
          </p:cNvPr>
          <p:cNvSpPr>
            <a:spLocks noGrp="1" noChangeArrowheads="1"/>
          </p:cNvSpPr>
          <p:nvPr>
            <p:ph type="subTitle" idx="1"/>
          </p:nvPr>
        </p:nvSpPr>
        <p:spPr bwMode="auto">
          <a:xfrm>
            <a:off x="331511" y="1539678"/>
            <a:ext cx="7638630" cy="2804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a:lnSpc>
                <a:spcPct val="115000"/>
              </a:lnSpc>
              <a:spcBef>
                <a:spcPts val="0"/>
              </a:spcBef>
              <a:spcAft>
                <a:spcPts val="800"/>
              </a:spcAft>
            </a:pPr>
            <a: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Functional requirements define </a:t>
            </a:r>
            <a:r>
              <a:rPr lang="en-US" sz="1800"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what</a:t>
            </a:r>
            <a: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the </a:t>
            </a:r>
            <a:r>
              <a:rPr lang="en-US" sz="1800" b="1"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TeleMed System </a:t>
            </a:r>
            <a: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must do:</a:t>
            </a:r>
            <a:endParaRPr lang="en-US" sz="1800" kern="100" dirty="0">
              <a:solidFill>
                <a:schemeClr val="accent2">
                  <a:lumMod val="95000"/>
                  <a:lumOff val="5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Allow users to register, authenticate, and access the system.</a:t>
            </a:r>
            <a:b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Enable patients to manage profiles, book appointments, and view records.</a:t>
            </a:r>
            <a:b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Support doctors in managing schedules, consultations, and medical documents.</a:t>
            </a:r>
            <a:b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Handle payments, generate receipts, and maintain transaction integrity.</a:t>
            </a:r>
            <a:b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Provide secure online consultation capabilities.</a:t>
            </a:r>
            <a:b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accent2">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Ensure admin oversight through user management, reports, and audits. </a:t>
            </a:r>
            <a:endParaRPr lang="en-US" sz="1800" kern="100" dirty="0">
              <a:solidFill>
                <a:schemeClr val="accent2">
                  <a:lumMod val="95000"/>
                  <a:lumOff val="5000"/>
                </a:schemeClr>
              </a:solidFill>
              <a:effectLst/>
              <a:latin typeface="Aptos"/>
              <a:ea typeface="Aptos"/>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endParaRPr>
          </a:p>
        </p:txBody>
      </p:sp>
    </p:spTree>
    <p:extLst>
      <p:ext uri="{BB962C8B-B14F-4D97-AF65-F5344CB8AC3E}">
        <p14:creationId xmlns:p14="http://schemas.microsoft.com/office/powerpoint/2010/main" val="3289771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5992700" y="385800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448389" y="996474"/>
            <a:ext cx="5010510" cy="67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t>Non-functional Requirements!</a:t>
            </a:r>
            <a:endParaRPr sz="2400" dirty="0"/>
          </a:p>
        </p:txBody>
      </p:sp>
      <p:cxnSp>
        <p:nvCxnSpPr>
          <p:cNvPr id="305" name="Google Shape;305;p38"/>
          <p:cNvCxnSpPr>
            <a:cxnSpLocks/>
          </p:cNvCxnSpPr>
          <p:nvPr/>
        </p:nvCxnSpPr>
        <p:spPr>
          <a:xfrm>
            <a:off x="511200" y="1641091"/>
            <a:ext cx="4466436"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1607075" y="3416900"/>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892050" y="416225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11199" y="2103674"/>
            <a:ext cx="58964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pPr>
            <a:r>
              <a:rPr lang="en-US" sz="2400" dirty="0">
                <a:solidFill>
                  <a:schemeClr val="bg1">
                    <a:lumMod val="10000"/>
                  </a:schemeClr>
                </a:solidFill>
              </a:rPr>
              <a:t>Non-functional requirements describe </a:t>
            </a:r>
            <a:r>
              <a:rPr lang="en-US" sz="2400" b="1" dirty="0">
                <a:solidFill>
                  <a:srgbClr val="FFC000"/>
                </a:solidFill>
              </a:rPr>
              <a:t>how a system works</a:t>
            </a:r>
            <a:r>
              <a:rPr lang="en-US" sz="2400" dirty="0">
                <a:solidFill>
                  <a:schemeClr val="bg1">
                    <a:lumMod val="10000"/>
                  </a:schemeClr>
                </a:solidFill>
              </a:rPr>
              <a:t>, not </a:t>
            </a:r>
            <a:r>
              <a:rPr lang="en-US" sz="2400" b="1" dirty="0">
                <a:solidFill>
                  <a:srgbClr val="FF0000"/>
                </a:solidFill>
              </a:rPr>
              <a:t>what the system does</a:t>
            </a:r>
            <a:r>
              <a:rPr lang="en-US" sz="2400" dirty="0">
                <a:solidFill>
                  <a:schemeClr val="bg1">
                    <a:lumMod val="10000"/>
                  </a:schemeClr>
                </a:solidFill>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lumMod val="10000"/>
                </a:schemeClr>
              </a:solidFill>
              <a:effectLst/>
              <a:latin typeface="Arial" panose="020B0604020202020204" pitchFamily="34" charset="0"/>
            </a:endParaRPr>
          </a:p>
        </p:txBody>
      </p:sp>
    </p:spTree>
    <p:extLst>
      <p:ext uri="{BB962C8B-B14F-4D97-AF65-F5344CB8AC3E}">
        <p14:creationId xmlns:p14="http://schemas.microsoft.com/office/powerpoint/2010/main" val="3942672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Non-functional Requirements (Cont.)</a:t>
            </a:r>
          </a:p>
        </p:txBody>
      </p:sp>
      <p:cxnSp>
        <p:nvCxnSpPr>
          <p:cNvPr id="305" name="Google Shape;305;p38"/>
          <p:cNvCxnSpPr>
            <a:cxnSpLocks/>
          </p:cNvCxnSpPr>
          <p:nvPr/>
        </p:nvCxnSpPr>
        <p:spPr>
          <a:xfrm>
            <a:off x="2992923" y="657938"/>
            <a:ext cx="3297875"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29386" y="1259269"/>
            <a:ext cx="7590211" cy="305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lnSpc>
                <a:spcPct val="115000"/>
              </a:lnSpc>
              <a:spcBef>
                <a:spcPts val="0"/>
              </a:spcBef>
              <a:spcAft>
                <a:spcPts val="800"/>
              </a:spcAft>
            </a:pPr>
            <a:r>
              <a:rPr lang="en-US" sz="1800" b="1"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Performance</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Pages must load within two seconds under normal conditions.</a:t>
            </a:r>
            <a:b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Searches should return results within one second.</a:t>
            </a:r>
            <a:b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The system should support multiple simultaneous consultations without degraded performance.</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b="1"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Reliability &amp; Availability</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The system must maintain at least 99.5% uptime.</a:t>
            </a:r>
            <a:b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Database backups must ensure a maximum of 24 hours of data loss.</a:t>
            </a:r>
            <a:endParaRPr lang="en-US" sz="1800" kern="100" dirty="0">
              <a:solidFill>
                <a:schemeClr val="bg1">
                  <a:lumMod val="10000"/>
                </a:schemeClr>
              </a:solidFill>
              <a:effectLst/>
              <a:latin typeface="Aptos"/>
              <a:ea typeface="Aptos"/>
              <a:cs typeface="Times New Roman" panose="02020603050405020304" pitchFamily="18" charset="0"/>
            </a:endParaRPr>
          </a:p>
        </p:txBody>
      </p:sp>
    </p:spTree>
    <p:extLst>
      <p:ext uri="{BB962C8B-B14F-4D97-AF65-F5344CB8AC3E}">
        <p14:creationId xmlns:p14="http://schemas.microsoft.com/office/powerpoint/2010/main" val="4093391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Non-functional Requirements (Cont.)</a:t>
            </a:r>
          </a:p>
        </p:txBody>
      </p:sp>
      <p:cxnSp>
        <p:nvCxnSpPr>
          <p:cNvPr id="305" name="Google Shape;305;p38"/>
          <p:cNvCxnSpPr>
            <a:cxnSpLocks/>
          </p:cNvCxnSpPr>
          <p:nvPr/>
        </p:nvCxnSpPr>
        <p:spPr>
          <a:xfrm>
            <a:off x="3027298" y="651063"/>
            <a:ext cx="3297875"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639699" y="1081839"/>
            <a:ext cx="7590211" cy="357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lnSpc>
                <a:spcPct val="115000"/>
              </a:lnSpc>
              <a:spcBef>
                <a:spcPts val="0"/>
              </a:spcBef>
              <a:spcAft>
                <a:spcPts val="800"/>
              </a:spcAft>
            </a:pPr>
            <a:r>
              <a:rPr lang="en-US" sz="1800" b="1"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Security</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All communication must use HTTPS encryption.</a:t>
            </a:r>
            <a:b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Passwords must be stored securely using hashing and salting.</a:t>
            </a:r>
            <a:b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Unauthorized access attempts must be logged.</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b="1"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Usability</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Users should be able to reach key features within three clicks.</a:t>
            </a:r>
            <a:b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UI elements must remain consistent across the platform.</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b="1"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Scalability</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The platform should support horizontal scaling as user count grows.</a:t>
            </a:r>
            <a:endParaRPr lang="en-US" sz="1800" kern="100" dirty="0">
              <a:solidFill>
                <a:schemeClr val="bg1">
                  <a:lumMod val="10000"/>
                </a:schemeClr>
              </a:solidFill>
              <a:effectLst/>
              <a:latin typeface="Aptos"/>
              <a:ea typeface="Aptos"/>
              <a:cs typeface="Times New Roman" panose="02020603050405020304" pitchFamily="18" charset="0"/>
            </a:endParaRPr>
          </a:p>
        </p:txBody>
      </p:sp>
    </p:spTree>
    <p:extLst>
      <p:ext uri="{BB962C8B-B14F-4D97-AF65-F5344CB8AC3E}">
        <p14:creationId xmlns:p14="http://schemas.microsoft.com/office/powerpoint/2010/main" val="584934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58942" y="461099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Non-functional Requirements (Cont.)</a:t>
            </a:r>
          </a:p>
        </p:txBody>
      </p:sp>
      <p:cxnSp>
        <p:nvCxnSpPr>
          <p:cNvPr id="305" name="Google Shape;305;p38"/>
          <p:cNvCxnSpPr>
            <a:cxnSpLocks/>
          </p:cNvCxnSpPr>
          <p:nvPr/>
        </p:nvCxnSpPr>
        <p:spPr>
          <a:xfrm>
            <a:off x="3020423" y="651062"/>
            <a:ext cx="3325375"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Subtitle 1">
            <a:extLst>
              <a:ext uri="{FF2B5EF4-FFF2-40B4-BE49-F238E27FC236}">
                <a16:creationId xmlns:a16="http://schemas.microsoft.com/office/drawing/2014/main" id="{3E7C5339-B770-4318-8874-C8C33528F286}"/>
              </a:ext>
            </a:extLst>
          </p:cNvPr>
          <p:cNvSpPr>
            <a:spLocks noGrp="1" noChangeArrowheads="1"/>
          </p:cNvSpPr>
          <p:nvPr>
            <p:ph type="subTitle" idx="1"/>
          </p:nvPr>
        </p:nvSpPr>
        <p:spPr bwMode="auto">
          <a:xfrm>
            <a:off x="536261" y="1173507"/>
            <a:ext cx="7590211" cy="2937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a:lnSpc>
                <a:spcPct val="115000"/>
              </a:lnSpc>
              <a:spcBef>
                <a:spcPts val="0"/>
              </a:spcBef>
              <a:spcAft>
                <a:spcPts val="800"/>
              </a:spcAft>
            </a:pPr>
            <a:r>
              <a:rPr lang="en-US" sz="1800" b="1"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Maintainability</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Code should follow modular architecture and standard naming conventions.</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b="1"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Portability</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The system must run on Windows or Linux servers and support container deployment.</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b="1"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Compliance</a:t>
            </a:r>
            <a:endParaRPr lang="en-US" sz="1800" kern="100" dirty="0">
              <a:solidFill>
                <a:schemeClr val="bg1">
                  <a:lumMod val="10000"/>
                </a:schemeClr>
              </a:solidFill>
              <a:effectLst/>
              <a:latin typeface="Aptos"/>
              <a:ea typeface="Aptos"/>
              <a:cs typeface="Times New Roman" panose="02020603050405020304" pitchFamily="18" charset="0"/>
            </a:endParaRPr>
          </a:p>
          <a:p>
            <a:pPr marL="0" marR="0">
              <a:lnSpc>
                <a:spcPct val="115000"/>
              </a:lnSpc>
              <a:spcBef>
                <a:spcPts val="0"/>
              </a:spcBef>
              <a:spcAft>
                <a:spcPts val="800"/>
              </a:spcAft>
            </a:pPr>
            <a:r>
              <a:rPr lang="en-US" sz="1800" kern="0" dirty="0">
                <a:solidFill>
                  <a:schemeClr val="bg1">
                    <a:lumMod val="1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Medical data must comply with regional privacy regulations.</a:t>
            </a:r>
            <a:endParaRPr lang="en-US" sz="1800" kern="100" dirty="0">
              <a:solidFill>
                <a:schemeClr val="bg1">
                  <a:lumMod val="10000"/>
                </a:schemeClr>
              </a:solidFill>
              <a:effectLst/>
              <a:latin typeface="Aptos"/>
              <a:ea typeface="Aptos"/>
              <a:cs typeface="Times New Roman" panose="02020603050405020304" pitchFamily="18" charset="0"/>
            </a:endParaRPr>
          </a:p>
        </p:txBody>
      </p:sp>
    </p:spTree>
    <p:extLst>
      <p:ext uri="{BB962C8B-B14F-4D97-AF65-F5344CB8AC3E}">
        <p14:creationId xmlns:p14="http://schemas.microsoft.com/office/powerpoint/2010/main" val="1329169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0B23DD3F-D979-4E44-97CD-7775B25B8E3E}"/>
              </a:ext>
            </a:extLst>
          </p:cNvPr>
          <p:cNvPicPr>
            <a:picLocks noChangeAspect="1"/>
          </p:cNvPicPr>
          <p:nvPr/>
        </p:nvPicPr>
        <p:blipFill>
          <a:blip r:embed="rId3"/>
          <a:stretch>
            <a:fillRect/>
          </a:stretch>
        </p:blipFill>
        <p:spPr>
          <a:xfrm>
            <a:off x="1397958" y="0"/>
            <a:ext cx="6348084" cy="5143500"/>
          </a:xfrm>
          <a:prstGeom prst="rect">
            <a:avLst/>
          </a:prstGeom>
        </p:spPr>
      </p:pic>
    </p:spTree>
    <p:extLst>
      <p:ext uri="{BB962C8B-B14F-4D97-AF65-F5344CB8AC3E}">
        <p14:creationId xmlns:p14="http://schemas.microsoft.com/office/powerpoint/2010/main" val="18210748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8" name="Picture 7">
            <a:extLst>
              <a:ext uri="{FF2B5EF4-FFF2-40B4-BE49-F238E27FC236}">
                <a16:creationId xmlns:a16="http://schemas.microsoft.com/office/drawing/2014/main" id="{E8224969-40C8-44F3-893F-35614F116696}"/>
              </a:ext>
            </a:extLst>
          </p:cNvPr>
          <p:cNvPicPr>
            <a:picLocks noChangeAspect="1"/>
          </p:cNvPicPr>
          <p:nvPr/>
        </p:nvPicPr>
        <p:blipFill>
          <a:blip r:embed="rId3"/>
          <a:stretch>
            <a:fillRect/>
          </a:stretch>
        </p:blipFill>
        <p:spPr>
          <a:xfrm>
            <a:off x="284191" y="0"/>
            <a:ext cx="8575617" cy="5143500"/>
          </a:xfrm>
          <a:prstGeom prst="rect">
            <a:avLst/>
          </a:prstGeom>
        </p:spPr>
      </p:pic>
    </p:spTree>
    <p:extLst>
      <p:ext uri="{BB962C8B-B14F-4D97-AF65-F5344CB8AC3E}">
        <p14:creationId xmlns:p14="http://schemas.microsoft.com/office/powerpoint/2010/main" val="3887088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4113E361-8591-4246-843C-FF6D033B1D66}"/>
              </a:ext>
            </a:extLst>
          </p:cNvPr>
          <p:cNvPicPr>
            <a:picLocks noChangeAspect="1"/>
          </p:cNvPicPr>
          <p:nvPr/>
        </p:nvPicPr>
        <p:blipFill>
          <a:blip r:embed="rId3"/>
          <a:stretch>
            <a:fillRect/>
          </a:stretch>
        </p:blipFill>
        <p:spPr>
          <a:xfrm>
            <a:off x="285152" y="666484"/>
            <a:ext cx="8573696" cy="3810532"/>
          </a:xfrm>
          <a:prstGeom prst="rect">
            <a:avLst/>
          </a:prstGeom>
        </p:spPr>
      </p:pic>
    </p:spTree>
    <p:extLst>
      <p:ext uri="{BB962C8B-B14F-4D97-AF65-F5344CB8AC3E}">
        <p14:creationId xmlns:p14="http://schemas.microsoft.com/office/powerpoint/2010/main" val="172308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7D3FB8A1-5BE2-412C-80C9-82044DB7E143}"/>
              </a:ext>
            </a:extLst>
          </p:cNvPr>
          <p:cNvPicPr>
            <a:picLocks noChangeAspect="1"/>
          </p:cNvPicPr>
          <p:nvPr/>
        </p:nvPicPr>
        <p:blipFill>
          <a:blip r:embed="rId3"/>
          <a:stretch>
            <a:fillRect/>
          </a:stretch>
        </p:blipFill>
        <p:spPr>
          <a:xfrm>
            <a:off x="256573" y="852247"/>
            <a:ext cx="8630854" cy="3439005"/>
          </a:xfrm>
          <a:prstGeom prst="rect">
            <a:avLst/>
          </a:prstGeom>
        </p:spPr>
      </p:pic>
    </p:spTree>
    <p:extLst>
      <p:ext uri="{BB962C8B-B14F-4D97-AF65-F5344CB8AC3E}">
        <p14:creationId xmlns:p14="http://schemas.microsoft.com/office/powerpoint/2010/main" val="3922743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66746CD5-7AF3-4907-A4BC-E10C16E5DDA9}"/>
              </a:ext>
            </a:extLst>
          </p:cNvPr>
          <p:cNvPicPr>
            <a:picLocks noChangeAspect="1"/>
          </p:cNvPicPr>
          <p:nvPr/>
        </p:nvPicPr>
        <p:blipFill>
          <a:blip r:embed="rId3"/>
          <a:stretch>
            <a:fillRect/>
          </a:stretch>
        </p:blipFill>
        <p:spPr>
          <a:xfrm>
            <a:off x="254117" y="0"/>
            <a:ext cx="8635765" cy="5143500"/>
          </a:xfrm>
          <a:prstGeom prst="rect">
            <a:avLst/>
          </a:prstGeom>
        </p:spPr>
      </p:pic>
    </p:spTree>
    <p:extLst>
      <p:ext uri="{BB962C8B-B14F-4D97-AF65-F5344CB8AC3E}">
        <p14:creationId xmlns:p14="http://schemas.microsoft.com/office/powerpoint/2010/main" val="3305247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134564B0-3F33-4724-929C-6E7E5F2217AD}"/>
              </a:ext>
            </a:extLst>
          </p:cNvPr>
          <p:cNvPicPr>
            <a:picLocks noChangeAspect="1"/>
          </p:cNvPicPr>
          <p:nvPr/>
        </p:nvPicPr>
        <p:blipFill>
          <a:blip r:embed="rId3"/>
          <a:stretch>
            <a:fillRect/>
          </a:stretch>
        </p:blipFill>
        <p:spPr>
          <a:xfrm>
            <a:off x="271462" y="528637"/>
            <a:ext cx="8601075" cy="4086225"/>
          </a:xfrm>
          <a:prstGeom prst="rect">
            <a:avLst/>
          </a:prstGeom>
        </p:spPr>
      </p:pic>
    </p:spTree>
    <p:extLst>
      <p:ext uri="{BB962C8B-B14F-4D97-AF65-F5344CB8AC3E}">
        <p14:creationId xmlns:p14="http://schemas.microsoft.com/office/powerpoint/2010/main" val="3128970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B7F87DF7-F718-4123-A295-CB02CCEBEB33}"/>
              </a:ext>
            </a:extLst>
          </p:cNvPr>
          <p:cNvPicPr>
            <a:picLocks noChangeAspect="1"/>
          </p:cNvPicPr>
          <p:nvPr/>
        </p:nvPicPr>
        <p:blipFill>
          <a:blip r:embed="rId3"/>
          <a:stretch>
            <a:fillRect/>
          </a:stretch>
        </p:blipFill>
        <p:spPr>
          <a:xfrm>
            <a:off x="1364456" y="0"/>
            <a:ext cx="6415088" cy="5143500"/>
          </a:xfrm>
          <a:prstGeom prst="rect">
            <a:avLst/>
          </a:prstGeom>
        </p:spPr>
      </p:pic>
    </p:spTree>
    <p:extLst>
      <p:ext uri="{BB962C8B-B14F-4D97-AF65-F5344CB8AC3E}">
        <p14:creationId xmlns:p14="http://schemas.microsoft.com/office/powerpoint/2010/main" val="3149472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4BD7A4F7-D69A-4CC0-A289-4C9BE9649320}"/>
              </a:ext>
            </a:extLst>
          </p:cNvPr>
          <p:cNvPicPr>
            <a:picLocks noChangeAspect="1"/>
          </p:cNvPicPr>
          <p:nvPr/>
        </p:nvPicPr>
        <p:blipFill>
          <a:blip r:embed="rId3"/>
          <a:stretch>
            <a:fillRect/>
          </a:stretch>
        </p:blipFill>
        <p:spPr>
          <a:xfrm>
            <a:off x="204178" y="537878"/>
            <a:ext cx="8735644" cy="4067743"/>
          </a:xfrm>
          <a:prstGeom prst="rect">
            <a:avLst/>
          </a:prstGeom>
        </p:spPr>
      </p:pic>
    </p:spTree>
    <p:extLst>
      <p:ext uri="{BB962C8B-B14F-4D97-AF65-F5344CB8AC3E}">
        <p14:creationId xmlns:p14="http://schemas.microsoft.com/office/powerpoint/2010/main" val="3652830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4" name="Picture 3">
            <a:extLst>
              <a:ext uri="{FF2B5EF4-FFF2-40B4-BE49-F238E27FC236}">
                <a16:creationId xmlns:a16="http://schemas.microsoft.com/office/drawing/2014/main" id="{281028D6-65A6-4DAC-8C64-B960440B293C}"/>
              </a:ext>
            </a:extLst>
          </p:cNvPr>
          <p:cNvPicPr>
            <a:picLocks noChangeAspect="1"/>
          </p:cNvPicPr>
          <p:nvPr/>
        </p:nvPicPr>
        <p:blipFill>
          <a:blip r:embed="rId3"/>
          <a:stretch>
            <a:fillRect/>
          </a:stretch>
        </p:blipFill>
        <p:spPr>
          <a:xfrm>
            <a:off x="51756" y="56799"/>
            <a:ext cx="9040487" cy="5029902"/>
          </a:xfrm>
          <a:prstGeom prst="rect">
            <a:avLst/>
          </a:prstGeom>
        </p:spPr>
      </p:pic>
    </p:spTree>
    <p:extLst>
      <p:ext uri="{BB962C8B-B14F-4D97-AF65-F5344CB8AC3E}">
        <p14:creationId xmlns:p14="http://schemas.microsoft.com/office/powerpoint/2010/main" val="1466742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B1B95108-C3DD-49ED-B0A8-4D272E768BBA}"/>
              </a:ext>
            </a:extLst>
          </p:cNvPr>
          <p:cNvPicPr>
            <a:picLocks noChangeAspect="1"/>
          </p:cNvPicPr>
          <p:nvPr/>
        </p:nvPicPr>
        <p:blipFill>
          <a:blip r:embed="rId3"/>
          <a:stretch>
            <a:fillRect/>
          </a:stretch>
        </p:blipFill>
        <p:spPr>
          <a:xfrm>
            <a:off x="1215189" y="0"/>
            <a:ext cx="6713621" cy="5143500"/>
          </a:xfrm>
          <a:prstGeom prst="rect">
            <a:avLst/>
          </a:prstGeom>
        </p:spPr>
      </p:pic>
    </p:spTree>
    <p:extLst>
      <p:ext uri="{BB962C8B-B14F-4D97-AF65-F5344CB8AC3E}">
        <p14:creationId xmlns:p14="http://schemas.microsoft.com/office/powerpoint/2010/main" val="22156969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CAF02FFD-C58B-43FF-A2DB-C3FC7A0792D7}"/>
              </a:ext>
            </a:extLst>
          </p:cNvPr>
          <p:cNvPicPr>
            <a:picLocks noChangeAspect="1"/>
          </p:cNvPicPr>
          <p:nvPr/>
        </p:nvPicPr>
        <p:blipFill>
          <a:blip r:embed="rId3"/>
          <a:stretch>
            <a:fillRect/>
          </a:stretch>
        </p:blipFill>
        <p:spPr>
          <a:xfrm>
            <a:off x="1070534" y="0"/>
            <a:ext cx="7002931" cy="5143500"/>
          </a:xfrm>
          <a:prstGeom prst="rect">
            <a:avLst/>
          </a:prstGeom>
        </p:spPr>
      </p:pic>
    </p:spTree>
    <p:extLst>
      <p:ext uri="{BB962C8B-B14F-4D97-AF65-F5344CB8AC3E}">
        <p14:creationId xmlns:p14="http://schemas.microsoft.com/office/powerpoint/2010/main" val="725628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7D21B453-7586-4FCF-8067-4396875314F9}"/>
              </a:ext>
            </a:extLst>
          </p:cNvPr>
          <p:cNvPicPr>
            <a:picLocks noChangeAspect="1"/>
          </p:cNvPicPr>
          <p:nvPr/>
        </p:nvPicPr>
        <p:blipFill>
          <a:blip r:embed="rId3"/>
          <a:stretch>
            <a:fillRect/>
          </a:stretch>
        </p:blipFill>
        <p:spPr>
          <a:xfrm>
            <a:off x="668176" y="0"/>
            <a:ext cx="7807648" cy="5143500"/>
          </a:xfrm>
          <a:prstGeom prst="rect">
            <a:avLst/>
          </a:prstGeom>
        </p:spPr>
      </p:pic>
    </p:spTree>
    <p:extLst>
      <p:ext uri="{BB962C8B-B14F-4D97-AF65-F5344CB8AC3E}">
        <p14:creationId xmlns:p14="http://schemas.microsoft.com/office/powerpoint/2010/main" val="20987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3" name="Google Shape;439;p34"/>
          <p:cNvSpPr txBox="1">
            <a:spLocks noGrp="1"/>
          </p:cNvSpPr>
          <p:nvPr>
            <p:ph type="title"/>
          </p:nvPr>
        </p:nvSpPr>
        <p:spPr>
          <a:xfrm>
            <a:off x="753866" y="214731"/>
            <a:ext cx="7704000" cy="794496"/>
          </a:xfrm>
          <a:prstGeom prst="rect">
            <a:avLst/>
          </a:prstGeom>
        </p:spPr>
        <p:txBody>
          <a:bodyPr spcFirstLastPara="1" wrap="square" lIns="91425" tIns="91425" rIns="91425" bIns="91425" anchor="t" anchorCtr="0">
            <a:noAutofit/>
          </a:bodyPr>
          <a:lstStyle/>
          <a:p>
            <a:pPr algn="l"/>
            <a:r>
              <a:rPr lang="en-US" dirty="0"/>
              <a:t>Selected Process Model</a:t>
            </a:r>
          </a:p>
        </p:txBody>
      </p:sp>
      <p:sp>
        <p:nvSpPr>
          <p:cNvPr id="44" name="Rectangle 43"/>
          <p:cNvSpPr/>
          <p:nvPr/>
        </p:nvSpPr>
        <p:spPr>
          <a:xfrm>
            <a:off x="765383" y="1381761"/>
            <a:ext cx="7592905" cy="1354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The Iterative Model</a:t>
            </a:r>
          </a:p>
          <a:p>
            <a:pPr algn="ctr"/>
            <a:endParaRPr lang="en-US" b="1" dirty="0"/>
          </a:p>
          <a:p>
            <a:pPr algn="ctr"/>
            <a:r>
              <a:rPr lang="en-US" dirty="0"/>
              <a:t>A hybrid approach that combines elements of waterfall and evolutionary paradigms, delivering the system in functional iterative.</a:t>
            </a:r>
          </a:p>
        </p:txBody>
      </p:sp>
      <p:sp>
        <p:nvSpPr>
          <p:cNvPr id="46" name="Rectangle 45"/>
          <p:cNvSpPr/>
          <p:nvPr/>
        </p:nvSpPr>
        <p:spPr>
          <a:xfrm>
            <a:off x="758613" y="2919306"/>
            <a:ext cx="7620000" cy="213360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dirty="0">
                <a:solidFill>
                  <a:schemeClr val="accent2"/>
                </a:solidFill>
              </a:rPr>
              <a:t>Key Characteristics</a:t>
            </a:r>
          </a:p>
          <a:p>
            <a:endParaRPr lang="en-US" dirty="0">
              <a:solidFill>
                <a:schemeClr val="accent2"/>
              </a:solidFill>
            </a:endParaRPr>
          </a:p>
          <a:p>
            <a:pPr>
              <a:buFont typeface="Wingdings" pitchFamily="2" charset="2"/>
              <a:buChar char="ü"/>
            </a:pPr>
            <a:r>
              <a:rPr lang="en-US" dirty="0">
                <a:solidFill>
                  <a:schemeClr val="accent2"/>
                </a:solidFill>
              </a:rPr>
              <a:t>System functionality delivered in increments</a:t>
            </a:r>
          </a:p>
          <a:p>
            <a:pPr>
              <a:buFont typeface="Wingdings" pitchFamily="2" charset="2"/>
              <a:buChar char="ü"/>
            </a:pPr>
            <a:r>
              <a:rPr lang="en-US" dirty="0">
                <a:solidFill>
                  <a:schemeClr val="accent2"/>
                </a:solidFill>
              </a:rPr>
              <a:t>Each increment adds new features to the system</a:t>
            </a:r>
          </a:p>
          <a:p>
            <a:pPr>
              <a:buFont typeface="Wingdings" pitchFamily="2" charset="2"/>
              <a:buChar char="ü"/>
            </a:pPr>
            <a:r>
              <a:rPr lang="en-US" dirty="0">
                <a:solidFill>
                  <a:schemeClr val="accent2"/>
                </a:solidFill>
              </a:rPr>
              <a:t>Early increments serve as prototypes for later ones</a:t>
            </a:r>
          </a:p>
          <a:p>
            <a:pPr>
              <a:buFont typeface="Wingdings" pitchFamily="2" charset="2"/>
              <a:buChar char="ü"/>
            </a:pPr>
            <a:r>
              <a:rPr lang="en-US" dirty="0">
                <a:solidFill>
                  <a:schemeClr val="accent2"/>
                </a:solidFill>
              </a:rPr>
              <a:t>Supports iterative refinement and testing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38"/>
          <p:cNvSpPr txBox="1">
            <a:spLocks noGrp="1"/>
          </p:cNvSpPr>
          <p:nvPr>
            <p:ph type="title"/>
          </p:nvPr>
        </p:nvSpPr>
        <p:spPr>
          <a:xfrm>
            <a:off x="719999" y="356975"/>
            <a:ext cx="8031147" cy="618389"/>
          </a:xfrm>
          <a:prstGeom prst="rect">
            <a:avLst/>
          </a:prstGeom>
        </p:spPr>
        <p:txBody>
          <a:bodyPr spcFirstLastPara="1" wrap="square" lIns="91425" tIns="91425" rIns="91425" bIns="91425" anchor="t" anchorCtr="0">
            <a:noAutofit/>
          </a:bodyPr>
          <a:lstStyle/>
          <a:p>
            <a:r>
              <a:rPr lang="en-US" dirty="0">
                <a:latin typeface="Times New Roman" pitchFamily="18" charset="0"/>
                <a:cs typeface="Times New Roman" pitchFamily="18" charset="0"/>
              </a:rPr>
              <a:t>Iterative Development Plan for TeleMed</a:t>
            </a:r>
            <a:br>
              <a:rPr lang="en-US" dirty="0">
                <a:latin typeface="Times New Roman" pitchFamily="18" charset="0"/>
                <a:cs typeface="Times New Roman" pitchFamily="18" charset="0"/>
              </a:rPr>
            </a:br>
            <a:endParaRPr dirty="0">
              <a:latin typeface="Times New Roman" pitchFamily="18" charset="0"/>
              <a:cs typeface="Times New Roman" pitchFamily="18" charset="0"/>
            </a:endParaRPr>
          </a:p>
        </p:txBody>
      </p:sp>
      <p:sp>
        <p:nvSpPr>
          <p:cNvPr id="10" name="Rounded Rectangle 9"/>
          <p:cNvSpPr/>
          <p:nvPr/>
        </p:nvSpPr>
        <p:spPr>
          <a:xfrm>
            <a:off x="612981" y="1449493"/>
            <a:ext cx="2448566" cy="13478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Core Authentication &amp; User Management</a:t>
            </a:r>
          </a:p>
          <a:p>
            <a:r>
              <a:rPr lang="en-US" sz="1100" dirty="0"/>
              <a:t>Implemented ASP.NET Identity with role-based access control for Admin, Doctor, and Patient roles. Basic user registration and login functionality.</a:t>
            </a:r>
          </a:p>
        </p:txBody>
      </p:sp>
      <p:sp>
        <p:nvSpPr>
          <p:cNvPr id="15" name="Rounded Rectangle 14"/>
          <p:cNvSpPr/>
          <p:nvPr/>
        </p:nvSpPr>
        <p:spPr>
          <a:xfrm>
            <a:off x="3257968" y="1446110"/>
            <a:ext cx="2448566" cy="13478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Appointment Scheduling System</a:t>
            </a:r>
          </a:p>
          <a:p>
            <a:r>
              <a:rPr lang="en-US" sz="1100" dirty="0"/>
              <a:t>Developed appointment booking functionality, schedule management for doctors, and appointment viewing/management for patients.</a:t>
            </a:r>
          </a:p>
        </p:txBody>
      </p:sp>
      <p:sp>
        <p:nvSpPr>
          <p:cNvPr id="16" name="Rounded Rectangle 15"/>
          <p:cNvSpPr/>
          <p:nvPr/>
        </p:nvSpPr>
        <p:spPr>
          <a:xfrm>
            <a:off x="5950368" y="1449498"/>
            <a:ext cx="2448566" cy="13478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Video Consultation Feature</a:t>
            </a:r>
          </a:p>
          <a:p>
            <a:r>
              <a:rPr lang="en-US" sz="1100" dirty="0"/>
              <a:t>Integrated virtual video session capabilities for real-time doctor-patient consultations.</a:t>
            </a:r>
          </a:p>
        </p:txBody>
      </p:sp>
      <p:sp>
        <p:nvSpPr>
          <p:cNvPr id="17" name="Rounded Rectangle 16"/>
          <p:cNvSpPr/>
          <p:nvPr/>
        </p:nvSpPr>
        <p:spPr>
          <a:xfrm>
            <a:off x="1788141" y="3159764"/>
            <a:ext cx="2448566" cy="13478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Prescription Management System</a:t>
            </a:r>
          </a:p>
          <a:p>
            <a:r>
              <a:rPr lang="en-US" sz="1100" dirty="0"/>
              <a:t>Implemented digital prescription creation using QuestPDF, file upload/download functionality, and prescription viewing for patients.</a:t>
            </a:r>
          </a:p>
        </p:txBody>
      </p:sp>
      <p:sp>
        <p:nvSpPr>
          <p:cNvPr id="18" name="Rounded Rectangle 17"/>
          <p:cNvSpPr/>
          <p:nvPr/>
        </p:nvSpPr>
        <p:spPr>
          <a:xfrm>
            <a:off x="4436539" y="3152990"/>
            <a:ext cx="2448566" cy="13478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Admin Dashboard &amp; Reporting</a:t>
            </a:r>
          </a:p>
          <a:p>
            <a:r>
              <a:rPr lang="en-US" sz="1100" dirty="0"/>
              <a:t>Built admin panel for doctor approval, schedule management, payment summaries, and system-wide reports.</a:t>
            </a:r>
          </a:p>
        </p:txBody>
      </p:sp>
      <p:sp>
        <p:nvSpPr>
          <p:cNvPr id="19" name="8-Point Star 18"/>
          <p:cNvSpPr/>
          <p:nvPr/>
        </p:nvSpPr>
        <p:spPr>
          <a:xfrm>
            <a:off x="1503680" y="1076960"/>
            <a:ext cx="318347" cy="270933"/>
          </a:xfrm>
          <a:prstGeom prst="star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8-Point Star 19"/>
          <p:cNvSpPr/>
          <p:nvPr/>
        </p:nvSpPr>
        <p:spPr>
          <a:xfrm>
            <a:off x="4263814" y="1073574"/>
            <a:ext cx="318347" cy="270933"/>
          </a:xfrm>
          <a:prstGeom prst="star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1" name="8-Point Star 20"/>
          <p:cNvSpPr/>
          <p:nvPr/>
        </p:nvSpPr>
        <p:spPr>
          <a:xfrm>
            <a:off x="7020560" y="1053255"/>
            <a:ext cx="318347" cy="270933"/>
          </a:xfrm>
          <a:prstGeom prst="star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 name="8-Point Star 21"/>
          <p:cNvSpPr/>
          <p:nvPr/>
        </p:nvSpPr>
        <p:spPr>
          <a:xfrm>
            <a:off x="2794000" y="4582160"/>
            <a:ext cx="318347" cy="270933"/>
          </a:xfrm>
          <a:prstGeom prst="star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3" name="8-Point Star 22"/>
          <p:cNvSpPr/>
          <p:nvPr/>
        </p:nvSpPr>
        <p:spPr>
          <a:xfrm>
            <a:off x="5604934" y="4609253"/>
            <a:ext cx="318347" cy="270933"/>
          </a:xfrm>
          <a:prstGeom prst="star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2000"/>
                                        <p:tgtEl>
                                          <p:spTgt spid="19"/>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heel(1)">
                                      <p:cBhvr>
                                        <p:cTn id="10" dur="20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heel(1)">
                                      <p:cBhvr>
                                        <p:cTn id="15" dur="2000"/>
                                        <p:tgtEl>
                                          <p:spTgt spid="15"/>
                                        </p:tgtEl>
                                      </p:cBhvr>
                                    </p:animEffect>
                                  </p:childTnLst>
                                </p:cTn>
                              </p:par>
                              <p:par>
                                <p:cTn id="16" presetID="21" presetClass="entr" presetSubtype="1"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heel(1)">
                                      <p:cBhvr>
                                        <p:cTn id="18" dur="20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heel(1)">
                                      <p:cBhvr>
                                        <p:cTn id="23" dur="2000"/>
                                        <p:tgtEl>
                                          <p:spTgt spid="21"/>
                                        </p:tgtEl>
                                      </p:cBhvr>
                                    </p:animEffect>
                                  </p:childTnLst>
                                </p:cTn>
                              </p:par>
                              <p:par>
                                <p:cTn id="24" presetID="21" presetClass="entr" presetSubtype="1"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heel(1)">
                                      <p:cBhvr>
                                        <p:cTn id="26" dur="20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heel(1)">
                                      <p:cBhvr>
                                        <p:cTn id="31" dur="2000"/>
                                        <p:tgtEl>
                                          <p:spTgt spid="17"/>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heel(1)">
                                      <p:cBhvr>
                                        <p:cTn id="34" dur="20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1"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heel(1)">
                                      <p:cBhvr>
                                        <p:cTn id="39" dur="2000"/>
                                        <p:tgtEl>
                                          <p:spTgt spid="18"/>
                                        </p:tgtEl>
                                      </p:cBhvr>
                                    </p:animEffect>
                                  </p:childTnLst>
                                </p:cTn>
                              </p:par>
                              <p:par>
                                <p:cTn id="40" presetID="21" presetClass="entr" presetSubtype="1"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heel(1)">
                                      <p:cBhvr>
                                        <p:cTn id="42"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3" name="Google Shape;603;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dirty="0"/>
              <a:t>Why Iterative Model for TeleMed?</a:t>
            </a:r>
          </a:p>
        </p:txBody>
      </p:sp>
      <p:sp>
        <p:nvSpPr>
          <p:cNvPr id="31" name="Rectangle 30"/>
          <p:cNvSpPr/>
          <p:nvPr/>
        </p:nvSpPr>
        <p:spPr>
          <a:xfrm>
            <a:off x="873760" y="1320800"/>
            <a:ext cx="7159413" cy="358309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n-US" b="1" dirty="0">
                <a:solidFill>
                  <a:schemeClr val="accent2"/>
                </a:solidFill>
                <a:latin typeface="Times New Roman" pitchFamily="18" charset="0"/>
                <a:cs typeface="Times New Roman" pitchFamily="18" charset="0"/>
              </a:rPr>
              <a:t>Project-Specific Justifications</a:t>
            </a:r>
            <a:endParaRPr lang="en-US" dirty="0">
              <a:solidFill>
                <a:schemeClr val="accent2"/>
              </a:solidFill>
              <a:latin typeface="Times New Roman" pitchFamily="18" charset="0"/>
              <a:cs typeface="Times New Roman" pitchFamily="18" charset="0"/>
            </a:endParaRPr>
          </a:p>
          <a:p>
            <a:pPr algn="just"/>
            <a:endParaRPr lang="en-US" b="1" dirty="0">
              <a:solidFill>
                <a:schemeClr val="accent2"/>
              </a:solidFill>
              <a:latin typeface="Times New Roman" pitchFamily="18" charset="0"/>
              <a:cs typeface="Times New Roman" pitchFamily="18" charset="0"/>
            </a:endParaRPr>
          </a:p>
          <a:p>
            <a:pPr marL="342900" indent="-342900" algn="just">
              <a:buFont typeface="Wingdings" pitchFamily="2" charset="2"/>
              <a:buChar char="Ø"/>
            </a:pPr>
            <a:r>
              <a:rPr lang="en-US" b="1" dirty="0">
                <a:solidFill>
                  <a:schemeClr val="accent2"/>
                </a:solidFill>
                <a:latin typeface="Times New Roman" pitchFamily="18" charset="0"/>
                <a:cs typeface="Times New Roman" pitchFamily="18" charset="0"/>
              </a:rPr>
              <a:t>Multiple Independent Modules:</a:t>
            </a:r>
            <a:r>
              <a:rPr lang="en-US" dirty="0">
                <a:solidFill>
                  <a:schemeClr val="accent2"/>
                </a:solidFill>
                <a:latin typeface="Times New Roman" pitchFamily="18" charset="0"/>
                <a:cs typeface="Times New Roman" pitchFamily="18" charset="0"/>
              </a:rPr>
              <a:t> The system has distinct subsystems (authentication, appointments, video, prescriptions, admin) that can be developed and delivered separately</a:t>
            </a:r>
          </a:p>
          <a:p>
            <a:pPr marL="342900" indent="-342900" algn="just">
              <a:buFont typeface="Wingdings" pitchFamily="2" charset="2"/>
              <a:buChar char="Ø"/>
            </a:pPr>
            <a:endParaRPr lang="en-US" dirty="0">
              <a:solidFill>
                <a:schemeClr val="accent2"/>
              </a:solidFill>
              <a:latin typeface="Times New Roman" pitchFamily="18" charset="0"/>
              <a:cs typeface="Times New Roman" pitchFamily="18" charset="0"/>
            </a:endParaRPr>
          </a:p>
          <a:p>
            <a:pPr marL="342900" indent="-342900" algn="just">
              <a:buFont typeface="Wingdings" pitchFamily="2" charset="2"/>
              <a:buChar char="Ø"/>
            </a:pPr>
            <a:r>
              <a:rPr lang="en-US" b="1" dirty="0">
                <a:solidFill>
                  <a:schemeClr val="accent2"/>
                </a:solidFill>
                <a:latin typeface="Times New Roman" pitchFamily="18" charset="0"/>
                <a:cs typeface="Times New Roman" pitchFamily="18" charset="0"/>
              </a:rPr>
              <a:t>Early Functional Delivery:</a:t>
            </a:r>
            <a:r>
              <a:rPr lang="en-US" dirty="0">
                <a:solidFill>
                  <a:schemeClr val="accent2"/>
                </a:solidFill>
                <a:latin typeface="Times New Roman" pitchFamily="18" charset="0"/>
                <a:cs typeface="Times New Roman" pitchFamily="18" charset="0"/>
              </a:rPr>
              <a:t> Core features like user registration and appointment booking could be delivered early while advanced features were being developed</a:t>
            </a:r>
          </a:p>
          <a:p>
            <a:pPr marL="342900" indent="-342900" algn="just">
              <a:buFont typeface="Wingdings" pitchFamily="2" charset="2"/>
              <a:buChar char="Ø"/>
            </a:pPr>
            <a:endParaRPr lang="en-US" dirty="0">
              <a:solidFill>
                <a:schemeClr val="accent2"/>
              </a:solidFill>
              <a:latin typeface="Times New Roman" pitchFamily="18" charset="0"/>
              <a:cs typeface="Times New Roman" pitchFamily="18" charset="0"/>
            </a:endParaRPr>
          </a:p>
          <a:p>
            <a:pPr marL="342900" indent="-342900" algn="just">
              <a:buFont typeface="Wingdings" pitchFamily="2" charset="2"/>
              <a:buChar char="Ø"/>
            </a:pPr>
            <a:r>
              <a:rPr lang="en-US" b="1" dirty="0">
                <a:solidFill>
                  <a:schemeClr val="accent2"/>
                </a:solidFill>
                <a:latin typeface="Times New Roman" pitchFamily="18" charset="0"/>
                <a:cs typeface="Times New Roman" pitchFamily="18" charset="0"/>
              </a:rPr>
              <a:t>Risk Management:</a:t>
            </a:r>
            <a:r>
              <a:rPr lang="en-US" dirty="0">
                <a:solidFill>
                  <a:schemeClr val="accent2"/>
                </a:solidFill>
                <a:latin typeface="Times New Roman" pitchFamily="18" charset="0"/>
                <a:cs typeface="Times New Roman" pitchFamily="18" charset="0"/>
              </a:rPr>
              <a:t> Each increment reduced technical risks by validating critical features (authentication, video integration) early in development</a:t>
            </a:r>
          </a:p>
          <a:p>
            <a:pPr marL="342900" indent="-342900" algn="just">
              <a:buFont typeface="Wingdings" pitchFamily="2" charset="2"/>
              <a:buChar char="Ø"/>
            </a:pPr>
            <a:endParaRPr lang="en-US" dirty="0">
              <a:solidFill>
                <a:schemeClr val="accent2"/>
              </a:solidFill>
              <a:latin typeface="Times New Roman" pitchFamily="18" charset="0"/>
              <a:cs typeface="Times New Roman" pitchFamily="18" charset="0"/>
            </a:endParaRPr>
          </a:p>
          <a:p>
            <a:pPr marL="342900" indent="-342900" algn="just">
              <a:buFont typeface="Wingdings" pitchFamily="2" charset="2"/>
              <a:buChar char="Ø"/>
            </a:pPr>
            <a:r>
              <a:rPr lang="en-US" b="1" dirty="0">
                <a:solidFill>
                  <a:schemeClr val="accent2"/>
                </a:solidFill>
                <a:latin typeface="Times New Roman" pitchFamily="18" charset="0"/>
                <a:cs typeface="Times New Roman" pitchFamily="18" charset="0"/>
              </a:rPr>
              <a:t>Easier Integration:</a:t>
            </a:r>
            <a:r>
              <a:rPr lang="en-US" dirty="0">
                <a:solidFill>
                  <a:schemeClr val="accent2"/>
                </a:solidFill>
                <a:latin typeface="Times New Roman" pitchFamily="18" charset="0"/>
                <a:cs typeface="Times New Roman" pitchFamily="18" charset="0"/>
              </a:rPr>
              <a:t> The modular nature of TeleMed aligned perfectly with incremental integration of subsystems</a:t>
            </a:r>
          </a:p>
          <a:p>
            <a:pPr marL="342900" indent="-342900" algn="just">
              <a:buFont typeface="Wingdings" pitchFamily="2" charset="2"/>
              <a:buChar char="Ø"/>
            </a:pPr>
            <a:endParaRPr lang="en-US" dirty="0">
              <a:solidFill>
                <a:schemeClr val="accent2"/>
              </a:solidFill>
              <a:latin typeface="Times New Roman" pitchFamily="18" charset="0"/>
              <a:cs typeface="Times New Roman" pitchFamily="18" charset="0"/>
            </a:endParaRPr>
          </a:p>
          <a:p>
            <a:pPr marL="342900" indent="-342900" algn="just">
              <a:buFont typeface="Wingdings" pitchFamily="2" charset="2"/>
              <a:buChar char="Ø"/>
            </a:pPr>
            <a:r>
              <a:rPr lang="en-US" b="1" dirty="0">
                <a:solidFill>
                  <a:schemeClr val="accent2"/>
                </a:solidFill>
                <a:latin typeface="Times New Roman" pitchFamily="18" charset="0"/>
                <a:cs typeface="Times New Roman" pitchFamily="18" charset="0"/>
              </a:rPr>
              <a:t>Priority-Based Development:</a:t>
            </a:r>
            <a:r>
              <a:rPr lang="en-US" dirty="0">
                <a:solidFill>
                  <a:schemeClr val="accent2"/>
                </a:solidFill>
                <a:latin typeface="Times New Roman" pitchFamily="18" charset="0"/>
                <a:cs typeface="Times New Roman" pitchFamily="18" charset="0"/>
              </a:rPr>
              <a:t> Critical features (security, basic appointments) were implemented first, followed by enhancements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3" name="Google Shape;603;p40"/>
          <p:cNvSpPr txBox="1">
            <a:spLocks noGrp="1"/>
          </p:cNvSpPr>
          <p:nvPr>
            <p:ph type="title"/>
          </p:nvPr>
        </p:nvSpPr>
        <p:spPr>
          <a:xfrm>
            <a:off x="719999" y="445025"/>
            <a:ext cx="7970187" cy="572700"/>
          </a:xfrm>
          <a:prstGeom prst="rect">
            <a:avLst/>
          </a:prstGeom>
        </p:spPr>
        <p:txBody>
          <a:bodyPr spcFirstLastPara="1" wrap="square" lIns="91425" tIns="91425" rIns="91425" bIns="91425" anchor="t" anchorCtr="0">
            <a:noAutofit/>
          </a:bodyPr>
          <a:lstStyle/>
          <a:p>
            <a:r>
              <a:rPr lang="en-US" sz="2900" dirty="0"/>
              <a:t>Advantages for TeleMed Development</a:t>
            </a:r>
          </a:p>
        </p:txBody>
      </p:sp>
      <p:sp>
        <p:nvSpPr>
          <p:cNvPr id="31" name="Rectangle 30"/>
          <p:cNvSpPr/>
          <p:nvPr/>
        </p:nvSpPr>
        <p:spPr>
          <a:xfrm>
            <a:off x="873760" y="1320800"/>
            <a:ext cx="7159413" cy="358309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buFont typeface="Wingdings" pitchFamily="2" charset="2"/>
              <a:buChar char="ü"/>
            </a:pPr>
            <a:r>
              <a:rPr lang="en-US" sz="1300" b="1" dirty="0">
                <a:solidFill>
                  <a:schemeClr val="accent2"/>
                </a:solidFill>
                <a:latin typeface="Times New Roman" pitchFamily="18" charset="0"/>
                <a:cs typeface="Times New Roman" pitchFamily="18" charset="0"/>
              </a:rPr>
              <a:t>Early Value Delivery:</a:t>
            </a:r>
            <a:r>
              <a:rPr lang="en-US" sz="1300" dirty="0">
                <a:solidFill>
                  <a:schemeClr val="accent2"/>
                </a:solidFill>
                <a:latin typeface="Times New Roman" pitchFamily="18" charset="0"/>
                <a:cs typeface="Times New Roman" pitchFamily="18" charset="0"/>
              </a:rPr>
              <a:t> Basic telemedicine functionality was available early, allowing for early testing and feedback</a:t>
            </a:r>
          </a:p>
          <a:p>
            <a:pPr algn="just">
              <a:buFont typeface="Wingdings" pitchFamily="2" charset="2"/>
              <a:buChar char="ü"/>
            </a:pPr>
            <a:endParaRPr lang="en-US" sz="1300" dirty="0">
              <a:solidFill>
                <a:schemeClr val="accent2"/>
              </a:solidFill>
              <a:latin typeface="Times New Roman" pitchFamily="18" charset="0"/>
              <a:cs typeface="Times New Roman" pitchFamily="18" charset="0"/>
            </a:endParaRPr>
          </a:p>
          <a:p>
            <a:pPr algn="just">
              <a:buFont typeface="Wingdings" pitchFamily="2" charset="2"/>
              <a:buChar char="ü"/>
            </a:pPr>
            <a:r>
              <a:rPr lang="en-US" sz="1300" b="1" dirty="0">
                <a:solidFill>
                  <a:schemeClr val="accent2"/>
                </a:solidFill>
                <a:latin typeface="Times New Roman" pitchFamily="18" charset="0"/>
                <a:cs typeface="Times New Roman" pitchFamily="18" charset="0"/>
              </a:rPr>
              <a:t>Reduced Project Failure Risk:</a:t>
            </a:r>
            <a:r>
              <a:rPr lang="en-US" sz="1300" dirty="0">
                <a:solidFill>
                  <a:schemeClr val="accent2"/>
                </a:solidFill>
                <a:latin typeface="Times New Roman" pitchFamily="18" charset="0"/>
                <a:cs typeface="Times New Roman" pitchFamily="18" charset="0"/>
              </a:rPr>
              <a:t> Each increment validated the approach, reducing the risk of complete project failure</a:t>
            </a:r>
          </a:p>
          <a:p>
            <a:pPr algn="just">
              <a:buFont typeface="Wingdings" pitchFamily="2" charset="2"/>
              <a:buChar char="ü"/>
            </a:pPr>
            <a:endParaRPr lang="en-US" sz="1300" dirty="0">
              <a:solidFill>
                <a:schemeClr val="accent2"/>
              </a:solidFill>
              <a:latin typeface="Times New Roman" pitchFamily="18" charset="0"/>
              <a:cs typeface="Times New Roman" pitchFamily="18" charset="0"/>
            </a:endParaRPr>
          </a:p>
          <a:p>
            <a:pPr algn="just">
              <a:buFont typeface="Wingdings" pitchFamily="2" charset="2"/>
              <a:buChar char="ü"/>
            </a:pPr>
            <a:r>
              <a:rPr lang="en-US" sz="1300" b="1" dirty="0">
                <a:solidFill>
                  <a:schemeClr val="accent2"/>
                </a:solidFill>
                <a:latin typeface="Times New Roman" pitchFamily="18" charset="0"/>
                <a:cs typeface="Times New Roman" pitchFamily="18" charset="0"/>
              </a:rPr>
              <a:t>Better Process Iteration:</a:t>
            </a:r>
            <a:r>
              <a:rPr lang="en-US" sz="1300" dirty="0">
                <a:solidFill>
                  <a:schemeClr val="accent2"/>
                </a:solidFill>
                <a:latin typeface="Times New Roman" pitchFamily="18" charset="0"/>
                <a:cs typeface="Times New Roman" pitchFamily="18" charset="0"/>
              </a:rPr>
              <a:t> Lessons learned from early increments (like authentication) improved later increments (like video sessions)</a:t>
            </a:r>
          </a:p>
          <a:p>
            <a:pPr algn="just">
              <a:buFont typeface="Wingdings" pitchFamily="2" charset="2"/>
              <a:buChar char="ü"/>
            </a:pPr>
            <a:endParaRPr lang="en-US" sz="1300" dirty="0">
              <a:solidFill>
                <a:schemeClr val="accent2"/>
              </a:solidFill>
              <a:latin typeface="Times New Roman" pitchFamily="18" charset="0"/>
              <a:cs typeface="Times New Roman" pitchFamily="18" charset="0"/>
            </a:endParaRPr>
          </a:p>
          <a:p>
            <a:pPr algn="just">
              <a:buFont typeface="Wingdings" pitchFamily="2" charset="2"/>
              <a:buChar char="ü"/>
            </a:pPr>
            <a:r>
              <a:rPr lang="en-US" sz="1300" b="1" dirty="0">
                <a:solidFill>
                  <a:schemeClr val="accent2"/>
                </a:solidFill>
                <a:latin typeface="Times New Roman" pitchFamily="18" charset="0"/>
                <a:cs typeface="Times New Roman" pitchFamily="18" charset="0"/>
              </a:rPr>
              <a:t>Flexible Priority Management:</a:t>
            </a:r>
            <a:r>
              <a:rPr lang="en-US" sz="1300" dirty="0">
                <a:solidFill>
                  <a:schemeClr val="accent2"/>
                </a:solidFill>
                <a:latin typeface="Times New Roman" pitchFamily="18" charset="0"/>
                <a:cs typeface="Times New Roman" pitchFamily="18" charset="0"/>
              </a:rPr>
              <a:t> Could adjust priorities based on stakeholder feedback (e.g., prioritizing prescription management over advanced reporting)</a:t>
            </a:r>
          </a:p>
          <a:p>
            <a:pPr algn="just">
              <a:buFont typeface="Wingdings" pitchFamily="2" charset="2"/>
              <a:buChar char="ü"/>
            </a:pPr>
            <a:endParaRPr lang="en-US" sz="1300" dirty="0">
              <a:solidFill>
                <a:schemeClr val="accent2"/>
              </a:solidFill>
              <a:latin typeface="Times New Roman" pitchFamily="18" charset="0"/>
              <a:cs typeface="Times New Roman" pitchFamily="18" charset="0"/>
            </a:endParaRPr>
          </a:p>
          <a:p>
            <a:pPr algn="just">
              <a:buFont typeface="Wingdings" pitchFamily="2" charset="2"/>
              <a:buChar char="ü"/>
            </a:pPr>
            <a:r>
              <a:rPr lang="en-US" sz="1300" b="1" dirty="0">
                <a:solidFill>
                  <a:schemeClr val="accent2"/>
                </a:solidFill>
                <a:latin typeface="Times New Roman" pitchFamily="18" charset="0"/>
                <a:cs typeface="Times New Roman" pitchFamily="18" charset="0"/>
              </a:rPr>
              <a:t>Parallel Development Opportunities:</a:t>
            </a:r>
            <a:r>
              <a:rPr lang="en-US" sz="1300" dirty="0">
                <a:solidFill>
                  <a:schemeClr val="accent2"/>
                </a:solidFill>
                <a:latin typeface="Times New Roman" pitchFamily="18" charset="0"/>
                <a:cs typeface="Times New Roman" pitchFamily="18" charset="0"/>
              </a:rPr>
              <a:t> Different teams or developers could work on different increments simultaneously</a:t>
            </a:r>
          </a:p>
          <a:p>
            <a:pPr algn="just">
              <a:buFont typeface="Wingdings" pitchFamily="2" charset="2"/>
              <a:buChar char="ü"/>
            </a:pPr>
            <a:endParaRPr lang="en-US" sz="1300" dirty="0">
              <a:solidFill>
                <a:schemeClr val="accent2"/>
              </a:solidFill>
              <a:latin typeface="Times New Roman" pitchFamily="18" charset="0"/>
              <a:cs typeface="Times New Roman" pitchFamily="18" charset="0"/>
            </a:endParaRPr>
          </a:p>
          <a:p>
            <a:pPr algn="just">
              <a:buFont typeface="Wingdings" pitchFamily="2" charset="2"/>
              <a:buChar char="ü"/>
            </a:pPr>
            <a:r>
              <a:rPr lang="en-US" sz="1300" b="1" dirty="0">
                <a:solidFill>
                  <a:schemeClr val="accent2"/>
                </a:solidFill>
                <a:latin typeface="Times New Roman" pitchFamily="18" charset="0"/>
                <a:cs typeface="Times New Roman" pitchFamily="18" charset="0"/>
              </a:rPr>
              <a:t>Continuous Testing:</a:t>
            </a:r>
            <a:r>
              <a:rPr lang="en-US" sz="1300" dirty="0">
                <a:solidFill>
                  <a:schemeClr val="accent2"/>
                </a:solidFill>
                <a:latin typeface="Times New Roman" pitchFamily="18" charset="0"/>
                <a:cs typeface="Times New Roman" pitchFamily="18" charset="0"/>
              </a:rPr>
              <a:t> Each increment was fully tested before moving to the next, ensuring quality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2" name="Google Shape;632;p41"/>
          <p:cNvSpPr txBox="1">
            <a:spLocks noGrp="1"/>
          </p:cNvSpPr>
          <p:nvPr>
            <p:ph type="title"/>
          </p:nvPr>
        </p:nvSpPr>
        <p:spPr>
          <a:xfrm>
            <a:off x="659040" y="309557"/>
            <a:ext cx="7704000" cy="572700"/>
          </a:xfrm>
          <a:prstGeom prst="rect">
            <a:avLst/>
          </a:prstGeom>
        </p:spPr>
        <p:txBody>
          <a:bodyPr spcFirstLastPara="1" wrap="square" lIns="91425" tIns="91425" rIns="91425" bIns="91425" anchor="t" anchorCtr="0">
            <a:noAutofit/>
          </a:bodyPr>
          <a:lstStyle/>
          <a:p>
            <a:r>
              <a:rPr lang="en-US" dirty="0"/>
              <a:t>Why Not Other Models?</a:t>
            </a:r>
            <a:br>
              <a:rPr lang="en-US" dirty="0"/>
            </a:br>
            <a:br>
              <a:rPr lang="en-US" dirty="0"/>
            </a:br>
            <a:endParaRPr/>
          </a:p>
        </p:txBody>
      </p:sp>
      <p:graphicFrame>
        <p:nvGraphicFramePr>
          <p:cNvPr id="34" name="Table 33"/>
          <p:cNvGraphicFramePr>
            <a:graphicFrameLocks noGrp="1"/>
          </p:cNvGraphicFramePr>
          <p:nvPr>
            <p:extLst>
              <p:ext uri="{D42A27DB-BD31-4B8C-83A1-F6EECF244321}">
                <p14:modId xmlns:p14="http://schemas.microsoft.com/office/powerpoint/2010/main" val="3937883072"/>
              </p:ext>
            </p:extLst>
          </p:nvPr>
        </p:nvGraphicFramePr>
        <p:xfrm>
          <a:off x="650240" y="1074844"/>
          <a:ext cx="7802880" cy="3849370"/>
        </p:xfrm>
        <a:graphic>
          <a:graphicData uri="http://schemas.openxmlformats.org/drawingml/2006/table">
            <a:tbl>
              <a:tblPr firstRow="1" bandRow="1">
                <a:tableStyleId>{3C2FFA5D-87B4-456A-9821-1D502468CF0F}</a:tableStyleId>
              </a:tblPr>
              <a:tblGrid>
                <a:gridCol w="2600960">
                  <a:extLst>
                    <a:ext uri="{9D8B030D-6E8A-4147-A177-3AD203B41FA5}">
                      <a16:colId xmlns:a16="http://schemas.microsoft.com/office/drawing/2014/main" val="20000"/>
                    </a:ext>
                  </a:extLst>
                </a:gridCol>
                <a:gridCol w="1263394">
                  <a:extLst>
                    <a:ext uri="{9D8B030D-6E8A-4147-A177-3AD203B41FA5}">
                      <a16:colId xmlns:a16="http://schemas.microsoft.com/office/drawing/2014/main" val="20001"/>
                    </a:ext>
                  </a:extLst>
                </a:gridCol>
                <a:gridCol w="3938526">
                  <a:extLst>
                    <a:ext uri="{9D8B030D-6E8A-4147-A177-3AD203B41FA5}">
                      <a16:colId xmlns:a16="http://schemas.microsoft.com/office/drawing/2014/main" val="20002"/>
                    </a:ext>
                  </a:extLst>
                </a:gridCol>
              </a:tblGrid>
              <a:tr h="518481">
                <a:tc>
                  <a:txBody>
                    <a:bodyPr/>
                    <a:lstStyle/>
                    <a:p>
                      <a:pPr algn="ctr">
                        <a:lnSpc>
                          <a:spcPct val="150000"/>
                        </a:lnSpc>
                      </a:pPr>
                      <a:r>
                        <a:rPr lang="en-US" sz="1400" b="1" i="0" u="none" strike="noStrike" cap="none" dirty="0">
                          <a:solidFill>
                            <a:schemeClr val="lt1"/>
                          </a:solidFill>
                          <a:latin typeface="Times New Roman" pitchFamily="18" charset="0"/>
                          <a:ea typeface="+mn-ea"/>
                          <a:cs typeface="Times New Roman" pitchFamily="18" charset="0"/>
                          <a:sym typeface="Arial"/>
                        </a:rPr>
                        <a:t>Model</a:t>
                      </a:r>
                      <a:endParaRPr lang="en-US" dirty="0">
                        <a:latin typeface="Times New Roman" pitchFamily="18" charset="0"/>
                        <a:cs typeface="Times New Roman" pitchFamily="18" charset="0"/>
                      </a:endParaRPr>
                    </a:p>
                  </a:txBody>
                  <a:tcPr/>
                </a:tc>
                <a:tc>
                  <a:txBody>
                    <a:bodyPr/>
                    <a:lstStyle/>
                    <a:p>
                      <a:pPr algn="ctr"/>
                      <a:r>
                        <a:rPr lang="en-US" dirty="0">
                          <a:solidFill>
                            <a:srgbClr val="FFFFFF"/>
                          </a:solidFill>
                          <a:latin typeface="Times New Roman" pitchFamily="18" charset="0"/>
                          <a:cs typeface="Times New Roman" pitchFamily="18" charset="0"/>
                        </a:rPr>
                        <a:t>Suitable?</a:t>
                      </a:r>
                    </a:p>
                  </a:txBody>
                  <a:tcPr marL="142875" marR="142875" marT="142875" marB="142875" anchor="ctr"/>
                </a:tc>
                <a:tc>
                  <a:txBody>
                    <a:bodyPr/>
                    <a:lstStyle/>
                    <a:p>
                      <a:pPr algn="ctr"/>
                      <a:r>
                        <a:rPr lang="en-US" sz="1400" b="1" i="0" u="none" strike="noStrike" cap="none" dirty="0">
                          <a:solidFill>
                            <a:schemeClr val="lt1"/>
                          </a:solidFill>
                          <a:latin typeface="Times New Roman" pitchFamily="18" charset="0"/>
                          <a:ea typeface="+mn-ea"/>
                          <a:cs typeface="Times New Roman" pitchFamily="18" charset="0"/>
                          <a:sym typeface="Arial"/>
                        </a:rPr>
                        <a:t>Reason</a:t>
                      </a:r>
                      <a:endParaRPr lang="en-US" dirty="0">
                        <a:solidFill>
                          <a:srgbClr val="FFFFFF"/>
                        </a:solidFill>
                        <a:latin typeface="Times New Roman" pitchFamily="18" charset="0"/>
                        <a:cs typeface="Times New Roman" pitchFamily="18" charset="0"/>
                      </a:endParaRPr>
                    </a:p>
                  </a:txBody>
                  <a:tcPr marL="142875" marR="142875" marT="142875" marB="142875" anchor="ctr"/>
                </a:tc>
                <a:extLst>
                  <a:ext uri="{0D108BD9-81ED-4DB2-BD59-A6C34878D82A}">
                    <a16:rowId xmlns:a16="http://schemas.microsoft.com/office/drawing/2014/main" val="10000"/>
                  </a:ext>
                </a:extLst>
              </a:tr>
              <a:tr h="668348">
                <a:tc>
                  <a:txBody>
                    <a:bodyPr/>
                    <a:lstStyle/>
                    <a:p>
                      <a:pPr algn="ctr"/>
                      <a:r>
                        <a:rPr lang="en-US" sz="1400" b="1" i="0" u="none" strike="noStrike" cap="none" dirty="0">
                          <a:solidFill>
                            <a:schemeClr val="dk1"/>
                          </a:solidFill>
                          <a:latin typeface="Times New Roman" pitchFamily="18" charset="0"/>
                          <a:ea typeface="+mn-ea"/>
                          <a:cs typeface="Times New Roman" pitchFamily="18" charset="0"/>
                          <a:sym typeface="Arial"/>
                        </a:rPr>
                        <a:t>Waterfall Model</a:t>
                      </a:r>
                      <a:endParaRPr lang="en-US" dirty="0">
                        <a:latin typeface="Times New Roman" pitchFamily="18" charset="0"/>
                        <a:cs typeface="Times New Roman" pitchFamily="18" charset="0"/>
                      </a:endParaRPr>
                    </a:p>
                  </a:txBody>
                  <a:tcPr/>
                </a:tc>
                <a:tc>
                  <a:txBody>
                    <a:bodyPr/>
                    <a:lstStyle/>
                    <a:p>
                      <a:pPr algn="ctr"/>
                      <a:r>
                        <a:rPr lang="en-US" sz="1400" b="1" i="0" u="none" strike="noStrike" cap="none" dirty="0">
                          <a:solidFill>
                            <a:srgbClr val="FF0000"/>
                          </a:solidFill>
                          <a:latin typeface="Times New Roman" pitchFamily="18" charset="0"/>
                          <a:ea typeface="+mn-ea"/>
                          <a:cs typeface="Times New Roman" pitchFamily="18" charset="0"/>
                          <a:sym typeface="Arial"/>
                        </a:rPr>
                        <a:t>No</a:t>
                      </a:r>
                      <a:endParaRPr lang="en-US" dirty="0">
                        <a:solidFill>
                          <a:srgbClr val="FF0000"/>
                        </a:solidFill>
                        <a:latin typeface="Times New Roman" pitchFamily="18" charset="0"/>
                        <a:cs typeface="Times New Roman" pitchFamily="18" charset="0"/>
                      </a:endParaRPr>
                    </a:p>
                  </a:txBody>
                  <a:tcPr/>
                </a:tc>
                <a:tc>
                  <a:txBody>
                    <a:bodyPr/>
                    <a:lstStyle/>
                    <a:p>
                      <a:r>
                        <a:rPr lang="en-US" sz="1400" b="0" i="0" u="none" strike="noStrike" cap="none" dirty="0">
                          <a:solidFill>
                            <a:schemeClr val="dk1"/>
                          </a:solidFill>
                          <a:latin typeface="Times New Roman" pitchFamily="18" charset="0"/>
                          <a:ea typeface="+mn-ea"/>
                          <a:cs typeface="Times New Roman" pitchFamily="18" charset="0"/>
                          <a:sym typeface="Arial"/>
                        </a:rPr>
                        <a:t>Requirements were not completely defined upfront; changes were expected during development</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538271">
                <a:tc>
                  <a:txBody>
                    <a:bodyPr/>
                    <a:lstStyle/>
                    <a:p>
                      <a:pPr algn="ctr"/>
                      <a:r>
                        <a:rPr lang="en-US" sz="1400" b="1" i="0" u="none" strike="noStrike" cap="none" dirty="0">
                          <a:solidFill>
                            <a:schemeClr val="dk1"/>
                          </a:solidFill>
                          <a:latin typeface="Times New Roman" pitchFamily="18" charset="0"/>
                          <a:ea typeface="+mn-ea"/>
                          <a:cs typeface="Times New Roman" pitchFamily="18" charset="0"/>
                          <a:sym typeface="Arial"/>
                        </a:rPr>
                        <a:t>Prototyping</a:t>
                      </a:r>
                      <a:endParaRPr lang="en-US" dirty="0">
                        <a:latin typeface="Times New Roman" pitchFamily="18" charset="0"/>
                        <a:cs typeface="Times New Roman" pitchFamily="18" charset="0"/>
                      </a:endParaRPr>
                    </a:p>
                  </a:txBody>
                  <a:tcPr/>
                </a:tc>
                <a:tc>
                  <a:txBody>
                    <a:bodyPr/>
                    <a:lstStyle/>
                    <a:p>
                      <a:pPr algn="ctr"/>
                      <a:r>
                        <a:rPr lang="en-US" sz="1400" b="1" i="0" u="none" strike="noStrike" cap="none" dirty="0">
                          <a:solidFill>
                            <a:srgbClr val="FF0000"/>
                          </a:solidFill>
                          <a:latin typeface="Times New Roman" pitchFamily="18" charset="0"/>
                          <a:ea typeface="+mn-ea"/>
                          <a:cs typeface="Times New Roman" pitchFamily="18" charset="0"/>
                          <a:sym typeface="Arial"/>
                        </a:rPr>
                        <a:t>No</a:t>
                      </a:r>
                      <a:endParaRPr lang="en-US" dirty="0">
                        <a:solidFill>
                          <a:srgbClr val="FF0000"/>
                        </a:solidFill>
                        <a:latin typeface="Times New Roman" pitchFamily="18" charset="0"/>
                        <a:cs typeface="Times New Roman" pitchFamily="18" charset="0"/>
                      </a:endParaRPr>
                    </a:p>
                  </a:txBody>
                  <a:tcPr/>
                </a:tc>
                <a:tc>
                  <a:txBody>
                    <a:bodyPr/>
                    <a:lstStyle/>
                    <a:p>
                      <a:r>
                        <a:rPr lang="en-US" sz="1400" b="0" i="0" u="none" strike="noStrike" cap="none" dirty="0">
                          <a:solidFill>
                            <a:schemeClr val="dk1"/>
                          </a:solidFill>
                          <a:latin typeface="Times New Roman" pitchFamily="18" charset="0"/>
                          <a:ea typeface="+mn-ea"/>
                          <a:cs typeface="Times New Roman" pitchFamily="18" charset="0"/>
                          <a:sym typeface="Arial"/>
                        </a:rPr>
                        <a:t>Not just a prototype needed; required a fully functional, production-ready system</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538271">
                <a:tc>
                  <a:txBody>
                    <a:bodyPr/>
                    <a:lstStyle/>
                    <a:p>
                      <a:pPr algn="ctr"/>
                      <a:r>
                        <a:rPr lang="en-US" sz="1400" b="1" i="0" u="none" strike="noStrike" cap="none" dirty="0">
                          <a:solidFill>
                            <a:schemeClr val="dk1"/>
                          </a:solidFill>
                          <a:latin typeface="Times New Roman" pitchFamily="18" charset="0"/>
                          <a:ea typeface="+mn-ea"/>
                          <a:cs typeface="Times New Roman" pitchFamily="18" charset="0"/>
                          <a:sym typeface="Arial"/>
                        </a:rPr>
                        <a:t>Spiral Model</a:t>
                      </a:r>
                      <a:endParaRPr lang="en-US" dirty="0">
                        <a:latin typeface="Times New Roman" pitchFamily="18" charset="0"/>
                        <a:cs typeface="Times New Roman" pitchFamily="18" charset="0"/>
                      </a:endParaRPr>
                    </a:p>
                  </a:txBody>
                  <a:tcPr/>
                </a:tc>
                <a:tc>
                  <a:txBody>
                    <a:bodyPr/>
                    <a:lstStyle/>
                    <a:p>
                      <a:pPr algn="ctr"/>
                      <a:r>
                        <a:rPr lang="en-US" sz="1400" b="1" i="0" u="none" strike="noStrike" cap="none" dirty="0">
                          <a:solidFill>
                            <a:srgbClr val="FF0000"/>
                          </a:solidFill>
                          <a:latin typeface="Times New Roman" pitchFamily="18" charset="0"/>
                          <a:ea typeface="+mn-ea"/>
                          <a:cs typeface="Times New Roman" pitchFamily="18" charset="0"/>
                          <a:sym typeface="Arial"/>
                        </a:rPr>
                        <a:t>No</a:t>
                      </a:r>
                      <a:endParaRPr lang="en-US" dirty="0">
                        <a:solidFill>
                          <a:srgbClr val="FF0000"/>
                        </a:solidFill>
                        <a:latin typeface="Times New Roman" pitchFamily="18" charset="0"/>
                        <a:cs typeface="Times New Roman" pitchFamily="18" charset="0"/>
                      </a:endParaRPr>
                    </a:p>
                  </a:txBody>
                  <a:tcPr/>
                </a:tc>
                <a:tc>
                  <a:txBody>
                    <a:bodyPr/>
                    <a:lstStyle/>
                    <a:p>
                      <a:r>
                        <a:rPr lang="en-US" sz="1400" b="0" i="0" u="none" strike="noStrike" cap="none" dirty="0">
                          <a:solidFill>
                            <a:schemeClr val="dk1"/>
                          </a:solidFill>
                          <a:latin typeface="Times New Roman" pitchFamily="18" charset="0"/>
                          <a:ea typeface="+mn-ea"/>
                          <a:cs typeface="Times New Roman" pitchFamily="18" charset="0"/>
                          <a:sym typeface="Arial"/>
                        </a:rPr>
                        <a:t>Too complex for a university project; requires extensive risk assessment expertise</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740122">
                <a:tc>
                  <a:txBody>
                    <a:bodyPr/>
                    <a:lstStyle/>
                    <a:p>
                      <a:pPr algn="ctr"/>
                      <a:r>
                        <a:rPr lang="en-US" sz="1400" b="1" i="0" u="none" strike="noStrike" cap="none" dirty="0">
                          <a:solidFill>
                            <a:schemeClr val="dk1"/>
                          </a:solidFill>
                          <a:latin typeface="Times New Roman" pitchFamily="18" charset="0"/>
                          <a:ea typeface="+mn-ea"/>
                          <a:cs typeface="Times New Roman" pitchFamily="18" charset="0"/>
                          <a:sym typeface="Arial"/>
                        </a:rPr>
                        <a:t>Evolutionary Development</a:t>
                      </a:r>
                      <a:endParaRPr lang="en-US" dirty="0">
                        <a:latin typeface="Times New Roman" pitchFamily="18" charset="0"/>
                        <a:cs typeface="Times New Roman" pitchFamily="18" charset="0"/>
                      </a:endParaRPr>
                    </a:p>
                  </a:txBody>
                  <a:tcPr/>
                </a:tc>
                <a:tc>
                  <a:txBody>
                    <a:bodyPr/>
                    <a:lstStyle/>
                    <a:p>
                      <a:pPr algn="ctr"/>
                      <a:r>
                        <a:rPr lang="en-US" sz="1400" b="1" i="0" u="none" strike="noStrike" cap="none" dirty="0">
                          <a:solidFill>
                            <a:srgbClr val="FF0000"/>
                          </a:solidFill>
                          <a:latin typeface="Times New Roman" pitchFamily="18" charset="0"/>
                          <a:ea typeface="+mn-ea"/>
                          <a:cs typeface="Times New Roman" pitchFamily="18" charset="0"/>
                          <a:sym typeface="Arial"/>
                        </a:rPr>
                        <a:t>Partial</a:t>
                      </a:r>
                      <a:endParaRPr lang="en-US" dirty="0">
                        <a:solidFill>
                          <a:srgbClr val="FF0000"/>
                        </a:solidFill>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While some evolution occurred, the structured incremental approach provided better control</a:t>
                      </a:r>
                    </a:p>
                  </a:txBody>
                  <a:tcPr marL="142875" marR="142875" marT="142875" marB="142875" anchor="ctr"/>
                </a:tc>
                <a:extLst>
                  <a:ext uri="{0D108BD9-81ED-4DB2-BD59-A6C34878D82A}">
                    <a16:rowId xmlns:a16="http://schemas.microsoft.com/office/drawing/2014/main" val="10004"/>
                  </a:ext>
                </a:extLst>
              </a:tr>
              <a:tr h="845877">
                <a:tc>
                  <a:txBody>
                    <a:bodyPr/>
                    <a:lstStyle/>
                    <a:p>
                      <a:pPr algn="ctr"/>
                      <a:r>
                        <a:rPr lang="en-US" b="1" dirty="0">
                          <a:latin typeface="Times New Roman" pitchFamily="18" charset="0"/>
                          <a:cs typeface="Times New Roman" pitchFamily="18" charset="0"/>
                        </a:rPr>
                        <a:t>Iterative Model</a:t>
                      </a:r>
                      <a:endParaRPr lang="en-US" dirty="0">
                        <a:latin typeface="Times New Roman" pitchFamily="18" charset="0"/>
                        <a:cs typeface="Times New Roman" pitchFamily="18" charset="0"/>
                      </a:endParaRPr>
                    </a:p>
                  </a:txBody>
                  <a:tcPr marL="142875" marR="142875" marT="142875" marB="142875" anchor="ctr"/>
                </a:tc>
                <a:tc>
                  <a:txBody>
                    <a:bodyPr/>
                    <a:lstStyle/>
                    <a:p>
                      <a:pPr algn="ctr"/>
                      <a:r>
                        <a:rPr lang="en-US" b="1" dirty="0">
                          <a:solidFill>
                            <a:srgbClr val="28A745"/>
                          </a:solidFill>
                          <a:latin typeface="Times New Roman" pitchFamily="18" charset="0"/>
                          <a:cs typeface="Times New Roman" pitchFamily="18" charset="0"/>
                        </a:rPr>
                        <a:t>✓</a:t>
                      </a:r>
                      <a:r>
                        <a:rPr lang="en-US" sz="1400" b="1" i="0" u="none" strike="noStrike" cap="none" dirty="0">
                          <a:solidFill>
                            <a:srgbClr val="00B050"/>
                          </a:solidFill>
                          <a:latin typeface="Times New Roman" pitchFamily="18" charset="0"/>
                          <a:ea typeface="+mn-ea"/>
                          <a:cs typeface="Times New Roman" pitchFamily="18" charset="0"/>
                          <a:sym typeface="Arial"/>
                        </a:rPr>
                        <a:t>Yes</a:t>
                      </a:r>
                      <a:endParaRPr lang="en-US" b="1" dirty="0">
                        <a:solidFill>
                          <a:srgbClr val="00B050"/>
                        </a:solidFill>
                        <a:latin typeface="Times New Roman" pitchFamily="18" charset="0"/>
                        <a:cs typeface="Times New Roman" pitchFamily="18" charset="0"/>
                      </a:endParaRPr>
                    </a:p>
                  </a:txBody>
                  <a:tcPr marL="142875" marR="142875" marT="142875" marB="142875" anchor="ctr"/>
                </a:tc>
                <a:tc>
                  <a:txBody>
                    <a:bodyPr/>
                    <a:lstStyle/>
                    <a:p>
                      <a:r>
                        <a:rPr lang="en-US" sz="1400" b="0" i="0" u="none" strike="noStrike" cap="none" dirty="0">
                          <a:solidFill>
                            <a:schemeClr val="dk1"/>
                          </a:solidFill>
                          <a:latin typeface="Times New Roman" pitchFamily="18" charset="0"/>
                          <a:ea typeface="+mn-ea"/>
                          <a:cs typeface="Times New Roman" pitchFamily="18" charset="0"/>
                          <a:sym typeface="Arial"/>
                        </a:rPr>
                        <a:t>Perfect fit: modular system, manageable complexity, ability to deliver working parts early</a:t>
                      </a:r>
                      <a:endParaRPr lang="en-US" dirty="0">
                        <a:latin typeface="Times New Roman" pitchFamily="18" charset="0"/>
                        <a:cs typeface="Times New Roman" pitchFamily="18" charset="0"/>
                      </a:endParaRPr>
                    </a:p>
                  </a:txBody>
                  <a:tcPr marL="142875" marR="142875" marT="142875" marB="14287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4" name="Google Shape;664;p42"/>
          <p:cNvSpPr txBox="1">
            <a:spLocks noGrp="1"/>
          </p:cNvSpPr>
          <p:nvPr>
            <p:ph type="title"/>
          </p:nvPr>
        </p:nvSpPr>
        <p:spPr>
          <a:xfrm>
            <a:off x="720000" y="363749"/>
            <a:ext cx="7704000" cy="572700"/>
          </a:xfrm>
          <a:prstGeom prst="rect">
            <a:avLst/>
          </a:prstGeom>
        </p:spPr>
        <p:txBody>
          <a:bodyPr spcFirstLastPara="1" wrap="square" lIns="91425" tIns="91425" rIns="91425" bIns="91425" anchor="t" anchorCtr="0">
            <a:noAutofit/>
          </a:bodyPr>
          <a:lstStyle/>
          <a:p>
            <a:r>
              <a:rPr lang="en-US" sz="2400" dirty="0"/>
              <a:t>Evidence of Incremental Development</a:t>
            </a:r>
          </a:p>
        </p:txBody>
      </p:sp>
      <p:sp>
        <p:nvSpPr>
          <p:cNvPr id="69" name="Rounded Rectangle 68"/>
          <p:cNvSpPr/>
          <p:nvPr/>
        </p:nvSpPr>
        <p:spPr>
          <a:xfrm>
            <a:off x="765387" y="1076959"/>
            <a:ext cx="7084907" cy="28312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200" b="1" dirty="0">
                <a:solidFill>
                  <a:schemeClr val="accent2"/>
                </a:solidFill>
                <a:latin typeface="Times New Roman" pitchFamily="18" charset="0"/>
                <a:cs typeface="Times New Roman" pitchFamily="18" charset="0"/>
              </a:rPr>
              <a:t>Observable Patterns in the Project</a:t>
            </a:r>
          </a:p>
          <a:p>
            <a:endParaRPr lang="en-US" sz="1200" b="1" dirty="0">
              <a:solidFill>
                <a:schemeClr val="accent2"/>
              </a:solidFill>
              <a:latin typeface="Times New Roman" pitchFamily="18" charset="0"/>
              <a:cs typeface="Times New Roman" pitchFamily="18" charset="0"/>
            </a:endParaRPr>
          </a:p>
          <a:p>
            <a:pPr>
              <a:buFont typeface="Wingdings" pitchFamily="2" charset="2"/>
              <a:buChar char="ü"/>
            </a:pPr>
            <a:r>
              <a:rPr lang="en-US" sz="1200" b="1" dirty="0">
                <a:solidFill>
                  <a:schemeClr val="accent2"/>
                </a:solidFill>
                <a:latin typeface="Times New Roman" pitchFamily="18" charset="0"/>
                <a:cs typeface="Times New Roman" pitchFamily="18" charset="0"/>
              </a:rPr>
              <a:t>Modular Architecture:</a:t>
            </a:r>
            <a:r>
              <a:rPr lang="en-US" sz="1200" dirty="0">
                <a:solidFill>
                  <a:schemeClr val="accent2"/>
                </a:solidFill>
                <a:latin typeface="Times New Roman" pitchFamily="18" charset="0"/>
                <a:cs typeface="Times New Roman" pitchFamily="18" charset="0"/>
              </a:rPr>
              <a:t> Clear separation between authentication module, appointment module, prescription module, and admin module</a:t>
            </a:r>
          </a:p>
          <a:p>
            <a:pPr>
              <a:buFont typeface="Wingdings" pitchFamily="2" charset="2"/>
              <a:buChar char="ü"/>
            </a:pPr>
            <a:endParaRPr lang="en-US" sz="1200" dirty="0">
              <a:solidFill>
                <a:schemeClr val="accent2"/>
              </a:solidFill>
              <a:latin typeface="Times New Roman" pitchFamily="18" charset="0"/>
              <a:cs typeface="Times New Roman" pitchFamily="18" charset="0"/>
            </a:endParaRPr>
          </a:p>
          <a:p>
            <a:pPr>
              <a:buFont typeface="Wingdings" pitchFamily="2" charset="2"/>
              <a:buChar char="ü"/>
            </a:pPr>
            <a:r>
              <a:rPr lang="en-US" sz="1200" b="1" dirty="0">
                <a:solidFill>
                  <a:schemeClr val="accent2"/>
                </a:solidFill>
                <a:latin typeface="Times New Roman" pitchFamily="18" charset="0"/>
                <a:cs typeface="Times New Roman" pitchFamily="18" charset="0"/>
              </a:rPr>
              <a:t>Progressive Feature Addition:</a:t>
            </a:r>
            <a:r>
              <a:rPr lang="en-US" sz="1200" dirty="0">
                <a:solidFill>
                  <a:schemeClr val="accent2"/>
                </a:solidFill>
                <a:latin typeface="Times New Roman" pitchFamily="18" charset="0"/>
                <a:cs typeface="Times New Roman" pitchFamily="18" charset="0"/>
              </a:rPr>
              <a:t> Started with basic CRUD operations, then added file uploads, then integrated video capabilities</a:t>
            </a:r>
          </a:p>
          <a:p>
            <a:pPr>
              <a:buFont typeface="Wingdings" pitchFamily="2" charset="2"/>
              <a:buChar char="ü"/>
            </a:pPr>
            <a:endParaRPr lang="en-US" sz="1200" dirty="0">
              <a:solidFill>
                <a:schemeClr val="accent2"/>
              </a:solidFill>
              <a:latin typeface="Times New Roman" pitchFamily="18" charset="0"/>
              <a:cs typeface="Times New Roman" pitchFamily="18" charset="0"/>
            </a:endParaRPr>
          </a:p>
          <a:p>
            <a:pPr>
              <a:buFont typeface="Wingdings" pitchFamily="2" charset="2"/>
              <a:buChar char="ü"/>
            </a:pPr>
            <a:r>
              <a:rPr lang="en-US" sz="1200" b="1" dirty="0">
                <a:solidFill>
                  <a:schemeClr val="accent2"/>
                </a:solidFill>
                <a:latin typeface="Times New Roman" pitchFamily="18" charset="0"/>
                <a:cs typeface="Times New Roman" pitchFamily="18" charset="0"/>
              </a:rPr>
              <a:t>Independent Testing:</a:t>
            </a:r>
            <a:r>
              <a:rPr lang="en-US" sz="1200" dirty="0">
                <a:solidFill>
                  <a:schemeClr val="accent2"/>
                </a:solidFill>
                <a:latin typeface="Times New Roman" pitchFamily="18" charset="0"/>
                <a:cs typeface="Times New Roman" pitchFamily="18" charset="0"/>
              </a:rPr>
              <a:t> Each module could be tested independently before integration</a:t>
            </a:r>
          </a:p>
          <a:p>
            <a:pPr>
              <a:buFont typeface="Wingdings" pitchFamily="2" charset="2"/>
              <a:buChar char="ü"/>
            </a:pPr>
            <a:endParaRPr lang="en-US" sz="1200" dirty="0">
              <a:solidFill>
                <a:schemeClr val="accent2"/>
              </a:solidFill>
              <a:latin typeface="Times New Roman" pitchFamily="18" charset="0"/>
              <a:cs typeface="Times New Roman" pitchFamily="18" charset="0"/>
            </a:endParaRPr>
          </a:p>
          <a:p>
            <a:pPr>
              <a:buFont typeface="Wingdings" pitchFamily="2" charset="2"/>
              <a:buChar char="ü"/>
            </a:pPr>
            <a:r>
              <a:rPr lang="en-US" sz="1200" b="1" dirty="0">
                <a:solidFill>
                  <a:schemeClr val="accent2"/>
                </a:solidFill>
                <a:latin typeface="Times New Roman" pitchFamily="18" charset="0"/>
                <a:cs typeface="Times New Roman" pitchFamily="18" charset="0"/>
              </a:rPr>
              <a:t>Layered Database Design:</a:t>
            </a:r>
            <a:r>
              <a:rPr lang="en-US" sz="1200" dirty="0">
                <a:solidFill>
                  <a:schemeClr val="accent2"/>
                </a:solidFill>
                <a:latin typeface="Times New Roman" pitchFamily="18" charset="0"/>
                <a:cs typeface="Times New Roman" pitchFamily="18" charset="0"/>
              </a:rPr>
              <a:t> Entity Framework migrations show incremental database schema evolution</a:t>
            </a:r>
          </a:p>
          <a:p>
            <a:pPr>
              <a:buFont typeface="Wingdings" pitchFamily="2" charset="2"/>
              <a:buChar char="ü"/>
            </a:pPr>
            <a:endParaRPr lang="en-US" sz="1200" dirty="0">
              <a:solidFill>
                <a:schemeClr val="accent2"/>
              </a:solidFill>
              <a:latin typeface="Times New Roman" pitchFamily="18" charset="0"/>
              <a:cs typeface="Times New Roman" pitchFamily="18" charset="0"/>
            </a:endParaRPr>
          </a:p>
          <a:p>
            <a:pPr>
              <a:buFont typeface="Wingdings" pitchFamily="2" charset="2"/>
              <a:buChar char="ü"/>
            </a:pPr>
            <a:r>
              <a:rPr lang="en-US" sz="1200" b="1" dirty="0">
                <a:solidFill>
                  <a:schemeClr val="accent2"/>
                </a:solidFill>
                <a:latin typeface="Times New Roman" pitchFamily="18" charset="0"/>
                <a:cs typeface="Times New Roman" pitchFamily="18" charset="0"/>
              </a:rPr>
              <a:t>Role-Based Progressive Access:</a:t>
            </a:r>
            <a:r>
              <a:rPr lang="en-US" sz="1200" dirty="0">
                <a:solidFill>
                  <a:schemeClr val="accent2"/>
                </a:solidFill>
                <a:latin typeface="Times New Roman" pitchFamily="18" charset="0"/>
                <a:cs typeface="Times New Roman" pitchFamily="18" charset="0"/>
              </a:rPr>
              <a:t> User roles were implemented in stages, with Patient first, then Doctor,  then Admin</a:t>
            </a:r>
          </a:p>
        </p:txBody>
      </p:sp>
      <p:sp>
        <p:nvSpPr>
          <p:cNvPr id="70" name="Rectangle 69"/>
          <p:cNvSpPr/>
          <p:nvPr/>
        </p:nvSpPr>
        <p:spPr>
          <a:xfrm>
            <a:off x="880534" y="4091099"/>
            <a:ext cx="6854613" cy="72474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b="1" dirty="0">
                <a:solidFill>
                  <a:schemeClr val="accent2"/>
                </a:solidFill>
                <a:latin typeface="Times New Roman" pitchFamily="18" charset="0"/>
                <a:cs typeface="Times New Roman" pitchFamily="18" charset="0"/>
              </a:rPr>
              <a:t>Development Flow</a:t>
            </a:r>
          </a:p>
          <a:p>
            <a:pPr algn="ctr"/>
            <a:endParaRPr lang="en-US" sz="1200" b="1" dirty="0">
              <a:solidFill>
                <a:schemeClr val="accent2"/>
              </a:solidFill>
              <a:latin typeface="Times New Roman" pitchFamily="18" charset="0"/>
              <a:cs typeface="Times New Roman" pitchFamily="18" charset="0"/>
            </a:endParaRPr>
          </a:p>
          <a:p>
            <a:r>
              <a:rPr lang="en-US" sz="1200" dirty="0">
                <a:solidFill>
                  <a:schemeClr val="accent2"/>
                </a:solidFill>
                <a:latin typeface="Times New Roman" pitchFamily="18" charset="0"/>
                <a:cs typeface="Times New Roman" pitchFamily="18" charset="0"/>
              </a:rPr>
              <a:t>Foundation (Auth &amp; DB) → Appointments → Video Sessions → Prescriptions → Admin Dashboard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8" name="Google Shape;738;p44"/>
          <p:cNvSpPr txBox="1">
            <a:spLocks noGrp="1"/>
          </p:cNvSpPr>
          <p:nvPr>
            <p:ph type="title"/>
          </p:nvPr>
        </p:nvSpPr>
        <p:spPr>
          <a:xfrm>
            <a:off x="645493" y="309558"/>
            <a:ext cx="8132747" cy="572700"/>
          </a:xfrm>
          <a:prstGeom prst="rect">
            <a:avLst/>
          </a:prstGeom>
        </p:spPr>
        <p:txBody>
          <a:bodyPr spcFirstLastPara="1" wrap="square" lIns="91425" tIns="91425" rIns="91425" bIns="91425" anchor="t" anchorCtr="0">
            <a:noAutofit/>
          </a:bodyPr>
          <a:lstStyle/>
          <a:p>
            <a:r>
              <a:rPr lang="en-US" dirty="0"/>
              <a:t>Challenges with Incremental Approach</a:t>
            </a:r>
          </a:p>
        </p:txBody>
      </p:sp>
      <p:sp>
        <p:nvSpPr>
          <p:cNvPr id="82" name="Rounded Rectangle 81"/>
          <p:cNvSpPr/>
          <p:nvPr/>
        </p:nvSpPr>
        <p:spPr>
          <a:xfrm>
            <a:off x="765387" y="1076959"/>
            <a:ext cx="7084907" cy="174752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200" b="1" dirty="0">
                <a:solidFill>
                  <a:schemeClr val="accent2"/>
                </a:solidFill>
              </a:rPr>
              <a:t>Challenges Faced</a:t>
            </a:r>
          </a:p>
          <a:p>
            <a:endParaRPr lang="en-US" sz="1200" b="1" dirty="0">
              <a:solidFill>
                <a:schemeClr val="accent2"/>
              </a:solidFill>
            </a:endParaRPr>
          </a:p>
          <a:p>
            <a:pPr>
              <a:buFont typeface="Wingdings" pitchFamily="2" charset="2"/>
              <a:buChar char="ü"/>
            </a:pPr>
            <a:r>
              <a:rPr lang="en-US" sz="1200" dirty="0">
                <a:solidFill>
                  <a:schemeClr val="accent2"/>
                </a:solidFill>
              </a:rPr>
              <a:t>Mapping complex requirements (like video integration) to specific increments</a:t>
            </a:r>
          </a:p>
          <a:p>
            <a:pPr>
              <a:buFont typeface="Wingdings" pitchFamily="2" charset="2"/>
              <a:buChar char="ü"/>
            </a:pPr>
            <a:endParaRPr lang="en-US" sz="1200" dirty="0">
              <a:solidFill>
                <a:schemeClr val="accent2"/>
              </a:solidFill>
            </a:endParaRPr>
          </a:p>
          <a:p>
            <a:pPr>
              <a:buFont typeface="Wingdings" pitchFamily="2" charset="2"/>
              <a:buChar char="ü"/>
            </a:pPr>
            <a:r>
              <a:rPr lang="en-US" sz="1200" dirty="0">
                <a:solidFill>
                  <a:schemeClr val="accent2"/>
                </a:solidFill>
              </a:rPr>
              <a:t>Managing dependencies between increments (e.g., prescriptions needed appointments first)</a:t>
            </a:r>
          </a:p>
          <a:p>
            <a:pPr>
              <a:buFont typeface="Wingdings" pitchFamily="2" charset="2"/>
              <a:buChar char="ü"/>
            </a:pPr>
            <a:endParaRPr lang="en-US" sz="1200" dirty="0">
              <a:solidFill>
                <a:schemeClr val="accent2"/>
              </a:solidFill>
            </a:endParaRPr>
          </a:p>
          <a:p>
            <a:pPr>
              <a:buFont typeface="Wingdings" pitchFamily="2" charset="2"/>
              <a:buChar char="ü"/>
            </a:pPr>
            <a:r>
              <a:rPr lang="en-US" sz="1200" dirty="0">
                <a:solidFill>
                  <a:schemeClr val="accent2"/>
                </a:solidFill>
              </a:rPr>
              <a:t>Ensuring consistent design across all increments</a:t>
            </a:r>
          </a:p>
        </p:txBody>
      </p:sp>
      <p:sp>
        <p:nvSpPr>
          <p:cNvPr id="83" name="Rounded Rectangle 82"/>
          <p:cNvSpPr/>
          <p:nvPr/>
        </p:nvSpPr>
        <p:spPr>
          <a:xfrm>
            <a:off x="789091" y="2943010"/>
            <a:ext cx="7084907" cy="187282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200" b="1" dirty="0">
                <a:solidFill>
                  <a:schemeClr val="accent2"/>
                </a:solidFill>
              </a:rPr>
              <a:t>Solutions Applied</a:t>
            </a:r>
          </a:p>
          <a:p>
            <a:endParaRPr lang="en-US" sz="1200" b="1" dirty="0">
              <a:solidFill>
                <a:schemeClr val="accent2"/>
              </a:solidFill>
            </a:endParaRPr>
          </a:p>
          <a:p>
            <a:pPr marL="228600" indent="-228600">
              <a:buFont typeface="Wingdings" pitchFamily="2" charset="2"/>
              <a:buChar char="ü"/>
            </a:pPr>
            <a:r>
              <a:rPr lang="en-US" sz="1200" dirty="0">
                <a:solidFill>
                  <a:schemeClr val="accent2"/>
                </a:solidFill>
              </a:rPr>
              <a:t>Created a clear dependency map before starting development</a:t>
            </a:r>
          </a:p>
          <a:p>
            <a:pPr marL="228600" indent="-228600">
              <a:buFont typeface="Wingdings" pitchFamily="2" charset="2"/>
              <a:buChar char="ü"/>
            </a:pPr>
            <a:endParaRPr lang="en-US" sz="1200" dirty="0">
              <a:solidFill>
                <a:schemeClr val="accent2"/>
              </a:solidFill>
            </a:endParaRPr>
          </a:p>
          <a:p>
            <a:pPr marL="228600" indent="-228600">
              <a:buFont typeface="Wingdings" pitchFamily="2" charset="2"/>
              <a:buChar char="ü"/>
            </a:pPr>
            <a:r>
              <a:rPr lang="en-US" sz="1200" dirty="0">
                <a:solidFill>
                  <a:schemeClr val="accent2"/>
                </a:solidFill>
              </a:rPr>
              <a:t>Established design patterns and UI standards in Increment 1</a:t>
            </a:r>
          </a:p>
          <a:p>
            <a:pPr marL="228600" indent="-228600">
              <a:buFont typeface="Wingdings" pitchFamily="2" charset="2"/>
              <a:buChar char="ü"/>
            </a:pPr>
            <a:endParaRPr lang="en-US" sz="1200" dirty="0">
              <a:solidFill>
                <a:schemeClr val="accent2"/>
              </a:solidFill>
            </a:endParaRPr>
          </a:p>
          <a:p>
            <a:pPr marL="228600" indent="-228600">
              <a:buFont typeface="Wingdings" pitchFamily="2" charset="2"/>
              <a:buChar char="ü"/>
            </a:pPr>
            <a:r>
              <a:rPr lang="en-US" sz="1200" dirty="0">
                <a:solidFill>
                  <a:schemeClr val="accent2"/>
                </a:solidFill>
              </a:rPr>
              <a:t>Used Entity Framework Core for consistent data access across increments</a:t>
            </a:r>
          </a:p>
          <a:p>
            <a:pPr marL="228600" indent="-228600"/>
            <a:endParaRPr lang="en-US" sz="1200" dirty="0">
              <a:solidFill>
                <a:schemeClr val="accent2"/>
              </a:solidFill>
            </a:endParaRPr>
          </a:p>
          <a:p>
            <a:pPr marL="228600" indent="-228600">
              <a:buFont typeface="Wingdings" pitchFamily="2" charset="2"/>
              <a:buChar char="ü"/>
            </a:pPr>
            <a:r>
              <a:rPr lang="en-US" sz="1200" dirty="0">
                <a:solidFill>
                  <a:schemeClr val="accent2"/>
                </a:solidFill>
              </a:rPr>
              <a:t>Implemented common services and utilities in the foundation increment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 name="Google Shape;738;p44"/>
          <p:cNvSpPr txBox="1">
            <a:spLocks noGrp="1"/>
          </p:cNvSpPr>
          <p:nvPr>
            <p:ph type="title"/>
          </p:nvPr>
        </p:nvSpPr>
        <p:spPr>
          <a:xfrm>
            <a:off x="645493" y="309558"/>
            <a:ext cx="8132747" cy="572700"/>
          </a:xfrm>
          <a:prstGeom prst="rect">
            <a:avLst/>
          </a:prstGeom>
        </p:spPr>
        <p:txBody>
          <a:bodyPr spcFirstLastPara="1" wrap="square" lIns="91425" tIns="91425" rIns="91425" bIns="91425" anchor="t" anchorCtr="0">
            <a:noAutofit/>
          </a:bodyPr>
          <a:lstStyle/>
          <a:p>
            <a:pPr algn="ctr"/>
            <a:r>
              <a:rPr lang="en-US" dirty="0"/>
              <a:t>Project Outcomes</a:t>
            </a:r>
          </a:p>
        </p:txBody>
      </p:sp>
      <p:sp>
        <p:nvSpPr>
          <p:cNvPr id="9" name="Rounded Rectangle 8"/>
          <p:cNvSpPr/>
          <p:nvPr/>
        </p:nvSpPr>
        <p:spPr>
          <a:xfrm>
            <a:off x="765387" y="1076959"/>
            <a:ext cx="7531946" cy="109728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b="1" dirty="0">
                <a:solidFill>
                  <a:schemeClr val="accent2"/>
                </a:solidFill>
              </a:rPr>
              <a:t>Successful Delivery</a:t>
            </a:r>
          </a:p>
          <a:p>
            <a:pPr algn="ctr"/>
            <a:endParaRPr lang="en-US" sz="1200" b="1" dirty="0">
              <a:solidFill>
                <a:schemeClr val="accent2"/>
              </a:solidFill>
            </a:endParaRPr>
          </a:p>
          <a:p>
            <a:pPr algn="ctr"/>
            <a:r>
              <a:rPr lang="en-US" sz="1200" dirty="0">
                <a:solidFill>
                  <a:schemeClr val="accent2"/>
                </a:solidFill>
              </a:rPr>
              <a:t>The incremental approach enabled successful delivery of a fully functional telemedicine platform with all planned features.</a:t>
            </a:r>
          </a:p>
        </p:txBody>
      </p:sp>
      <p:sp>
        <p:nvSpPr>
          <p:cNvPr id="10" name="Rounded Rectangle 9"/>
          <p:cNvSpPr/>
          <p:nvPr/>
        </p:nvSpPr>
        <p:spPr>
          <a:xfrm>
            <a:off x="3589854" y="2316483"/>
            <a:ext cx="1957494" cy="1097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 Quality Maintained</a:t>
            </a:r>
          </a:p>
          <a:p>
            <a:endParaRPr lang="en-US" sz="1100" b="1" dirty="0"/>
          </a:p>
          <a:p>
            <a:r>
              <a:rPr lang="en-US" sz="1100" dirty="0"/>
              <a:t>Each increment thoroughly tested before moving forward</a:t>
            </a:r>
          </a:p>
        </p:txBody>
      </p:sp>
      <p:sp>
        <p:nvSpPr>
          <p:cNvPr id="11" name="Rounded Rectangle 10"/>
          <p:cNvSpPr/>
          <p:nvPr/>
        </p:nvSpPr>
        <p:spPr>
          <a:xfrm>
            <a:off x="782320" y="2326639"/>
            <a:ext cx="1957494" cy="1097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 All Features Delivered</a:t>
            </a:r>
          </a:p>
          <a:p>
            <a:endParaRPr lang="en-US" sz="1100" b="1" dirty="0"/>
          </a:p>
          <a:p>
            <a:r>
              <a:rPr lang="en-US" sz="1100" dirty="0"/>
              <a:t>Every planned increment was completed successfully</a:t>
            </a:r>
          </a:p>
        </p:txBody>
      </p:sp>
      <p:sp>
        <p:nvSpPr>
          <p:cNvPr id="12" name="Rounded Rectangle 11"/>
          <p:cNvSpPr/>
          <p:nvPr/>
        </p:nvSpPr>
        <p:spPr>
          <a:xfrm>
            <a:off x="6349978" y="2299549"/>
            <a:ext cx="1957494" cy="1097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 Scalable Architecture</a:t>
            </a:r>
          </a:p>
          <a:p>
            <a:endParaRPr lang="en-US" sz="1100" b="1" dirty="0"/>
          </a:p>
          <a:p>
            <a:r>
              <a:rPr lang="en-US" sz="1100" dirty="0"/>
              <a:t>Modular design allows easy addition of new features</a:t>
            </a:r>
          </a:p>
        </p:txBody>
      </p:sp>
      <p:sp>
        <p:nvSpPr>
          <p:cNvPr id="13" name="Rounded Rectangle 12"/>
          <p:cNvSpPr/>
          <p:nvPr/>
        </p:nvSpPr>
        <p:spPr>
          <a:xfrm>
            <a:off x="1761066" y="3711786"/>
            <a:ext cx="1957494" cy="1097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 Production Ready</a:t>
            </a:r>
          </a:p>
          <a:p>
            <a:endParaRPr lang="en-US" sz="1100" b="1" dirty="0"/>
          </a:p>
          <a:p>
            <a:r>
              <a:rPr lang="en-US" sz="1100" dirty="0"/>
              <a:t>System is fully functional and deployment-ready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heel(1)">
                                      <p:cBhvr>
                                        <p:cTn id="12" dur="2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heel(1)">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heel(1)">
                                      <p:cBhvr>
                                        <p:cTn id="2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Activity Diagram(Cont.)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5" name="Picture 4">
            <a:extLst>
              <a:ext uri="{FF2B5EF4-FFF2-40B4-BE49-F238E27FC236}">
                <a16:creationId xmlns:a16="http://schemas.microsoft.com/office/drawing/2014/main" id="{2259A7B8-E14A-41C5-B11C-B6A0F3F81A7F}"/>
              </a:ext>
            </a:extLst>
          </p:cNvPr>
          <p:cNvPicPr>
            <a:picLocks noChangeAspect="1"/>
          </p:cNvPicPr>
          <p:nvPr/>
        </p:nvPicPr>
        <p:blipFill>
          <a:blip r:embed="rId3"/>
          <a:stretch>
            <a:fillRect/>
          </a:stretch>
        </p:blipFill>
        <p:spPr>
          <a:xfrm>
            <a:off x="1904077" y="734608"/>
            <a:ext cx="5201376" cy="4363059"/>
          </a:xfrm>
          <a:prstGeom prst="rect">
            <a:avLst/>
          </a:prstGeom>
        </p:spPr>
      </p:pic>
      <p:pic>
        <p:nvPicPr>
          <p:cNvPr id="3" name="Picture 2">
            <a:extLst>
              <a:ext uri="{FF2B5EF4-FFF2-40B4-BE49-F238E27FC236}">
                <a16:creationId xmlns:a16="http://schemas.microsoft.com/office/drawing/2014/main" id="{641060FA-6855-40D2-B1C6-E9ED07B8FC87}"/>
              </a:ext>
            </a:extLst>
          </p:cNvPr>
          <p:cNvPicPr>
            <a:picLocks noChangeAspect="1"/>
          </p:cNvPicPr>
          <p:nvPr/>
        </p:nvPicPr>
        <p:blipFill>
          <a:blip r:embed="rId4"/>
          <a:stretch>
            <a:fillRect/>
          </a:stretch>
        </p:blipFill>
        <p:spPr>
          <a:xfrm>
            <a:off x="1921922" y="797978"/>
            <a:ext cx="5300155" cy="4325349"/>
          </a:xfrm>
          <a:prstGeom prst="rect">
            <a:avLst/>
          </a:prstGeom>
        </p:spPr>
      </p:pic>
    </p:spTree>
    <p:extLst>
      <p:ext uri="{BB962C8B-B14F-4D97-AF65-F5344CB8AC3E}">
        <p14:creationId xmlns:p14="http://schemas.microsoft.com/office/powerpoint/2010/main" val="3178576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Activity Diagram(Cont.)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5" name="Picture 4">
            <a:extLst>
              <a:ext uri="{FF2B5EF4-FFF2-40B4-BE49-F238E27FC236}">
                <a16:creationId xmlns:a16="http://schemas.microsoft.com/office/drawing/2014/main" id="{2259A7B8-E14A-41C5-B11C-B6A0F3F81A7F}"/>
              </a:ext>
            </a:extLst>
          </p:cNvPr>
          <p:cNvPicPr>
            <a:picLocks noChangeAspect="1"/>
          </p:cNvPicPr>
          <p:nvPr/>
        </p:nvPicPr>
        <p:blipFill>
          <a:blip r:embed="rId3"/>
          <a:stretch>
            <a:fillRect/>
          </a:stretch>
        </p:blipFill>
        <p:spPr>
          <a:xfrm>
            <a:off x="1883906" y="734608"/>
            <a:ext cx="5201376" cy="4363059"/>
          </a:xfrm>
          <a:prstGeom prst="rect">
            <a:avLst/>
          </a:prstGeom>
        </p:spPr>
      </p:pic>
    </p:spTree>
    <p:extLst>
      <p:ext uri="{BB962C8B-B14F-4D97-AF65-F5344CB8AC3E}">
        <p14:creationId xmlns:p14="http://schemas.microsoft.com/office/powerpoint/2010/main" val="9938959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Activity Diagram(Cont.)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5" name="Picture 4">
            <a:extLst>
              <a:ext uri="{FF2B5EF4-FFF2-40B4-BE49-F238E27FC236}">
                <a16:creationId xmlns:a16="http://schemas.microsoft.com/office/drawing/2014/main" id="{2259A7B8-E14A-41C5-B11C-B6A0F3F81A7F}"/>
              </a:ext>
            </a:extLst>
          </p:cNvPr>
          <p:cNvPicPr>
            <a:picLocks noChangeAspect="1"/>
          </p:cNvPicPr>
          <p:nvPr/>
        </p:nvPicPr>
        <p:blipFill>
          <a:blip r:embed="rId3"/>
          <a:stretch>
            <a:fillRect/>
          </a:stretch>
        </p:blipFill>
        <p:spPr>
          <a:xfrm>
            <a:off x="1883906" y="734608"/>
            <a:ext cx="5201376" cy="4363059"/>
          </a:xfrm>
          <a:prstGeom prst="rect">
            <a:avLst/>
          </a:prstGeom>
        </p:spPr>
      </p:pic>
      <p:pic>
        <p:nvPicPr>
          <p:cNvPr id="3" name="Picture 2">
            <a:extLst>
              <a:ext uri="{FF2B5EF4-FFF2-40B4-BE49-F238E27FC236}">
                <a16:creationId xmlns:a16="http://schemas.microsoft.com/office/drawing/2014/main" id="{DF67FBD7-F0EB-472B-A2E4-CF02E5E6D0F4}"/>
              </a:ext>
            </a:extLst>
          </p:cNvPr>
          <p:cNvPicPr>
            <a:picLocks noChangeAspect="1"/>
          </p:cNvPicPr>
          <p:nvPr/>
        </p:nvPicPr>
        <p:blipFill>
          <a:blip r:embed="rId4"/>
          <a:stretch>
            <a:fillRect/>
          </a:stretch>
        </p:blipFill>
        <p:spPr>
          <a:xfrm>
            <a:off x="2140209" y="791254"/>
            <a:ext cx="4863581" cy="4325349"/>
          </a:xfrm>
          <a:prstGeom prst="rect">
            <a:avLst/>
          </a:prstGeom>
        </p:spPr>
      </p:pic>
    </p:spTree>
    <p:extLst>
      <p:ext uri="{BB962C8B-B14F-4D97-AF65-F5344CB8AC3E}">
        <p14:creationId xmlns:p14="http://schemas.microsoft.com/office/powerpoint/2010/main" val="39534210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Activity Diagram(Cont.)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5" name="Picture 4">
            <a:extLst>
              <a:ext uri="{FF2B5EF4-FFF2-40B4-BE49-F238E27FC236}">
                <a16:creationId xmlns:a16="http://schemas.microsoft.com/office/drawing/2014/main" id="{2259A7B8-E14A-41C5-B11C-B6A0F3F81A7F}"/>
              </a:ext>
            </a:extLst>
          </p:cNvPr>
          <p:cNvPicPr>
            <a:picLocks noChangeAspect="1"/>
          </p:cNvPicPr>
          <p:nvPr/>
        </p:nvPicPr>
        <p:blipFill>
          <a:blip r:embed="rId3"/>
          <a:stretch>
            <a:fillRect/>
          </a:stretch>
        </p:blipFill>
        <p:spPr>
          <a:xfrm>
            <a:off x="1883906" y="734608"/>
            <a:ext cx="5201376" cy="4363059"/>
          </a:xfrm>
          <a:prstGeom prst="rect">
            <a:avLst/>
          </a:prstGeom>
        </p:spPr>
      </p:pic>
      <p:pic>
        <p:nvPicPr>
          <p:cNvPr id="3" name="Picture 2">
            <a:extLst>
              <a:ext uri="{FF2B5EF4-FFF2-40B4-BE49-F238E27FC236}">
                <a16:creationId xmlns:a16="http://schemas.microsoft.com/office/drawing/2014/main" id="{9A576A38-DCD4-4F0C-9940-078A93D0882E}"/>
              </a:ext>
            </a:extLst>
          </p:cNvPr>
          <p:cNvPicPr>
            <a:picLocks noChangeAspect="1"/>
          </p:cNvPicPr>
          <p:nvPr/>
        </p:nvPicPr>
        <p:blipFill>
          <a:blip r:embed="rId4"/>
          <a:stretch>
            <a:fillRect/>
          </a:stretch>
        </p:blipFill>
        <p:spPr>
          <a:xfrm>
            <a:off x="1730374" y="707712"/>
            <a:ext cx="5683251" cy="4408892"/>
          </a:xfrm>
          <a:prstGeom prst="rect">
            <a:avLst/>
          </a:prstGeom>
        </p:spPr>
      </p:pic>
    </p:spTree>
    <p:extLst>
      <p:ext uri="{BB962C8B-B14F-4D97-AF65-F5344CB8AC3E}">
        <p14:creationId xmlns:p14="http://schemas.microsoft.com/office/powerpoint/2010/main" val="2926315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Activity Diagram(Cont.)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46C05DB9-F861-4AE4-8AD6-EBD28AF245D1}"/>
              </a:ext>
            </a:extLst>
          </p:cNvPr>
          <p:cNvPicPr>
            <a:picLocks noChangeAspect="1"/>
          </p:cNvPicPr>
          <p:nvPr/>
        </p:nvPicPr>
        <p:blipFill>
          <a:blip r:embed="rId3"/>
          <a:stretch>
            <a:fillRect/>
          </a:stretch>
        </p:blipFill>
        <p:spPr>
          <a:xfrm>
            <a:off x="2866817" y="840438"/>
            <a:ext cx="3410365" cy="4255994"/>
          </a:xfrm>
          <a:prstGeom prst="rect">
            <a:avLst/>
          </a:prstGeom>
        </p:spPr>
      </p:pic>
    </p:spTree>
    <p:extLst>
      <p:ext uri="{BB962C8B-B14F-4D97-AF65-F5344CB8AC3E}">
        <p14:creationId xmlns:p14="http://schemas.microsoft.com/office/powerpoint/2010/main" val="1373949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Activity Diagram(Cont.)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2FFE801B-49B7-4204-93E8-41F5BC11F236}"/>
              </a:ext>
            </a:extLst>
          </p:cNvPr>
          <p:cNvPicPr>
            <a:picLocks noChangeAspect="1"/>
          </p:cNvPicPr>
          <p:nvPr/>
        </p:nvPicPr>
        <p:blipFill>
          <a:blip r:embed="rId3"/>
          <a:stretch>
            <a:fillRect/>
          </a:stretch>
        </p:blipFill>
        <p:spPr>
          <a:xfrm>
            <a:off x="2150776" y="773746"/>
            <a:ext cx="4842448" cy="4329410"/>
          </a:xfrm>
          <a:prstGeom prst="rect">
            <a:avLst/>
          </a:prstGeom>
        </p:spPr>
      </p:pic>
    </p:spTree>
    <p:extLst>
      <p:ext uri="{BB962C8B-B14F-4D97-AF65-F5344CB8AC3E}">
        <p14:creationId xmlns:p14="http://schemas.microsoft.com/office/powerpoint/2010/main" val="1358124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Activity Diagram(Cont.)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2E9B2BB2-B748-49E3-8FC2-A3F114794C52}"/>
              </a:ext>
            </a:extLst>
          </p:cNvPr>
          <p:cNvPicPr>
            <a:picLocks noChangeAspect="1"/>
          </p:cNvPicPr>
          <p:nvPr/>
        </p:nvPicPr>
        <p:blipFill>
          <a:blip r:embed="rId3"/>
          <a:stretch>
            <a:fillRect/>
          </a:stretch>
        </p:blipFill>
        <p:spPr>
          <a:xfrm>
            <a:off x="2474240" y="766480"/>
            <a:ext cx="4195519" cy="4336676"/>
          </a:xfrm>
          <a:prstGeom prst="rect">
            <a:avLst/>
          </a:prstGeom>
        </p:spPr>
      </p:pic>
    </p:spTree>
    <p:extLst>
      <p:ext uri="{BB962C8B-B14F-4D97-AF65-F5344CB8AC3E}">
        <p14:creationId xmlns:p14="http://schemas.microsoft.com/office/powerpoint/2010/main" val="3759411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Activity Diagram(Cont.)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C72EF68A-92C7-41AE-99DB-B06E3ECD43DC}"/>
              </a:ext>
            </a:extLst>
          </p:cNvPr>
          <p:cNvPicPr>
            <a:picLocks noChangeAspect="1"/>
          </p:cNvPicPr>
          <p:nvPr/>
        </p:nvPicPr>
        <p:blipFill>
          <a:blip r:embed="rId3"/>
          <a:stretch>
            <a:fillRect/>
          </a:stretch>
        </p:blipFill>
        <p:spPr>
          <a:xfrm>
            <a:off x="2484540" y="700988"/>
            <a:ext cx="4174919" cy="4408892"/>
          </a:xfrm>
          <a:prstGeom prst="rect">
            <a:avLst/>
          </a:prstGeom>
        </p:spPr>
      </p:pic>
    </p:spTree>
    <p:extLst>
      <p:ext uri="{BB962C8B-B14F-4D97-AF65-F5344CB8AC3E}">
        <p14:creationId xmlns:p14="http://schemas.microsoft.com/office/powerpoint/2010/main" val="2181304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Activity Diagram(Cont.)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1782B718-92BB-47F5-846A-6B97971B11AC}"/>
              </a:ext>
            </a:extLst>
          </p:cNvPr>
          <p:cNvPicPr>
            <a:picLocks noChangeAspect="1"/>
          </p:cNvPicPr>
          <p:nvPr/>
        </p:nvPicPr>
        <p:blipFill>
          <a:blip r:embed="rId3"/>
          <a:stretch>
            <a:fillRect/>
          </a:stretch>
        </p:blipFill>
        <p:spPr>
          <a:xfrm>
            <a:off x="1944342" y="773202"/>
            <a:ext cx="5255315" cy="4323229"/>
          </a:xfrm>
          <a:prstGeom prst="rect">
            <a:avLst/>
          </a:prstGeom>
        </p:spPr>
      </p:pic>
    </p:spTree>
    <p:extLst>
      <p:ext uri="{BB962C8B-B14F-4D97-AF65-F5344CB8AC3E}">
        <p14:creationId xmlns:p14="http://schemas.microsoft.com/office/powerpoint/2010/main" val="1685359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Swim Lane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F5ADF65E-24CE-44C7-A50A-7ED22B835A99}"/>
              </a:ext>
            </a:extLst>
          </p:cNvPr>
          <p:cNvPicPr>
            <a:picLocks noChangeAspect="1"/>
          </p:cNvPicPr>
          <p:nvPr/>
        </p:nvPicPr>
        <p:blipFill>
          <a:blip r:embed="rId3"/>
          <a:stretch>
            <a:fillRect/>
          </a:stretch>
        </p:blipFill>
        <p:spPr>
          <a:xfrm>
            <a:off x="2000250" y="707712"/>
            <a:ext cx="5143500" cy="4408892"/>
          </a:xfrm>
          <a:prstGeom prst="rect">
            <a:avLst/>
          </a:prstGeom>
        </p:spPr>
      </p:pic>
    </p:spTree>
    <p:extLst>
      <p:ext uri="{BB962C8B-B14F-4D97-AF65-F5344CB8AC3E}">
        <p14:creationId xmlns:p14="http://schemas.microsoft.com/office/powerpoint/2010/main" val="4283714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Swim Lane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CB5E527F-68C3-4ED3-84A6-C69D1E42849D}"/>
              </a:ext>
            </a:extLst>
          </p:cNvPr>
          <p:cNvPicPr>
            <a:picLocks noChangeAspect="1"/>
          </p:cNvPicPr>
          <p:nvPr/>
        </p:nvPicPr>
        <p:blipFill>
          <a:blip r:embed="rId3"/>
          <a:stretch>
            <a:fillRect/>
          </a:stretch>
        </p:blipFill>
        <p:spPr>
          <a:xfrm>
            <a:off x="2676682" y="700988"/>
            <a:ext cx="3790635" cy="4408892"/>
          </a:xfrm>
          <a:prstGeom prst="rect">
            <a:avLst/>
          </a:prstGeom>
        </p:spPr>
      </p:pic>
    </p:spTree>
    <p:extLst>
      <p:ext uri="{BB962C8B-B14F-4D97-AF65-F5344CB8AC3E}">
        <p14:creationId xmlns:p14="http://schemas.microsoft.com/office/powerpoint/2010/main" val="474615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Swim Lane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464DAB87-D622-4DB5-B94A-E7740956975A}"/>
              </a:ext>
            </a:extLst>
          </p:cNvPr>
          <p:cNvPicPr>
            <a:picLocks noChangeAspect="1"/>
          </p:cNvPicPr>
          <p:nvPr/>
        </p:nvPicPr>
        <p:blipFill>
          <a:blip r:embed="rId3"/>
          <a:stretch>
            <a:fillRect/>
          </a:stretch>
        </p:blipFill>
        <p:spPr>
          <a:xfrm>
            <a:off x="2804992" y="700988"/>
            <a:ext cx="3534016" cy="4408892"/>
          </a:xfrm>
          <a:prstGeom prst="rect">
            <a:avLst/>
          </a:prstGeom>
        </p:spPr>
      </p:pic>
    </p:spTree>
    <p:extLst>
      <p:ext uri="{BB962C8B-B14F-4D97-AF65-F5344CB8AC3E}">
        <p14:creationId xmlns:p14="http://schemas.microsoft.com/office/powerpoint/2010/main" val="1268620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Swim Lane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8F4ECE9A-8173-4209-94E8-C07B79F2A075}"/>
              </a:ext>
            </a:extLst>
          </p:cNvPr>
          <p:cNvPicPr>
            <a:picLocks noChangeAspect="1"/>
          </p:cNvPicPr>
          <p:nvPr/>
        </p:nvPicPr>
        <p:blipFill>
          <a:blip r:embed="rId3"/>
          <a:stretch>
            <a:fillRect/>
          </a:stretch>
        </p:blipFill>
        <p:spPr>
          <a:xfrm>
            <a:off x="2657717" y="700988"/>
            <a:ext cx="3828566" cy="4408892"/>
          </a:xfrm>
          <a:prstGeom prst="rect">
            <a:avLst/>
          </a:prstGeom>
        </p:spPr>
      </p:pic>
    </p:spTree>
    <p:extLst>
      <p:ext uri="{BB962C8B-B14F-4D97-AF65-F5344CB8AC3E}">
        <p14:creationId xmlns:p14="http://schemas.microsoft.com/office/powerpoint/2010/main" val="4184447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Swim Lane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95B1A923-4175-4635-8110-8FA1B06CE969}"/>
              </a:ext>
            </a:extLst>
          </p:cNvPr>
          <p:cNvPicPr>
            <a:picLocks noChangeAspect="1"/>
          </p:cNvPicPr>
          <p:nvPr/>
        </p:nvPicPr>
        <p:blipFill>
          <a:blip r:embed="rId3"/>
          <a:stretch>
            <a:fillRect/>
          </a:stretch>
        </p:blipFill>
        <p:spPr>
          <a:xfrm>
            <a:off x="2945044" y="759756"/>
            <a:ext cx="3253912" cy="4343400"/>
          </a:xfrm>
          <a:prstGeom prst="rect">
            <a:avLst/>
          </a:prstGeom>
        </p:spPr>
      </p:pic>
    </p:spTree>
    <p:extLst>
      <p:ext uri="{BB962C8B-B14F-4D97-AF65-F5344CB8AC3E}">
        <p14:creationId xmlns:p14="http://schemas.microsoft.com/office/powerpoint/2010/main" val="3615765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Swim Lane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761B8379-28CE-4BB5-9589-801D1861C7A8}"/>
              </a:ext>
            </a:extLst>
          </p:cNvPr>
          <p:cNvPicPr>
            <a:picLocks noChangeAspect="1"/>
          </p:cNvPicPr>
          <p:nvPr/>
        </p:nvPicPr>
        <p:blipFill>
          <a:blip r:embed="rId3"/>
          <a:stretch>
            <a:fillRect/>
          </a:stretch>
        </p:blipFill>
        <p:spPr>
          <a:xfrm>
            <a:off x="1088484" y="700988"/>
            <a:ext cx="6967031" cy="4408892"/>
          </a:xfrm>
          <a:prstGeom prst="rect">
            <a:avLst/>
          </a:prstGeom>
        </p:spPr>
      </p:pic>
    </p:spTree>
    <p:extLst>
      <p:ext uri="{BB962C8B-B14F-4D97-AF65-F5344CB8AC3E}">
        <p14:creationId xmlns:p14="http://schemas.microsoft.com/office/powerpoint/2010/main" val="1552828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Swim Lane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4DCFC2E4-FD81-4085-AB79-EB90D8550C7F}"/>
              </a:ext>
            </a:extLst>
          </p:cNvPr>
          <p:cNvPicPr>
            <a:picLocks noChangeAspect="1"/>
          </p:cNvPicPr>
          <p:nvPr/>
        </p:nvPicPr>
        <p:blipFill>
          <a:blip r:embed="rId3"/>
          <a:stretch>
            <a:fillRect/>
          </a:stretch>
        </p:blipFill>
        <p:spPr>
          <a:xfrm>
            <a:off x="2482453" y="700988"/>
            <a:ext cx="4179094" cy="4408892"/>
          </a:xfrm>
          <a:prstGeom prst="rect">
            <a:avLst/>
          </a:prstGeom>
        </p:spPr>
      </p:pic>
    </p:spTree>
    <p:extLst>
      <p:ext uri="{BB962C8B-B14F-4D97-AF65-F5344CB8AC3E}">
        <p14:creationId xmlns:p14="http://schemas.microsoft.com/office/powerpoint/2010/main" val="1258622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Swim Lane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518C4EA7-2BEE-4B65-8B92-B92A23485C77}"/>
              </a:ext>
            </a:extLst>
          </p:cNvPr>
          <p:cNvPicPr>
            <a:picLocks noChangeAspect="1"/>
          </p:cNvPicPr>
          <p:nvPr/>
        </p:nvPicPr>
        <p:blipFill>
          <a:blip r:embed="rId3"/>
          <a:stretch>
            <a:fillRect/>
          </a:stretch>
        </p:blipFill>
        <p:spPr>
          <a:xfrm>
            <a:off x="1477120" y="700988"/>
            <a:ext cx="6189759" cy="4408892"/>
          </a:xfrm>
          <a:prstGeom prst="rect">
            <a:avLst/>
          </a:prstGeom>
        </p:spPr>
      </p:pic>
    </p:spTree>
    <p:extLst>
      <p:ext uri="{BB962C8B-B14F-4D97-AF65-F5344CB8AC3E}">
        <p14:creationId xmlns:p14="http://schemas.microsoft.com/office/powerpoint/2010/main" val="2869091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Swim Lane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5CC9FC85-D75A-4E56-9707-3357D4431534}"/>
              </a:ext>
            </a:extLst>
          </p:cNvPr>
          <p:cNvPicPr>
            <a:picLocks noChangeAspect="1"/>
          </p:cNvPicPr>
          <p:nvPr/>
        </p:nvPicPr>
        <p:blipFill>
          <a:blip r:embed="rId3"/>
          <a:stretch>
            <a:fillRect/>
          </a:stretch>
        </p:blipFill>
        <p:spPr>
          <a:xfrm>
            <a:off x="85468" y="687540"/>
            <a:ext cx="8973063" cy="4408892"/>
          </a:xfrm>
          <a:prstGeom prst="rect">
            <a:avLst/>
          </a:prstGeom>
        </p:spPr>
      </p:pic>
    </p:spTree>
    <p:extLst>
      <p:ext uri="{BB962C8B-B14F-4D97-AF65-F5344CB8AC3E}">
        <p14:creationId xmlns:p14="http://schemas.microsoft.com/office/powerpoint/2010/main" val="3571299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Sequence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162CDA34-1353-4D71-8CDF-8556B8E17D34}"/>
              </a:ext>
            </a:extLst>
          </p:cNvPr>
          <p:cNvPicPr>
            <a:picLocks noChangeAspect="1"/>
          </p:cNvPicPr>
          <p:nvPr/>
        </p:nvPicPr>
        <p:blipFill>
          <a:blip r:embed="rId3"/>
          <a:stretch>
            <a:fillRect/>
          </a:stretch>
        </p:blipFill>
        <p:spPr>
          <a:xfrm>
            <a:off x="2169945" y="687540"/>
            <a:ext cx="4804110" cy="4408892"/>
          </a:xfrm>
          <a:prstGeom prst="rect">
            <a:avLst/>
          </a:prstGeom>
        </p:spPr>
      </p:pic>
      <p:sp>
        <p:nvSpPr>
          <p:cNvPr id="6" name="TextBox 5">
            <a:extLst>
              <a:ext uri="{FF2B5EF4-FFF2-40B4-BE49-F238E27FC236}">
                <a16:creationId xmlns:a16="http://schemas.microsoft.com/office/drawing/2014/main" id="{980A7D95-55E9-457E-87BF-44591FF70189}"/>
              </a:ext>
            </a:extLst>
          </p:cNvPr>
          <p:cNvSpPr txBox="1"/>
          <p:nvPr/>
        </p:nvSpPr>
        <p:spPr>
          <a:xfrm>
            <a:off x="7327477" y="2491817"/>
            <a:ext cx="1816523" cy="307777"/>
          </a:xfrm>
          <a:prstGeom prst="rect">
            <a:avLst/>
          </a:prstGeom>
          <a:noFill/>
        </p:spPr>
        <p:txBody>
          <a:bodyPr wrap="none" rtlCol="0">
            <a:spAutoFit/>
          </a:bodyPr>
          <a:lstStyle/>
          <a:p>
            <a:r>
              <a:rPr lang="en-US" dirty="0"/>
              <a:t>Fig: Create Account </a:t>
            </a:r>
          </a:p>
        </p:txBody>
      </p:sp>
    </p:spTree>
    <p:extLst>
      <p:ext uri="{BB962C8B-B14F-4D97-AF65-F5344CB8AC3E}">
        <p14:creationId xmlns:p14="http://schemas.microsoft.com/office/powerpoint/2010/main" val="4027046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Sequence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4" name="TextBox 3">
            <a:extLst>
              <a:ext uri="{FF2B5EF4-FFF2-40B4-BE49-F238E27FC236}">
                <a16:creationId xmlns:a16="http://schemas.microsoft.com/office/drawing/2014/main" id="{A4655049-34F9-45F8-A212-B9E10642311C}"/>
              </a:ext>
            </a:extLst>
          </p:cNvPr>
          <p:cNvSpPr txBox="1"/>
          <p:nvPr/>
        </p:nvSpPr>
        <p:spPr>
          <a:xfrm>
            <a:off x="7327477" y="2787652"/>
            <a:ext cx="1447832" cy="307777"/>
          </a:xfrm>
          <a:prstGeom prst="rect">
            <a:avLst/>
          </a:prstGeom>
          <a:noFill/>
        </p:spPr>
        <p:txBody>
          <a:bodyPr wrap="none" rtlCol="0">
            <a:spAutoFit/>
          </a:bodyPr>
          <a:lstStyle/>
          <a:p>
            <a:r>
              <a:rPr lang="en-US" dirty="0"/>
              <a:t>Fig: User Login </a:t>
            </a:r>
          </a:p>
        </p:txBody>
      </p:sp>
      <p:pic>
        <p:nvPicPr>
          <p:cNvPr id="3" name="Picture 2">
            <a:extLst>
              <a:ext uri="{FF2B5EF4-FFF2-40B4-BE49-F238E27FC236}">
                <a16:creationId xmlns:a16="http://schemas.microsoft.com/office/drawing/2014/main" id="{39990844-3BA0-419A-A06F-7BCF346F0996}"/>
              </a:ext>
            </a:extLst>
          </p:cNvPr>
          <p:cNvPicPr>
            <a:picLocks noChangeAspect="1"/>
          </p:cNvPicPr>
          <p:nvPr/>
        </p:nvPicPr>
        <p:blipFill>
          <a:blip r:embed="rId3"/>
          <a:stretch>
            <a:fillRect/>
          </a:stretch>
        </p:blipFill>
        <p:spPr>
          <a:xfrm>
            <a:off x="2091053" y="877623"/>
            <a:ext cx="5163271" cy="3820058"/>
          </a:xfrm>
          <a:prstGeom prst="rect">
            <a:avLst/>
          </a:prstGeom>
        </p:spPr>
      </p:pic>
    </p:spTree>
    <p:extLst>
      <p:ext uri="{BB962C8B-B14F-4D97-AF65-F5344CB8AC3E}">
        <p14:creationId xmlns:p14="http://schemas.microsoft.com/office/powerpoint/2010/main" val="44156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Sequence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4" name="TextBox 3">
            <a:extLst>
              <a:ext uri="{FF2B5EF4-FFF2-40B4-BE49-F238E27FC236}">
                <a16:creationId xmlns:a16="http://schemas.microsoft.com/office/drawing/2014/main" id="{A4655049-34F9-45F8-A212-B9E10642311C}"/>
              </a:ext>
            </a:extLst>
          </p:cNvPr>
          <p:cNvSpPr txBox="1"/>
          <p:nvPr/>
        </p:nvSpPr>
        <p:spPr>
          <a:xfrm>
            <a:off x="7327477" y="2787652"/>
            <a:ext cx="1887055" cy="307777"/>
          </a:xfrm>
          <a:prstGeom prst="rect">
            <a:avLst/>
          </a:prstGeom>
          <a:noFill/>
        </p:spPr>
        <p:txBody>
          <a:bodyPr wrap="none" rtlCol="0">
            <a:spAutoFit/>
          </a:bodyPr>
          <a:lstStyle/>
          <a:p>
            <a:r>
              <a:rPr lang="en-US" dirty="0"/>
              <a:t>Fig: Reset Password </a:t>
            </a:r>
          </a:p>
        </p:txBody>
      </p:sp>
      <p:pic>
        <p:nvPicPr>
          <p:cNvPr id="3" name="Picture 2">
            <a:extLst>
              <a:ext uri="{FF2B5EF4-FFF2-40B4-BE49-F238E27FC236}">
                <a16:creationId xmlns:a16="http://schemas.microsoft.com/office/drawing/2014/main" id="{7F633BCF-673D-43F9-B197-ECA9B64DFAA3}"/>
              </a:ext>
            </a:extLst>
          </p:cNvPr>
          <p:cNvPicPr>
            <a:picLocks noChangeAspect="1"/>
          </p:cNvPicPr>
          <p:nvPr/>
        </p:nvPicPr>
        <p:blipFill>
          <a:blip r:embed="rId3"/>
          <a:stretch>
            <a:fillRect/>
          </a:stretch>
        </p:blipFill>
        <p:spPr>
          <a:xfrm>
            <a:off x="2298031" y="746308"/>
            <a:ext cx="4547937" cy="4343400"/>
          </a:xfrm>
          <a:prstGeom prst="rect">
            <a:avLst/>
          </a:prstGeom>
        </p:spPr>
      </p:pic>
    </p:spTree>
    <p:extLst>
      <p:ext uri="{BB962C8B-B14F-4D97-AF65-F5344CB8AC3E}">
        <p14:creationId xmlns:p14="http://schemas.microsoft.com/office/powerpoint/2010/main" val="3822907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Sequence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4" name="TextBox 3">
            <a:extLst>
              <a:ext uri="{FF2B5EF4-FFF2-40B4-BE49-F238E27FC236}">
                <a16:creationId xmlns:a16="http://schemas.microsoft.com/office/drawing/2014/main" id="{A4655049-34F9-45F8-A212-B9E10642311C}"/>
              </a:ext>
            </a:extLst>
          </p:cNvPr>
          <p:cNvSpPr txBox="1"/>
          <p:nvPr/>
        </p:nvSpPr>
        <p:spPr>
          <a:xfrm>
            <a:off x="7432069" y="2814546"/>
            <a:ext cx="1776448" cy="307777"/>
          </a:xfrm>
          <a:prstGeom prst="rect">
            <a:avLst/>
          </a:prstGeom>
          <a:noFill/>
        </p:spPr>
        <p:txBody>
          <a:bodyPr wrap="none" rtlCol="0">
            <a:spAutoFit/>
          </a:bodyPr>
          <a:lstStyle/>
          <a:p>
            <a:r>
              <a:rPr lang="en-US" dirty="0"/>
              <a:t>Fig: Approve Doctor</a:t>
            </a:r>
          </a:p>
        </p:txBody>
      </p:sp>
      <p:pic>
        <p:nvPicPr>
          <p:cNvPr id="3" name="Picture 2">
            <a:extLst>
              <a:ext uri="{FF2B5EF4-FFF2-40B4-BE49-F238E27FC236}">
                <a16:creationId xmlns:a16="http://schemas.microsoft.com/office/drawing/2014/main" id="{2C076E55-0D96-495B-84D6-3E4FC8508584}"/>
              </a:ext>
            </a:extLst>
          </p:cNvPr>
          <p:cNvPicPr>
            <a:picLocks noChangeAspect="1"/>
          </p:cNvPicPr>
          <p:nvPr/>
        </p:nvPicPr>
        <p:blipFill>
          <a:blip r:embed="rId3"/>
          <a:stretch>
            <a:fillRect/>
          </a:stretch>
        </p:blipFill>
        <p:spPr>
          <a:xfrm>
            <a:off x="1624519" y="700988"/>
            <a:ext cx="5894962" cy="4408892"/>
          </a:xfrm>
          <a:prstGeom prst="rect">
            <a:avLst/>
          </a:prstGeom>
        </p:spPr>
      </p:pic>
    </p:spTree>
    <p:extLst>
      <p:ext uri="{BB962C8B-B14F-4D97-AF65-F5344CB8AC3E}">
        <p14:creationId xmlns:p14="http://schemas.microsoft.com/office/powerpoint/2010/main" val="2835904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Sequence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F604AC12-8666-406B-B225-9663CC40F746}"/>
              </a:ext>
            </a:extLst>
          </p:cNvPr>
          <p:cNvPicPr>
            <a:picLocks noChangeAspect="1"/>
          </p:cNvPicPr>
          <p:nvPr/>
        </p:nvPicPr>
        <p:blipFill>
          <a:blip r:embed="rId3"/>
          <a:stretch>
            <a:fillRect/>
          </a:stretch>
        </p:blipFill>
        <p:spPr>
          <a:xfrm>
            <a:off x="2604813" y="793375"/>
            <a:ext cx="3934374" cy="4202825"/>
          </a:xfrm>
          <a:prstGeom prst="rect">
            <a:avLst/>
          </a:prstGeom>
        </p:spPr>
      </p:pic>
    </p:spTree>
    <p:extLst>
      <p:ext uri="{BB962C8B-B14F-4D97-AF65-F5344CB8AC3E}">
        <p14:creationId xmlns:p14="http://schemas.microsoft.com/office/powerpoint/2010/main" val="3861990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Sequence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4" name="TextBox 3">
            <a:extLst>
              <a:ext uri="{FF2B5EF4-FFF2-40B4-BE49-F238E27FC236}">
                <a16:creationId xmlns:a16="http://schemas.microsoft.com/office/drawing/2014/main" id="{A4655049-34F9-45F8-A212-B9E10642311C}"/>
              </a:ext>
            </a:extLst>
          </p:cNvPr>
          <p:cNvSpPr txBox="1"/>
          <p:nvPr/>
        </p:nvSpPr>
        <p:spPr>
          <a:xfrm>
            <a:off x="7233344" y="2787652"/>
            <a:ext cx="2005677" cy="307777"/>
          </a:xfrm>
          <a:prstGeom prst="rect">
            <a:avLst/>
          </a:prstGeom>
          <a:noFill/>
        </p:spPr>
        <p:txBody>
          <a:bodyPr wrap="none" rtlCol="0">
            <a:spAutoFit/>
          </a:bodyPr>
          <a:lstStyle/>
          <a:p>
            <a:r>
              <a:rPr lang="en-US" dirty="0"/>
              <a:t>Fig: Issue Prescription </a:t>
            </a:r>
          </a:p>
        </p:txBody>
      </p:sp>
      <p:pic>
        <p:nvPicPr>
          <p:cNvPr id="3" name="Picture 2">
            <a:extLst>
              <a:ext uri="{FF2B5EF4-FFF2-40B4-BE49-F238E27FC236}">
                <a16:creationId xmlns:a16="http://schemas.microsoft.com/office/drawing/2014/main" id="{4FCC9B67-8051-4914-A1D6-4645FEE7CA24}"/>
              </a:ext>
            </a:extLst>
          </p:cNvPr>
          <p:cNvPicPr>
            <a:picLocks noChangeAspect="1"/>
          </p:cNvPicPr>
          <p:nvPr/>
        </p:nvPicPr>
        <p:blipFill>
          <a:blip r:embed="rId3"/>
          <a:stretch>
            <a:fillRect/>
          </a:stretch>
        </p:blipFill>
        <p:spPr>
          <a:xfrm>
            <a:off x="2076638" y="687540"/>
            <a:ext cx="4990723" cy="4408892"/>
          </a:xfrm>
          <a:prstGeom prst="rect">
            <a:avLst/>
          </a:prstGeom>
        </p:spPr>
      </p:pic>
    </p:spTree>
    <p:extLst>
      <p:ext uri="{BB962C8B-B14F-4D97-AF65-F5344CB8AC3E}">
        <p14:creationId xmlns:p14="http://schemas.microsoft.com/office/powerpoint/2010/main" val="1926824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Sequence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312617D5-7ED3-4AD7-94DB-1EF4290ABEF5}"/>
              </a:ext>
            </a:extLst>
          </p:cNvPr>
          <p:cNvPicPr>
            <a:picLocks noChangeAspect="1"/>
          </p:cNvPicPr>
          <p:nvPr/>
        </p:nvPicPr>
        <p:blipFill>
          <a:blip r:embed="rId3"/>
          <a:stretch>
            <a:fillRect/>
          </a:stretch>
        </p:blipFill>
        <p:spPr>
          <a:xfrm>
            <a:off x="2418112" y="694264"/>
            <a:ext cx="4307776" cy="4408892"/>
          </a:xfrm>
          <a:prstGeom prst="rect">
            <a:avLst/>
          </a:prstGeom>
        </p:spPr>
      </p:pic>
    </p:spTree>
    <p:extLst>
      <p:ext uri="{BB962C8B-B14F-4D97-AF65-F5344CB8AC3E}">
        <p14:creationId xmlns:p14="http://schemas.microsoft.com/office/powerpoint/2010/main" val="3054581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Sequence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4" name="TextBox 3">
            <a:extLst>
              <a:ext uri="{FF2B5EF4-FFF2-40B4-BE49-F238E27FC236}">
                <a16:creationId xmlns:a16="http://schemas.microsoft.com/office/drawing/2014/main" id="{A4655049-34F9-45F8-A212-B9E10642311C}"/>
              </a:ext>
            </a:extLst>
          </p:cNvPr>
          <p:cNvSpPr txBox="1"/>
          <p:nvPr/>
        </p:nvSpPr>
        <p:spPr>
          <a:xfrm>
            <a:off x="7710721" y="2787652"/>
            <a:ext cx="1289135" cy="307777"/>
          </a:xfrm>
          <a:prstGeom prst="rect">
            <a:avLst/>
          </a:prstGeom>
          <a:noFill/>
        </p:spPr>
        <p:txBody>
          <a:bodyPr wrap="none" rtlCol="0">
            <a:spAutoFit/>
          </a:bodyPr>
          <a:lstStyle/>
          <a:p>
            <a:r>
              <a:rPr lang="en-US" dirty="0"/>
              <a:t>Fig: Payment </a:t>
            </a:r>
          </a:p>
        </p:txBody>
      </p:sp>
      <p:pic>
        <p:nvPicPr>
          <p:cNvPr id="3" name="Picture 2">
            <a:extLst>
              <a:ext uri="{FF2B5EF4-FFF2-40B4-BE49-F238E27FC236}">
                <a16:creationId xmlns:a16="http://schemas.microsoft.com/office/drawing/2014/main" id="{9849D067-F89A-48C6-807F-9D763F560EA6}"/>
              </a:ext>
            </a:extLst>
          </p:cNvPr>
          <p:cNvPicPr>
            <a:picLocks noChangeAspect="1"/>
          </p:cNvPicPr>
          <p:nvPr/>
        </p:nvPicPr>
        <p:blipFill>
          <a:blip r:embed="rId3"/>
          <a:stretch>
            <a:fillRect/>
          </a:stretch>
        </p:blipFill>
        <p:spPr>
          <a:xfrm>
            <a:off x="1630884" y="694264"/>
            <a:ext cx="5882231" cy="4408892"/>
          </a:xfrm>
          <a:prstGeom prst="rect">
            <a:avLst/>
          </a:prstGeom>
        </p:spPr>
      </p:pic>
    </p:spTree>
    <p:extLst>
      <p:ext uri="{BB962C8B-B14F-4D97-AF65-F5344CB8AC3E}">
        <p14:creationId xmlns:p14="http://schemas.microsoft.com/office/powerpoint/2010/main" val="29500239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Sequence Diagrams(Cont.)</a:t>
            </a:r>
          </a:p>
        </p:txBody>
      </p:sp>
      <p:cxnSp>
        <p:nvCxnSpPr>
          <p:cNvPr id="305" name="Google Shape;305;p38"/>
          <p:cNvCxnSpPr>
            <a:cxnSpLocks/>
          </p:cNvCxnSpPr>
          <p:nvPr/>
        </p:nvCxnSpPr>
        <p:spPr>
          <a:xfrm>
            <a:off x="3405435" y="651064"/>
            <a:ext cx="2534727"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3" name="Picture 2">
            <a:extLst>
              <a:ext uri="{FF2B5EF4-FFF2-40B4-BE49-F238E27FC236}">
                <a16:creationId xmlns:a16="http://schemas.microsoft.com/office/drawing/2014/main" id="{B3D82EB5-AF63-4CF9-A243-5435FDD61C45}"/>
              </a:ext>
            </a:extLst>
          </p:cNvPr>
          <p:cNvPicPr>
            <a:picLocks noChangeAspect="1"/>
          </p:cNvPicPr>
          <p:nvPr/>
        </p:nvPicPr>
        <p:blipFill>
          <a:blip r:embed="rId3"/>
          <a:stretch>
            <a:fillRect/>
          </a:stretch>
        </p:blipFill>
        <p:spPr>
          <a:xfrm>
            <a:off x="2771775" y="700988"/>
            <a:ext cx="3600449" cy="4408892"/>
          </a:xfrm>
          <a:prstGeom prst="rect">
            <a:avLst/>
          </a:prstGeom>
        </p:spPr>
      </p:pic>
    </p:spTree>
    <p:extLst>
      <p:ext uri="{BB962C8B-B14F-4D97-AF65-F5344CB8AC3E}">
        <p14:creationId xmlns:p14="http://schemas.microsoft.com/office/powerpoint/2010/main" val="455474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4" name="Table 3">
            <a:extLst>
              <a:ext uri="{FF2B5EF4-FFF2-40B4-BE49-F238E27FC236}">
                <a16:creationId xmlns:a16="http://schemas.microsoft.com/office/drawing/2014/main" id="{20D0C0DD-DDCF-4B7B-AA11-B4B028DDCAD5}"/>
              </a:ext>
            </a:extLst>
          </p:cNvPr>
          <p:cNvGraphicFramePr>
            <a:graphicFrameLocks noGrp="1"/>
          </p:cNvGraphicFramePr>
          <p:nvPr/>
        </p:nvGraphicFramePr>
        <p:xfrm>
          <a:off x="1531620" y="1568005"/>
          <a:ext cx="6080760" cy="2624266"/>
        </p:xfrm>
        <a:graphic>
          <a:graphicData uri="http://schemas.openxmlformats.org/drawingml/2006/table">
            <a:tbl>
              <a:tblPr firstRow="1" firstCol="1" bandRow="1">
                <a:tableStyleId>{3E5BDD0F-B5EE-4CEE-9ACA-4190605349E3}</a:tableStyleId>
              </a:tblPr>
              <a:tblGrid>
                <a:gridCol w="3040380">
                  <a:extLst>
                    <a:ext uri="{9D8B030D-6E8A-4147-A177-3AD203B41FA5}">
                      <a16:colId xmlns:a16="http://schemas.microsoft.com/office/drawing/2014/main" val="2796980732"/>
                    </a:ext>
                  </a:extLst>
                </a:gridCol>
                <a:gridCol w="3040380">
                  <a:extLst>
                    <a:ext uri="{9D8B030D-6E8A-4147-A177-3AD203B41FA5}">
                      <a16:colId xmlns:a16="http://schemas.microsoft.com/office/drawing/2014/main" val="2315958734"/>
                    </a:ext>
                  </a:extLst>
                </a:gridCol>
              </a:tblGrid>
              <a:tr h="0">
                <a:tc gridSpan="2">
                  <a:txBody>
                    <a:bodyPr/>
                    <a:lstStyle/>
                    <a:p>
                      <a:pPr marL="0" marR="0">
                        <a:lnSpc>
                          <a:spcPct val="115000"/>
                        </a:lnSpc>
                        <a:spcBef>
                          <a:spcPts val="0"/>
                        </a:spcBef>
                        <a:spcAft>
                          <a:spcPts val="0"/>
                        </a:spcAft>
                      </a:pPr>
                      <a:r>
                        <a:rPr lang="en-US" sz="1200">
                          <a:effectLst/>
                        </a:rPr>
                        <a:t>Class name: Payment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087588768"/>
                  </a:ext>
                </a:extLst>
              </a:tr>
              <a:tr h="0">
                <a:tc gridSpan="2">
                  <a:txBody>
                    <a:bodyPr/>
                    <a:lstStyle/>
                    <a:p>
                      <a:pPr marL="0" marR="0">
                        <a:lnSpc>
                          <a:spcPct val="115000"/>
                        </a:lnSpc>
                        <a:spcBef>
                          <a:spcPts val="0"/>
                        </a:spcBef>
                        <a:spcAft>
                          <a:spcPts val="0"/>
                        </a:spcAft>
                      </a:pPr>
                      <a:r>
                        <a:rPr lang="en-US" sz="1200">
                          <a:effectLst/>
                        </a:rPr>
                        <a:t>Class type: Occurrence / Event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295043215"/>
                  </a:ext>
                </a:extLst>
              </a:tr>
              <a:tr h="0">
                <a:tc gridSpan="2">
                  <a:txBody>
                    <a:bodyPr/>
                    <a:lstStyle/>
                    <a:p>
                      <a:pPr marL="0" marR="0">
                        <a:lnSpc>
                          <a:spcPct val="115000"/>
                        </a:lnSpc>
                        <a:spcBef>
                          <a:spcPts val="0"/>
                        </a:spcBef>
                        <a:spcAft>
                          <a:spcPts val="0"/>
                        </a:spcAft>
                      </a:pPr>
                      <a:r>
                        <a:rPr lang="en-US" sz="1200">
                          <a:effectLst/>
                        </a:rPr>
                        <a:t>Characteristics: Abstract, atomic, sequential,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431462020"/>
                  </a:ext>
                </a:extLst>
              </a:tr>
              <a:tr h="2033905">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Store payment amount.</a:t>
                      </a:r>
                      <a:endParaRPr lang="en-US" sz="1100">
                        <a:effectLst/>
                      </a:endParaRPr>
                    </a:p>
                    <a:p>
                      <a:pPr marL="0" marR="0">
                        <a:lnSpc>
                          <a:spcPct val="115000"/>
                        </a:lnSpc>
                        <a:spcBef>
                          <a:spcPts val="0"/>
                        </a:spcBef>
                        <a:spcAft>
                          <a:spcPts val="0"/>
                        </a:spcAft>
                      </a:pPr>
                      <a:r>
                        <a:rPr lang="en-US" sz="1200">
                          <a:effectLst/>
                        </a:rPr>
                        <a:t>Update status.</a:t>
                      </a:r>
                      <a:endParaRPr lang="en-US" sz="1100">
                        <a:effectLst/>
                      </a:endParaRPr>
                    </a:p>
                    <a:p>
                      <a:pPr marL="0" marR="0">
                        <a:lnSpc>
                          <a:spcPct val="115000"/>
                        </a:lnSpc>
                        <a:spcBef>
                          <a:spcPts val="0"/>
                        </a:spcBef>
                        <a:spcAft>
                          <a:spcPts val="0"/>
                        </a:spcAft>
                      </a:pPr>
                      <a:r>
                        <a:rPr lang="en-US" sz="1200">
                          <a:effectLst/>
                        </a:rPr>
                        <a:t>Trigger invoice creation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Appointment</a:t>
                      </a:r>
                      <a:endParaRPr lang="en-US" sz="1100" dirty="0">
                        <a:effectLst/>
                      </a:endParaRPr>
                    </a:p>
                    <a:p>
                      <a:pPr marL="0" marR="0">
                        <a:lnSpc>
                          <a:spcPct val="115000"/>
                        </a:lnSpc>
                        <a:spcBef>
                          <a:spcPts val="0"/>
                        </a:spcBef>
                        <a:spcAft>
                          <a:spcPts val="0"/>
                        </a:spcAft>
                      </a:pPr>
                      <a:r>
                        <a:rPr lang="en-US" sz="1200" dirty="0">
                          <a:effectLst/>
                        </a:rPr>
                        <a:t>Invoice</a:t>
                      </a:r>
                      <a:endParaRPr lang="en-US" sz="1100" dirty="0">
                        <a:effectLst/>
                      </a:endParaRPr>
                    </a:p>
                    <a:p>
                      <a:pPr marL="0" marR="0">
                        <a:lnSpc>
                          <a:spcPct val="115000"/>
                        </a:lnSpc>
                        <a:spcBef>
                          <a:spcPts val="0"/>
                        </a:spcBef>
                        <a:spcAft>
                          <a:spcPts val="0"/>
                        </a:spcAft>
                      </a:pPr>
                      <a:r>
                        <a:rPr lang="en-US" sz="1200" dirty="0">
                          <a:effectLst/>
                        </a:rPr>
                        <a:t>Invoice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9212140"/>
                  </a:ext>
                </a:extLst>
              </a:tr>
            </a:tbl>
          </a:graphicData>
        </a:graphic>
      </p:graphicFrame>
    </p:spTree>
    <p:extLst>
      <p:ext uri="{BB962C8B-B14F-4D97-AF65-F5344CB8AC3E}">
        <p14:creationId xmlns:p14="http://schemas.microsoft.com/office/powerpoint/2010/main" val="2159165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02CE6F16-F124-48A6-BEEA-E8A05CDF9A51}"/>
              </a:ext>
            </a:extLst>
          </p:cNvPr>
          <p:cNvGraphicFramePr>
            <a:graphicFrameLocks noGrp="1"/>
          </p:cNvGraphicFramePr>
          <p:nvPr/>
        </p:nvGraphicFramePr>
        <p:xfrm>
          <a:off x="1531620" y="1582705"/>
          <a:ext cx="6080760" cy="2595119"/>
        </p:xfrm>
        <a:graphic>
          <a:graphicData uri="http://schemas.openxmlformats.org/drawingml/2006/table">
            <a:tbl>
              <a:tblPr firstRow="1" firstCol="1" bandRow="1">
                <a:tableStyleId>{3E5BDD0F-B5EE-4CEE-9ACA-4190605349E3}</a:tableStyleId>
              </a:tblPr>
              <a:tblGrid>
                <a:gridCol w="3040380">
                  <a:extLst>
                    <a:ext uri="{9D8B030D-6E8A-4147-A177-3AD203B41FA5}">
                      <a16:colId xmlns:a16="http://schemas.microsoft.com/office/drawing/2014/main" val="250538394"/>
                    </a:ext>
                  </a:extLst>
                </a:gridCol>
                <a:gridCol w="3040380">
                  <a:extLst>
                    <a:ext uri="{9D8B030D-6E8A-4147-A177-3AD203B41FA5}">
                      <a16:colId xmlns:a16="http://schemas.microsoft.com/office/drawing/2014/main" val="933558722"/>
                    </a:ext>
                  </a:extLst>
                </a:gridCol>
              </a:tblGrid>
              <a:tr h="0">
                <a:tc gridSpan="2">
                  <a:txBody>
                    <a:bodyPr/>
                    <a:lstStyle/>
                    <a:p>
                      <a:pPr marL="0" marR="0">
                        <a:lnSpc>
                          <a:spcPct val="115000"/>
                        </a:lnSpc>
                        <a:spcBef>
                          <a:spcPts val="0"/>
                        </a:spcBef>
                        <a:spcAft>
                          <a:spcPts val="0"/>
                        </a:spcAft>
                      </a:pPr>
                      <a:r>
                        <a:rPr lang="en-US" sz="1200">
                          <a:effectLst/>
                        </a:rPr>
                        <a:t>Class name:  Invoice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467767132"/>
                  </a:ext>
                </a:extLst>
              </a:tr>
              <a:tr h="0">
                <a:tc gridSpan="2">
                  <a:txBody>
                    <a:bodyPr/>
                    <a:lstStyle/>
                    <a:p>
                      <a:pPr marL="0" marR="0">
                        <a:lnSpc>
                          <a:spcPct val="115000"/>
                        </a:lnSpc>
                        <a:spcBef>
                          <a:spcPts val="0"/>
                        </a:spcBef>
                        <a:spcAft>
                          <a:spcPts val="0"/>
                        </a:spcAft>
                      </a:pPr>
                      <a:r>
                        <a:rPr lang="en-US" sz="1200">
                          <a:effectLst/>
                        </a:rPr>
                        <a:t>Class type: Thing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43824065"/>
                  </a:ext>
                </a:extLst>
              </a:tr>
              <a:tr h="0">
                <a:tc gridSpan="2">
                  <a:txBody>
                    <a:bodyPr/>
                    <a:lstStyle/>
                    <a:p>
                      <a:pPr marL="0" marR="0"/>
                      <a:r>
                        <a:rPr lang="en-US" sz="1100">
                          <a:effectLst/>
                        </a:rPr>
                        <a:t>Characteristics: Abstract, aggregate, sequential, persistent, guarded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237496337"/>
                  </a:ext>
                </a:extLst>
              </a:tr>
              <a:tr h="2033905">
                <a:tc>
                  <a:txBody>
                    <a:bodyPr/>
                    <a:lstStyle/>
                    <a:p>
                      <a:pPr marL="0" marR="0">
                        <a:lnSpc>
                          <a:spcPct val="115000"/>
                        </a:lnSpc>
                        <a:spcBef>
                          <a:spcPts val="0"/>
                        </a:spcBef>
                        <a:spcAft>
                          <a:spcPts val="0"/>
                        </a:spcAft>
                      </a:pPr>
                      <a:r>
                        <a:rPr lang="en-US" sz="1200">
                          <a:effectLst/>
                        </a:rPr>
                        <a:t>Responsibilities: </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Store Invoice metadata </a:t>
                      </a:r>
                      <a:endParaRPr lang="en-US" sz="1100">
                        <a:effectLst/>
                      </a:endParaRPr>
                    </a:p>
                    <a:p>
                      <a:pPr marL="0" marR="0">
                        <a:lnSpc>
                          <a:spcPct val="115000"/>
                        </a:lnSpc>
                        <a:spcBef>
                          <a:spcPts val="0"/>
                        </a:spcBef>
                        <a:spcAft>
                          <a:spcPts val="0"/>
                        </a:spcAft>
                      </a:pPr>
                      <a:r>
                        <a:rPr lang="en-US" sz="1200">
                          <a:effectLst/>
                        </a:rPr>
                        <a:t>Hold PDF path</a:t>
                      </a:r>
                      <a:endParaRPr lang="en-US" sz="1100">
                        <a:effectLst/>
                      </a:endParaRPr>
                    </a:p>
                    <a:p>
                      <a:pPr marL="0" marR="0">
                        <a:lnSpc>
                          <a:spcPct val="115000"/>
                        </a:lnSpc>
                        <a:spcBef>
                          <a:spcPts val="0"/>
                        </a:spcBef>
                        <a:spcAft>
                          <a:spcPts val="0"/>
                        </a:spcAft>
                      </a:pPr>
                      <a:r>
                        <a:rPr lang="en-US" sz="1200">
                          <a:effectLst/>
                        </a:rPr>
                        <a:t>Provide proof of payment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Payment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22310626"/>
                  </a:ext>
                </a:extLst>
              </a:tr>
            </a:tbl>
          </a:graphicData>
        </a:graphic>
      </p:graphicFrame>
    </p:spTree>
    <p:extLst>
      <p:ext uri="{BB962C8B-B14F-4D97-AF65-F5344CB8AC3E}">
        <p14:creationId xmlns:p14="http://schemas.microsoft.com/office/powerpoint/2010/main" val="38700989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C17534C5-FAC7-4CBF-8D74-5DC999B4B7DF}"/>
              </a:ext>
            </a:extLst>
          </p:cNvPr>
          <p:cNvGraphicFramePr>
            <a:graphicFrameLocks noGrp="1"/>
          </p:cNvGraphicFramePr>
          <p:nvPr/>
        </p:nvGraphicFramePr>
        <p:xfrm>
          <a:off x="1531620" y="1568005"/>
          <a:ext cx="6080760" cy="2624266"/>
        </p:xfrm>
        <a:graphic>
          <a:graphicData uri="http://schemas.openxmlformats.org/drawingml/2006/table">
            <a:tbl>
              <a:tblPr firstRow="1" firstCol="1" bandRow="1">
                <a:tableStyleId>{3E5BDD0F-B5EE-4CEE-9ACA-4190605349E3}</a:tableStyleId>
              </a:tblPr>
              <a:tblGrid>
                <a:gridCol w="3040380">
                  <a:extLst>
                    <a:ext uri="{9D8B030D-6E8A-4147-A177-3AD203B41FA5}">
                      <a16:colId xmlns:a16="http://schemas.microsoft.com/office/drawing/2014/main" val="2150957456"/>
                    </a:ext>
                  </a:extLst>
                </a:gridCol>
                <a:gridCol w="3040380">
                  <a:extLst>
                    <a:ext uri="{9D8B030D-6E8A-4147-A177-3AD203B41FA5}">
                      <a16:colId xmlns:a16="http://schemas.microsoft.com/office/drawing/2014/main" val="2585254220"/>
                    </a:ext>
                  </a:extLst>
                </a:gridCol>
              </a:tblGrid>
              <a:tr h="0">
                <a:tc gridSpan="2">
                  <a:txBody>
                    <a:bodyPr/>
                    <a:lstStyle/>
                    <a:p>
                      <a:pPr marL="0" marR="0">
                        <a:lnSpc>
                          <a:spcPct val="115000"/>
                        </a:lnSpc>
                        <a:spcBef>
                          <a:spcPts val="0"/>
                        </a:spcBef>
                        <a:spcAft>
                          <a:spcPts val="0"/>
                        </a:spcAft>
                      </a:pPr>
                      <a:r>
                        <a:rPr lang="en-US" sz="1200">
                          <a:effectLst/>
                        </a:rPr>
                        <a:t>Class name: ConsultationSession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142968405"/>
                  </a:ext>
                </a:extLst>
              </a:tr>
              <a:tr h="0">
                <a:tc gridSpan="2">
                  <a:txBody>
                    <a:bodyPr/>
                    <a:lstStyle/>
                    <a:p>
                      <a:pPr marL="0" marR="0">
                        <a:lnSpc>
                          <a:spcPct val="115000"/>
                        </a:lnSpc>
                        <a:spcBef>
                          <a:spcPts val="0"/>
                        </a:spcBef>
                        <a:spcAft>
                          <a:spcPts val="0"/>
                        </a:spcAft>
                      </a:pPr>
                      <a:r>
                        <a:rPr lang="en-US" sz="1200">
                          <a:effectLst/>
                        </a:rPr>
                        <a:t>Class type: Occurrence / Event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159604728"/>
                  </a:ext>
                </a:extLst>
              </a:tr>
              <a:tr h="0">
                <a:tc gridSpan="2">
                  <a:txBody>
                    <a:bodyPr/>
                    <a:lstStyle/>
                    <a:p>
                      <a:pPr marL="0" marR="0">
                        <a:lnSpc>
                          <a:spcPct val="115000"/>
                        </a:lnSpc>
                        <a:spcBef>
                          <a:spcPts val="0"/>
                        </a:spcBef>
                        <a:spcAft>
                          <a:spcPts val="0"/>
                        </a:spcAft>
                      </a:pPr>
                      <a:r>
                        <a:rPr lang="en-US" sz="1200">
                          <a:effectLst/>
                        </a:rPr>
                        <a:t>Characteristics: Abstract, aggregate, concurrent,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37282206"/>
                  </a:ext>
                </a:extLst>
              </a:tr>
              <a:tr h="2033905">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Start and end the session</a:t>
                      </a:r>
                      <a:endParaRPr lang="en-US" sz="1100">
                        <a:effectLst/>
                      </a:endParaRPr>
                    </a:p>
                    <a:p>
                      <a:pPr marL="0" marR="0">
                        <a:lnSpc>
                          <a:spcPct val="115000"/>
                        </a:lnSpc>
                        <a:spcBef>
                          <a:spcPts val="0"/>
                        </a:spcBef>
                        <a:spcAft>
                          <a:spcPts val="0"/>
                        </a:spcAft>
                      </a:pPr>
                      <a:r>
                        <a:rPr lang="en-US" sz="1200">
                          <a:effectLst/>
                        </a:rPr>
                        <a:t>Hold chat and file sharing data</a:t>
                      </a:r>
                      <a:endParaRPr lang="en-US" sz="1100">
                        <a:effectLst/>
                      </a:endParaRPr>
                    </a:p>
                    <a:p>
                      <a:pPr marL="0" marR="0">
                        <a:lnSpc>
                          <a:spcPct val="115000"/>
                        </a:lnSpc>
                        <a:spcBef>
                          <a:spcPts val="0"/>
                        </a:spcBef>
                        <a:spcAft>
                          <a:spcPts val="0"/>
                        </a:spcAft>
                      </a:pPr>
                      <a:r>
                        <a:rPr lang="en-US" sz="1200">
                          <a:effectLst/>
                        </a:rPr>
                        <a:t>Support video sharing metadata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Appointment, Doctor, Patient</a:t>
                      </a:r>
                      <a:endParaRPr lang="en-US" sz="1100" dirty="0">
                        <a:effectLst/>
                      </a:endParaRPr>
                    </a:p>
                    <a:p>
                      <a:pPr marL="0" marR="0">
                        <a:lnSpc>
                          <a:spcPct val="115000"/>
                        </a:lnSpc>
                        <a:spcBef>
                          <a:spcPts val="0"/>
                        </a:spcBef>
                        <a:spcAft>
                          <a:spcPts val="0"/>
                        </a:spcAft>
                      </a:pPr>
                      <a:r>
                        <a:rPr lang="en-US" sz="1200" dirty="0" err="1">
                          <a:effectLst/>
                        </a:rPr>
                        <a:t>ChatMessage</a:t>
                      </a:r>
                      <a:r>
                        <a:rPr lang="en-US" sz="1200" dirty="0">
                          <a:effectLst/>
                        </a:rPr>
                        <a:t>, </a:t>
                      </a:r>
                      <a:r>
                        <a:rPr lang="en-US" sz="1200" dirty="0" err="1">
                          <a:effectLst/>
                        </a:rPr>
                        <a:t>FileAttachment</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3963487"/>
                  </a:ext>
                </a:extLst>
              </a:tr>
            </a:tbl>
          </a:graphicData>
        </a:graphic>
      </p:graphicFrame>
    </p:spTree>
    <p:extLst>
      <p:ext uri="{BB962C8B-B14F-4D97-AF65-F5344CB8AC3E}">
        <p14:creationId xmlns:p14="http://schemas.microsoft.com/office/powerpoint/2010/main" val="3585679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7D79350B-6872-47A7-856B-10F36D9E6EE5}"/>
              </a:ext>
            </a:extLst>
          </p:cNvPr>
          <p:cNvGraphicFramePr>
            <a:graphicFrameLocks noGrp="1"/>
          </p:cNvGraphicFramePr>
          <p:nvPr/>
        </p:nvGraphicFramePr>
        <p:xfrm>
          <a:off x="1531620" y="1568005"/>
          <a:ext cx="6080760" cy="2624266"/>
        </p:xfrm>
        <a:graphic>
          <a:graphicData uri="http://schemas.openxmlformats.org/drawingml/2006/table">
            <a:tbl>
              <a:tblPr firstRow="1" firstCol="1" bandRow="1">
                <a:tableStyleId>{3E5BDD0F-B5EE-4CEE-9ACA-4190605349E3}</a:tableStyleId>
              </a:tblPr>
              <a:tblGrid>
                <a:gridCol w="3040380">
                  <a:extLst>
                    <a:ext uri="{9D8B030D-6E8A-4147-A177-3AD203B41FA5}">
                      <a16:colId xmlns:a16="http://schemas.microsoft.com/office/drawing/2014/main" val="351525300"/>
                    </a:ext>
                  </a:extLst>
                </a:gridCol>
                <a:gridCol w="3040380">
                  <a:extLst>
                    <a:ext uri="{9D8B030D-6E8A-4147-A177-3AD203B41FA5}">
                      <a16:colId xmlns:a16="http://schemas.microsoft.com/office/drawing/2014/main" val="2903056175"/>
                    </a:ext>
                  </a:extLst>
                </a:gridCol>
              </a:tblGrid>
              <a:tr h="0">
                <a:tc gridSpan="2">
                  <a:txBody>
                    <a:bodyPr/>
                    <a:lstStyle/>
                    <a:p>
                      <a:pPr marL="0" marR="0">
                        <a:lnSpc>
                          <a:spcPct val="115000"/>
                        </a:lnSpc>
                        <a:spcBef>
                          <a:spcPts val="0"/>
                        </a:spcBef>
                        <a:spcAft>
                          <a:spcPts val="0"/>
                        </a:spcAft>
                      </a:pPr>
                      <a:r>
                        <a:rPr lang="en-US" sz="1200">
                          <a:effectLst/>
                        </a:rPr>
                        <a:t>Class name: ChatMessage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931382617"/>
                  </a:ext>
                </a:extLst>
              </a:tr>
              <a:tr h="0">
                <a:tc gridSpan="2">
                  <a:txBody>
                    <a:bodyPr/>
                    <a:lstStyle/>
                    <a:p>
                      <a:pPr marL="0" marR="0">
                        <a:lnSpc>
                          <a:spcPct val="115000"/>
                        </a:lnSpc>
                        <a:spcBef>
                          <a:spcPts val="0"/>
                        </a:spcBef>
                        <a:spcAft>
                          <a:spcPts val="0"/>
                        </a:spcAft>
                      </a:pPr>
                      <a:r>
                        <a:rPr lang="en-US" sz="1200">
                          <a:effectLst/>
                        </a:rPr>
                        <a:t>Class type: Occurrence / Event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779866044"/>
                  </a:ext>
                </a:extLst>
              </a:tr>
              <a:tr h="0">
                <a:tc gridSpan="2">
                  <a:txBody>
                    <a:bodyPr/>
                    <a:lstStyle/>
                    <a:p>
                      <a:pPr marL="0" marR="0">
                        <a:lnSpc>
                          <a:spcPct val="115000"/>
                        </a:lnSpc>
                        <a:spcBef>
                          <a:spcPts val="0"/>
                        </a:spcBef>
                        <a:spcAft>
                          <a:spcPts val="0"/>
                        </a:spcAft>
                      </a:pPr>
                      <a:r>
                        <a:rPr lang="en-US" sz="1200">
                          <a:effectLst/>
                        </a:rPr>
                        <a:t>Characteristics: Abstract, atomic, sequential,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679685990"/>
                  </a:ext>
                </a:extLst>
              </a:tr>
              <a:tr h="2033905">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Show sender and content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ConsultationSession</a:t>
                      </a:r>
                      <a:r>
                        <a:rPr lang="en-US" sz="1200" dirty="0">
                          <a:effectLst/>
                        </a:rPr>
                        <a:t>, Doctor, Patient</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0551647"/>
                  </a:ext>
                </a:extLst>
              </a:tr>
            </a:tbl>
          </a:graphicData>
        </a:graphic>
      </p:graphicFrame>
    </p:spTree>
    <p:extLst>
      <p:ext uri="{BB962C8B-B14F-4D97-AF65-F5344CB8AC3E}">
        <p14:creationId xmlns:p14="http://schemas.microsoft.com/office/powerpoint/2010/main" val="2038784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7D33AA22-870A-4750-8BA0-D4E4A47B0135}"/>
              </a:ext>
            </a:extLst>
          </p:cNvPr>
          <p:cNvGraphicFramePr>
            <a:graphicFrameLocks noGrp="1"/>
          </p:cNvGraphicFramePr>
          <p:nvPr/>
        </p:nvGraphicFramePr>
        <p:xfrm>
          <a:off x="1531620" y="1568005"/>
          <a:ext cx="6080760" cy="2624266"/>
        </p:xfrm>
        <a:graphic>
          <a:graphicData uri="http://schemas.openxmlformats.org/drawingml/2006/table">
            <a:tbl>
              <a:tblPr firstRow="1" firstCol="1" bandRow="1">
                <a:tableStyleId>{3E5BDD0F-B5EE-4CEE-9ACA-4190605349E3}</a:tableStyleId>
              </a:tblPr>
              <a:tblGrid>
                <a:gridCol w="3040380">
                  <a:extLst>
                    <a:ext uri="{9D8B030D-6E8A-4147-A177-3AD203B41FA5}">
                      <a16:colId xmlns:a16="http://schemas.microsoft.com/office/drawing/2014/main" val="3336223143"/>
                    </a:ext>
                  </a:extLst>
                </a:gridCol>
                <a:gridCol w="3040380">
                  <a:extLst>
                    <a:ext uri="{9D8B030D-6E8A-4147-A177-3AD203B41FA5}">
                      <a16:colId xmlns:a16="http://schemas.microsoft.com/office/drawing/2014/main" val="3476622477"/>
                    </a:ext>
                  </a:extLst>
                </a:gridCol>
              </a:tblGrid>
              <a:tr h="0">
                <a:tc gridSpan="2">
                  <a:txBody>
                    <a:bodyPr/>
                    <a:lstStyle/>
                    <a:p>
                      <a:pPr marL="0" marR="0">
                        <a:lnSpc>
                          <a:spcPct val="115000"/>
                        </a:lnSpc>
                        <a:spcBef>
                          <a:spcPts val="0"/>
                        </a:spcBef>
                        <a:spcAft>
                          <a:spcPts val="0"/>
                        </a:spcAft>
                      </a:pPr>
                      <a:r>
                        <a:rPr lang="en-US" sz="1200">
                          <a:effectLst/>
                        </a:rPr>
                        <a:t>Class name:  FileAttachment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865452082"/>
                  </a:ext>
                </a:extLst>
              </a:tr>
              <a:tr h="0">
                <a:tc gridSpan="2">
                  <a:txBody>
                    <a:bodyPr/>
                    <a:lstStyle/>
                    <a:p>
                      <a:pPr marL="0" marR="0">
                        <a:lnSpc>
                          <a:spcPct val="115000"/>
                        </a:lnSpc>
                        <a:spcBef>
                          <a:spcPts val="0"/>
                        </a:spcBef>
                        <a:spcAft>
                          <a:spcPts val="0"/>
                        </a:spcAft>
                      </a:pPr>
                      <a:r>
                        <a:rPr lang="en-US" sz="1200">
                          <a:effectLst/>
                        </a:rPr>
                        <a:t>Class type: Thing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73281787"/>
                  </a:ext>
                </a:extLst>
              </a:tr>
              <a:tr h="0">
                <a:tc gridSpan="2">
                  <a:txBody>
                    <a:bodyPr/>
                    <a:lstStyle/>
                    <a:p>
                      <a:pPr marL="0" marR="0">
                        <a:lnSpc>
                          <a:spcPct val="115000"/>
                        </a:lnSpc>
                        <a:spcBef>
                          <a:spcPts val="0"/>
                        </a:spcBef>
                        <a:spcAft>
                          <a:spcPts val="0"/>
                        </a:spcAft>
                      </a:pPr>
                      <a:r>
                        <a:rPr lang="en-US" sz="1200">
                          <a:effectLst/>
                        </a:rPr>
                        <a:t>Characteristics: Abstract, atomic, sequential,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230305883"/>
                  </a:ext>
                </a:extLst>
              </a:tr>
              <a:tr h="2033905">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Store file metadata and path</a:t>
                      </a:r>
                      <a:endParaRPr lang="en-US" sz="1100">
                        <a:effectLst/>
                      </a:endParaRPr>
                    </a:p>
                    <a:p>
                      <a:pPr marL="0" marR="0">
                        <a:lnSpc>
                          <a:spcPct val="115000"/>
                        </a:lnSpc>
                        <a:spcBef>
                          <a:spcPts val="0"/>
                        </a:spcBef>
                        <a:spcAft>
                          <a:spcPts val="0"/>
                        </a:spcAft>
                      </a:pPr>
                      <a:r>
                        <a:rPr lang="en-US" sz="1200">
                          <a:effectLst/>
                        </a:rPr>
                        <a:t>Provide downloadable content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ConsultationSession</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10551961"/>
                  </a:ext>
                </a:extLst>
              </a:tr>
            </a:tbl>
          </a:graphicData>
        </a:graphic>
      </p:graphicFrame>
    </p:spTree>
    <p:extLst>
      <p:ext uri="{BB962C8B-B14F-4D97-AF65-F5344CB8AC3E}">
        <p14:creationId xmlns:p14="http://schemas.microsoft.com/office/powerpoint/2010/main" val="3425481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0C9236A6-E371-48E4-9064-2821B8E1A329}"/>
              </a:ext>
            </a:extLst>
          </p:cNvPr>
          <p:cNvGraphicFramePr>
            <a:graphicFrameLocks noGrp="1"/>
          </p:cNvGraphicFramePr>
          <p:nvPr/>
        </p:nvGraphicFramePr>
        <p:xfrm>
          <a:off x="1531620" y="1582705"/>
          <a:ext cx="6080760" cy="2595119"/>
        </p:xfrm>
        <a:graphic>
          <a:graphicData uri="http://schemas.openxmlformats.org/drawingml/2006/table">
            <a:tbl>
              <a:tblPr firstRow="1" firstCol="1" bandRow="1">
                <a:tableStyleId>{3E5BDD0F-B5EE-4CEE-9ACA-4190605349E3}</a:tableStyleId>
              </a:tblPr>
              <a:tblGrid>
                <a:gridCol w="3040380">
                  <a:extLst>
                    <a:ext uri="{9D8B030D-6E8A-4147-A177-3AD203B41FA5}">
                      <a16:colId xmlns:a16="http://schemas.microsoft.com/office/drawing/2014/main" val="292364592"/>
                    </a:ext>
                  </a:extLst>
                </a:gridCol>
                <a:gridCol w="3040380">
                  <a:extLst>
                    <a:ext uri="{9D8B030D-6E8A-4147-A177-3AD203B41FA5}">
                      <a16:colId xmlns:a16="http://schemas.microsoft.com/office/drawing/2014/main" val="3181617425"/>
                    </a:ext>
                  </a:extLst>
                </a:gridCol>
              </a:tblGrid>
              <a:tr h="0">
                <a:tc gridSpan="2">
                  <a:txBody>
                    <a:bodyPr/>
                    <a:lstStyle/>
                    <a:p>
                      <a:pPr marL="0" marR="0">
                        <a:lnSpc>
                          <a:spcPct val="115000"/>
                        </a:lnSpc>
                        <a:spcBef>
                          <a:spcPts val="0"/>
                        </a:spcBef>
                        <a:spcAft>
                          <a:spcPts val="0"/>
                        </a:spcAft>
                      </a:pPr>
                      <a:r>
                        <a:rPr lang="en-US" sz="1200">
                          <a:effectLst/>
                        </a:rPr>
                        <a:t>Class name:  PrescriptionDocument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327777535"/>
                  </a:ext>
                </a:extLst>
              </a:tr>
              <a:tr h="0">
                <a:tc gridSpan="2">
                  <a:txBody>
                    <a:bodyPr/>
                    <a:lstStyle/>
                    <a:p>
                      <a:pPr marL="0" marR="0">
                        <a:lnSpc>
                          <a:spcPct val="115000"/>
                        </a:lnSpc>
                        <a:spcBef>
                          <a:spcPts val="0"/>
                        </a:spcBef>
                        <a:spcAft>
                          <a:spcPts val="0"/>
                        </a:spcAft>
                      </a:pPr>
                      <a:r>
                        <a:rPr lang="en-US" sz="1200">
                          <a:effectLst/>
                        </a:rPr>
                        <a:t>Class type: Thing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031120683"/>
                  </a:ext>
                </a:extLst>
              </a:tr>
              <a:tr h="0">
                <a:tc gridSpan="2">
                  <a:txBody>
                    <a:bodyPr/>
                    <a:lstStyle/>
                    <a:p>
                      <a:pPr marL="0" marR="0"/>
                      <a:r>
                        <a:rPr lang="en-US" sz="1100">
                          <a:effectLst/>
                        </a:rPr>
                        <a:t>Characteristics: Abstract, aggregate, sequential, persistent, guarded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197573578"/>
                  </a:ext>
                </a:extLst>
              </a:tr>
              <a:tr h="2033905">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Store Prescription Data</a:t>
                      </a:r>
                      <a:endParaRPr lang="en-US" sz="1100">
                        <a:effectLst/>
                      </a:endParaRPr>
                    </a:p>
                    <a:p>
                      <a:pPr marL="0" marR="0">
                        <a:lnSpc>
                          <a:spcPct val="115000"/>
                        </a:lnSpc>
                        <a:spcBef>
                          <a:spcPts val="0"/>
                        </a:spcBef>
                        <a:spcAft>
                          <a:spcPts val="0"/>
                        </a:spcAft>
                      </a:pPr>
                      <a:r>
                        <a:rPr lang="en-US" sz="1200">
                          <a:effectLst/>
                        </a:rPr>
                        <a:t>Provide downloadable file path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Appointment</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15940579"/>
                  </a:ext>
                </a:extLst>
              </a:tr>
            </a:tbl>
          </a:graphicData>
        </a:graphic>
      </p:graphicFrame>
    </p:spTree>
    <p:extLst>
      <p:ext uri="{BB962C8B-B14F-4D97-AF65-F5344CB8AC3E}">
        <p14:creationId xmlns:p14="http://schemas.microsoft.com/office/powerpoint/2010/main" val="3909239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BF4A80D0-AA8F-44C2-9AF2-32F6FEA6F735}"/>
              </a:ext>
            </a:extLst>
          </p:cNvPr>
          <p:cNvGraphicFramePr>
            <a:graphicFrameLocks noGrp="1"/>
          </p:cNvGraphicFramePr>
          <p:nvPr/>
        </p:nvGraphicFramePr>
        <p:xfrm>
          <a:off x="1531620" y="1568005"/>
          <a:ext cx="6080760" cy="2624266"/>
        </p:xfrm>
        <a:graphic>
          <a:graphicData uri="http://schemas.openxmlformats.org/drawingml/2006/table">
            <a:tbl>
              <a:tblPr firstRow="1" firstCol="1" bandRow="1">
                <a:tableStyleId>{3E5BDD0F-B5EE-4CEE-9ACA-4190605349E3}</a:tableStyleId>
              </a:tblPr>
              <a:tblGrid>
                <a:gridCol w="3040380">
                  <a:extLst>
                    <a:ext uri="{9D8B030D-6E8A-4147-A177-3AD203B41FA5}">
                      <a16:colId xmlns:a16="http://schemas.microsoft.com/office/drawing/2014/main" val="538484919"/>
                    </a:ext>
                  </a:extLst>
                </a:gridCol>
                <a:gridCol w="3040380">
                  <a:extLst>
                    <a:ext uri="{9D8B030D-6E8A-4147-A177-3AD203B41FA5}">
                      <a16:colId xmlns:a16="http://schemas.microsoft.com/office/drawing/2014/main" val="1616309925"/>
                    </a:ext>
                  </a:extLst>
                </a:gridCol>
              </a:tblGrid>
              <a:tr h="0">
                <a:tc gridSpan="2">
                  <a:txBody>
                    <a:bodyPr/>
                    <a:lstStyle/>
                    <a:p>
                      <a:pPr marL="0" marR="0">
                        <a:lnSpc>
                          <a:spcPct val="115000"/>
                        </a:lnSpc>
                        <a:spcBef>
                          <a:spcPts val="0"/>
                        </a:spcBef>
                        <a:spcAft>
                          <a:spcPts val="0"/>
                        </a:spcAft>
                      </a:pPr>
                      <a:r>
                        <a:rPr lang="en-US" sz="1200">
                          <a:effectLst/>
                        </a:rPr>
                        <a:t>Class Name: ApplicationUser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793178468"/>
                  </a:ext>
                </a:extLst>
              </a:tr>
              <a:tr h="0">
                <a:tc gridSpan="2">
                  <a:txBody>
                    <a:bodyPr/>
                    <a:lstStyle/>
                    <a:p>
                      <a:pPr marL="0" marR="0">
                        <a:lnSpc>
                          <a:spcPct val="115000"/>
                        </a:lnSpc>
                        <a:spcBef>
                          <a:spcPts val="0"/>
                        </a:spcBef>
                        <a:spcAft>
                          <a:spcPts val="0"/>
                        </a:spcAft>
                      </a:pPr>
                      <a:r>
                        <a:rPr lang="en-US" sz="1200">
                          <a:effectLst/>
                        </a:rPr>
                        <a:t>Class type: External entity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39073174"/>
                  </a:ext>
                </a:extLst>
              </a:tr>
              <a:tr h="0">
                <a:tc gridSpan="2">
                  <a:txBody>
                    <a:bodyPr/>
                    <a:lstStyle/>
                    <a:p>
                      <a:pPr marL="0" marR="0">
                        <a:lnSpc>
                          <a:spcPct val="115000"/>
                        </a:lnSpc>
                        <a:spcBef>
                          <a:spcPts val="0"/>
                        </a:spcBef>
                        <a:spcAft>
                          <a:spcPts val="0"/>
                        </a:spcAft>
                      </a:pPr>
                      <a:r>
                        <a:rPr lang="en-US" sz="1200">
                          <a:effectLst/>
                        </a:rPr>
                        <a:t>Characteristics:  Abstract, atomic, sequential,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805629884"/>
                  </a:ext>
                </a:extLst>
              </a:tr>
              <a:tr h="2033905">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Store user login information</a:t>
                      </a:r>
                      <a:endParaRPr lang="en-US" sz="1100">
                        <a:effectLst/>
                      </a:endParaRPr>
                    </a:p>
                    <a:p>
                      <a:pPr marL="0" marR="0">
                        <a:lnSpc>
                          <a:spcPct val="115000"/>
                        </a:lnSpc>
                        <a:spcBef>
                          <a:spcPts val="0"/>
                        </a:spcBef>
                        <a:spcAft>
                          <a:spcPts val="0"/>
                        </a:spcAft>
                      </a:pPr>
                      <a:r>
                        <a:rPr lang="en-US" sz="1200">
                          <a:effectLst/>
                        </a:rPr>
                        <a:t>Maintain role association</a:t>
                      </a:r>
                      <a:endParaRPr lang="en-US" sz="1100">
                        <a:effectLst/>
                      </a:endParaRPr>
                    </a:p>
                    <a:p>
                      <a:pPr marL="0" marR="0">
                        <a:lnSpc>
                          <a:spcPct val="115000"/>
                        </a:lnSpc>
                        <a:spcBef>
                          <a:spcPts val="0"/>
                        </a:spcBef>
                        <a:spcAft>
                          <a:spcPts val="0"/>
                        </a:spcAft>
                      </a:pPr>
                      <a:r>
                        <a:rPr lang="en-US" sz="1200">
                          <a:effectLst/>
                        </a:rPr>
                        <a:t>Provide contact details for notifications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0640" marR="0">
                        <a:lnSpc>
                          <a:spcPct val="115000"/>
                        </a:lnSpc>
                        <a:spcBef>
                          <a:spcPts val="0"/>
                        </a:spcBef>
                        <a:spcAft>
                          <a:spcPts val="0"/>
                        </a:spcAft>
                      </a:pPr>
                      <a:r>
                        <a:rPr lang="en-US" sz="1200" dirty="0">
                          <a:effectLst/>
                        </a:rPr>
                        <a:t>Collaborators:</a:t>
                      </a:r>
                      <a:endParaRPr lang="en-US" sz="1100" dirty="0">
                        <a:effectLst/>
                      </a:endParaRPr>
                    </a:p>
                    <a:p>
                      <a:pPr marL="40640" marR="0">
                        <a:lnSpc>
                          <a:spcPct val="115000"/>
                        </a:lnSpc>
                        <a:spcBef>
                          <a:spcPts val="0"/>
                        </a:spcBef>
                        <a:spcAft>
                          <a:spcPts val="0"/>
                        </a:spcAft>
                      </a:pPr>
                      <a:r>
                        <a:rPr lang="en-US" sz="1200" dirty="0">
                          <a:effectLst/>
                        </a:rPr>
                        <a:t>Doctor</a:t>
                      </a:r>
                      <a:endParaRPr lang="en-US" sz="1100" dirty="0">
                        <a:effectLst/>
                      </a:endParaRPr>
                    </a:p>
                    <a:p>
                      <a:pPr marL="40640" marR="0">
                        <a:lnSpc>
                          <a:spcPct val="115000"/>
                        </a:lnSpc>
                        <a:spcBef>
                          <a:spcPts val="0"/>
                        </a:spcBef>
                        <a:spcAft>
                          <a:spcPts val="0"/>
                        </a:spcAft>
                      </a:pPr>
                      <a:r>
                        <a:rPr lang="en-US" sz="1200" dirty="0">
                          <a:effectLst/>
                        </a:rPr>
                        <a:t>Patient</a:t>
                      </a:r>
                      <a:endParaRPr lang="en-US" sz="1100" dirty="0">
                        <a:effectLst/>
                      </a:endParaRPr>
                    </a:p>
                    <a:p>
                      <a:pPr marL="40640" marR="0">
                        <a:lnSpc>
                          <a:spcPct val="115000"/>
                        </a:lnSpc>
                        <a:spcBef>
                          <a:spcPts val="0"/>
                        </a:spcBef>
                        <a:spcAft>
                          <a:spcPts val="0"/>
                        </a:spcAft>
                      </a:pPr>
                      <a:r>
                        <a:rPr lang="en-US" sz="1200" dirty="0">
                          <a:effectLst/>
                        </a:rPr>
                        <a:t>Admin</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6259436"/>
                  </a:ext>
                </a:extLst>
              </a:tr>
            </a:tbl>
          </a:graphicData>
        </a:graphic>
      </p:graphicFrame>
    </p:spTree>
    <p:extLst>
      <p:ext uri="{BB962C8B-B14F-4D97-AF65-F5344CB8AC3E}">
        <p14:creationId xmlns:p14="http://schemas.microsoft.com/office/powerpoint/2010/main" val="8525526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C12E5EAD-D7AB-4D6A-8B57-73F9CB731AE9}"/>
              </a:ext>
            </a:extLst>
          </p:cNvPr>
          <p:cNvGraphicFramePr>
            <a:graphicFrameLocks noGrp="1"/>
          </p:cNvGraphicFramePr>
          <p:nvPr/>
        </p:nvGraphicFramePr>
        <p:xfrm>
          <a:off x="1531620" y="1224565"/>
          <a:ext cx="6080760" cy="3310892"/>
        </p:xfrm>
        <a:graphic>
          <a:graphicData uri="http://schemas.openxmlformats.org/drawingml/2006/table">
            <a:tbl>
              <a:tblPr firstRow="1" firstCol="1" bandRow="1">
                <a:tableStyleId>{3E5BDD0F-B5EE-4CEE-9ACA-4190605349E3}</a:tableStyleId>
              </a:tblPr>
              <a:tblGrid>
                <a:gridCol w="2888615">
                  <a:extLst>
                    <a:ext uri="{9D8B030D-6E8A-4147-A177-3AD203B41FA5}">
                      <a16:colId xmlns:a16="http://schemas.microsoft.com/office/drawing/2014/main" val="873968150"/>
                    </a:ext>
                  </a:extLst>
                </a:gridCol>
                <a:gridCol w="3192145">
                  <a:extLst>
                    <a:ext uri="{9D8B030D-6E8A-4147-A177-3AD203B41FA5}">
                      <a16:colId xmlns:a16="http://schemas.microsoft.com/office/drawing/2014/main" val="3239893285"/>
                    </a:ext>
                  </a:extLst>
                </a:gridCol>
              </a:tblGrid>
              <a:tr h="0">
                <a:tc gridSpan="2">
                  <a:txBody>
                    <a:bodyPr/>
                    <a:lstStyle/>
                    <a:p>
                      <a:pPr marL="0" marR="0" algn="just">
                        <a:lnSpc>
                          <a:spcPct val="115000"/>
                        </a:lnSpc>
                        <a:spcBef>
                          <a:spcPts val="0"/>
                        </a:spcBef>
                        <a:spcAft>
                          <a:spcPts val="0"/>
                        </a:spcAft>
                        <a:tabLst>
                          <a:tab pos="704215" algn="l"/>
                        </a:tabLst>
                      </a:pPr>
                      <a:r>
                        <a:rPr lang="en-US" sz="1200">
                          <a:effectLst/>
                        </a:rPr>
                        <a:t>Class Name: Doctor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191394879"/>
                  </a:ext>
                </a:extLst>
              </a:tr>
              <a:tr h="0">
                <a:tc gridSpan="2">
                  <a:txBody>
                    <a:bodyPr/>
                    <a:lstStyle/>
                    <a:p>
                      <a:pPr marL="0" marR="0">
                        <a:lnSpc>
                          <a:spcPct val="115000"/>
                        </a:lnSpc>
                        <a:spcBef>
                          <a:spcPts val="0"/>
                        </a:spcBef>
                        <a:spcAft>
                          <a:spcPts val="0"/>
                        </a:spcAft>
                      </a:pPr>
                      <a:r>
                        <a:rPr lang="en-US" sz="1200">
                          <a:effectLst/>
                        </a:rPr>
                        <a:t>Class type: Role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051966685"/>
                  </a:ext>
                </a:extLst>
              </a:tr>
              <a:tr h="0">
                <a:tc gridSpan="2">
                  <a:txBody>
                    <a:bodyPr/>
                    <a:lstStyle/>
                    <a:p>
                      <a:pPr marL="0" marR="0">
                        <a:lnSpc>
                          <a:spcPct val="115000"/>
                        </a:lnSpc>
                        <a:spcBef>
                          <a:spcPts val="0"/>
                        </a:spcBef>
                        <a:spcAft>
                          <a:spcPts val="0"/>
                        </a:spcAft>
                      </a:pPr>
                      <a:r>
                        <a:rPr lang="en-US" sz="1200">
                          <a:effectLst/>
                        </a:rPr>
                        <a:t>Characteristics: Tangible, aggregate, sequential,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511425132"/>
                  </a:ext>
                </a:extLst>
              </a:tr>
              <a:tr h="2102485">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Manage professional profile</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Control schedule</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Accept or reject appointments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Conduct consultations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Create prescriptions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View Feedback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0640" marR="0">
                        <a:lnSpc>
                          <a:spcPct val="115000"/>
                        </a:lnSpc>
                        <a:spcBef>
                          <a:spcPts val="0"/>
                        </a:spcBef>
                        <a:spcAft>
                          <a:spcPts val="0"/>
                        </a:spcAft>
                      </a:pPr>
                      <a:r>
                        <a:rPr lang="en-US" sz="1200" dirty="0">
                          <a:effectLst/>
                        </a:rPr>
                        <a:t>Collaborators:</a:t>
                      </a:r>
                      <a:endParaRPr lang="en-US" sz="1100" dirty="0">
                        <a:effectLst/>
                      </a:endParaRPr>
                    </a:p>
                    <a:p>
                      <a:pPr marL="4064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ApplicationUser</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DoctorSchedule</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Appointment</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ConsultationSession</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PrescriptionDocument</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Feedback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5079377"/>
                  </a:ext>
                </a:extLst>
              </a:tr>
            </a:tbl>
          </a:graphicData>
        </a:graphic>
      </p:graphicFrame>
    </p:spTree>
    <p:extLst>
      <p:ext uri="{BB962C8B-B14F-4D97-AF65-F5344CB8AC3E}">
        <p14:creationId xmlns:p14="http://schemas.microsoft.com/office/powerpoint/2010/main" val="1869078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F87E1675-540E-4AC7-B1AA-B066D835F877}"/>
              </a:ext>
            </a:extLst>
          </p:cNvPr>
          <p:cNvGraphicFramePr>
            <a:graphicFrameLocks noGrp="1"/>
          </p:cNvGraphicFramePr>
          <p:nvPr/>
        </p:nvGraphicFramePr>
        <p:xfrm>
          <a:off x="1586373" y="1119409"/>
          <a:ext cx="5971255" cy="3521204"/>
        </p:xfrm>
        <a:graphic>
          <a:graphicData uri="http://schemas.openxmlformats.org/drawingml/2006/table">
            <a:tbl>
              <a:tblPr firstRow="1" firstCol="1" bandRow="1">
                <a:tableStyleId>{3E5BDD0F-B5EE-4CEE-9ACA-4190605349E3}</a:tableStyleId>
              </a:tblPr>
              <a:tblGrid>
                <a:gridCol w="3001277">
                  <a:extLst>
                    <a:ext uri="{9D8B030D-6E8A-4147-A177-3AD203B41FA5}">
                      <a16:colId xmlns:a16="http://schemas.microsoft.com/office/drawing/2014/main" val="3828370728"/>
                    </a:ext>
                  </a:extLst>
                </a:gridCol>
                <a:gridCol w="92690">
                  <a:extLst>
                    <a:ext uri="{9D8B030D-6E8A-4147-A177-3AD203B41FA5}">
                      <a16:colId xmlns:a16="http://schemas.microsoft.com/office/drawing/2014/main" val="2091949128"/>
                    </a:ext>
                  </a:extLst>
                </a:gridCol>
                <a:gridCol w="2877288">
                  <a:extLst>
                    <a:ext uri="{9D8B030D-6E8A-4147-A177-3AD203B41FA5}">
                      <a16:colId xmlns:a16="http://schemas.microsoft.com/office/drawing/2014/main" val="12278684"/>
                    </a:ext>
                  </a:extLst>
                </a:gridCol>
              </a:tblGrid>
              <a:tr h="193336">
                <a:tc gridSpan="2">
                  <a:txBody>
                    <a:bodyPr/>
                    <a:lstStyle/>
                    <a:p>
                      <a:pPr marL="0" marR="0" algn="just">
                        <a:lnSpc>
                          <a:spcPct val="115000"/>
                        </a:lnSpc>
                        <a:spcBef>
                          <a:spcPts val="0"/>
                        </a:spcBef>
                        <a:spcAft>
                          <a:spcPts val="0"/>
                        </a:spcAft>
                        <a:tabLst>
                          <a:tab pos="704215" algn="l"/>
                        </a:tabLst>
                      </a:pPr>
                      <a:r>
                        <a:rPr lang="en-US" sz="1200">
                          <a:effectLst/>
                        </a:rPr>
                        <a:t>Class Name: Patient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290" marR="67290" marT="0" marB="0"/>
                </a:tc>
                <a:tc hMerge="1">
                  <a:txBody>
                    <a:bodyPr/>
                    <a:lstStyle/>
                    <a:p>
                      <a:endParaRPr lang="en-US"/>
                    </a:p>
                  </a:txBody>
                  <a:tcPr/>
                </a:tc>
                <a:tc>
                  <a:txBody>
                    <a:bodyPr/>
                    <a:lstStyle/>
                    <a:p>
                      <a:pPr marL="0" marR="0">
                        <a:lnSpc>
                          <a:spcPct val="115000"/>
                        </a:lnSpc>
                        <a:spcBef>
                          <a:spcPts val="0"/>
                        </a:spcBef>
                        <a:spcAft>
                          <a:spcPts val="100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419903015"/>
                  </a:ext>
                </a:extLst>
              </a:tr>
              <a:tr h="193336">
                <a:tc gridSpan="2">
                  <a:txBody>
                    <a:bodyPr/>
                    <a:lstStyle/>
                    <a:p>
                      <a:pPr marL="0" marR="0">
                        <a:lnSpc>
                          <a:spcPct val="115000"/>
                        </a:lnSpc>
                        <a:spcBef>
                          <a:spcPts val="0"/>
                        </a:spcBef>
                        <a:spcAft>
                          <a:spcPts val="0"/>
                        </a:spcAft>
                      </a:pPr>
                      <a:r>
                        <a:rPr lang="en-US" sz="1200">
                          <a:effectLst/>
                        </a:rPr>
                        <a:t>Class type: Role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290" marR="67290" marT="0" marB="0"/>
                </a:tc>
                <a:tc hMerge="1">
                  <a:txBody>
                    <a:bodyPr/>
                    <a:lstStyle/>
                    <a:p>
                      <a:endParaRPr lang="en-US"/>
                    </a:p>
                  </a:txBody>
                  <a:tcPr/>
                </a:tc>
                <a:tc>
                  <a:txBody>
                    <a:bodyPr/>
                    <a:lstStyle/>
                    <a:p>
                      <a:pPr marL="0" marR="0">
                        <a:lnSpc>
                          <a:spcPct val="115000"/>
                        </a:lnSpc>
                        <a:spcBef>
                          <a:spcPts val="0"/>
                        </a:spcBef>
                        <a:spcAft>
                          <a:spcPts val="100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22525281"/>
                  </a:ext>
                </a:extLst>
              </a:tr>
              <a:tr h="399693">
                <a:tc gridSpan="2">
                  <a:txBody>
                    <a:bodyPr/>
                    <a:lstStyle/>
                    <a:p>
                      <a:pPr marL="0" marR="0">
                        <a:lnSpc>
                          <a:spcPct val="115000"/>
                        </a:lnSpc>
                        <a:spcBef>
                          <a:spcPts val="0"/>
                        </a:spcBef>
                        <a:spcAft>
                          <a:spcPts val="0"/>
                        </a:spcAft>
                      </a:pPr>
                      <a:r>
                        <a:rPr lang="en-US" sz="1200">
                          <a:effectLst/>
                        </a:rPr>
                        <a:t>Characteristics: Tangible, aggregate, sequential,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290" marR="67290" marT="0" marB="0"/>
                </a:tc>
                <a:tc hMerge="1">
                  <a:txBody>
                    <a:bodyPr/>
                    <a:lstStyle/>
                    <a:p>
                      <a:endParaRPr lang="en-US"/>
                    </a:p>
                  </a:txBody>
                  <a:tcPr/>
                </a:tc>
                <a:tc>
                  <a:txBody>
                    <a:bodyPr/>
                    <a:lstStyle/>
                    <a:p>
                      <a:pPr marL="0" marR="0">
                        <a:lnSpc>
                          <a:spcPct val="115000"/>
                        </a:lnSpc>
                        <a:spcBef>
                          <a:spcPts val="0"/>
                        </a:spcBef>
                        <a:spcAft>
                          <a:spcPts val="100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549899721"/>
                  </a:ext>
                </a:extLst>
              </a:tr>
              <a:tr h="2669623">
                <a:tc>
                  <a:txBody>
                    <a:bodyPr/>
                    <a:lstStyle/>
                    <a:p>
                      <a:pPr marL="0" marR="0">
                        <a:lnSpc>
                          <a:spcPct val="115000"/>
                        </a:lnSpc>
                        <a:spcBef>
                          <a:spcPts val="0"/>
                        </a:spcBef>
                        <a:spcAft>
                          <a:spcPts val="0"/>
                        </a:spcAft>
                        <a:tabLst>
                          <a:tab pos="1460500" algn="ctr"/>
                        </a:tabLst>
                      </a:pPr>
                      <a:r>
                        <a:rPr lang="en-US" sz="1200">
                          <a:effectLst/>
                        </a:rPr>
                        <a:t>Responsibilities:	</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Browse doctors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Book and cancel appointments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Join consultation sessions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Download prescriptions and invoices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Give Payment</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 Give feedback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290" marR="67290" marT="0" marB="0"/>
                </a:tc>
                <a:tc gridSpan="2">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ApplicationUser</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Appointment</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ConsultationSession</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PrescriptionDocument</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Payment, Invoice</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Feedback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290" marR="67290" marT="0" marB="0"/>
                </a:tc>
                <a:tc hMerge="1">
                  <a:txBody>
                    <a:bodyPr/>
                    <a:lstStyle/>
                    <a:p>
                      <a:endParaRPr lang="en-US"/>
                    </a:p>
                  </a:txBody>
                  <a:tcPr/>
                </a:tc>
                <a:extLst>
                  <a:ext uri="{0D108BD9-81ED-4DB2-BD59-A6C34878D82A}">
                    <a16:rowId xmlns:a16="http://schemas.microsoft.com/office/drawing/2014/main" val="3872840566"/>
                  </a:ext>
                </a:extLst>
              </a:tr>
            </a:tbl>
          </a:graphicData>
        </a:graphic>
      </p:graphicFrame>
    </p:spTree>
    <p:extLst>
      <p:ext uri="{BB962C8B-B14F-4D97-AF65-F5344CB8AC3E}">
        <p14:creationId xmlns:p14="http://schemas.microsoft.com/office/powerpoint/2010/main" val="21181095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31B92CD6-582E-4E62-B722-5DC48353A779}"/>
              </a:ext>
            </a:extLst>
          </p:cNvPr>
          <p:cNvGraphicFramePr>
            <a:graphicFrameLocks noGrp="1"/>
          </p:cNvGraphicFramePr>
          <p:nvPr/>
        </p:nvGraphicFramePr>
        <p:xfrm>
          <a:off x="1529398" y="1656048"/>
          <a:ext cx="6085205" cy="2448434"/>
        </p:xfrm>
        <a:graphic>
          <a:graphicData uri="http://schemas.openxmlformats.org/drawingml/2006/table">
            <a:tbl>
              <a:tblPr firstRow="1" firstCol="1" bandRow="1">
                <a:tableStyleId>{3E5BDD0F-B5EE-4CEE-9ACA-4190605349E3}</a:tableStyleId>
              </a:tblPr>
              <a:tblGrid>
                <a:gridCol w="3099435">
                  <a:extLst>
                    <a:ext uri="{9D8B030D-6E8A-4147-A177-3AD203B41FA5}">
                      <a16:colId xmlns:a16="http://schemas.microsoft.com/office/drawing/2014/main" val="831171778"/>
                    </a:ext>
                  </a:extLst>
                </a:gridCol>
                <a:gridCol w="93980">
                  <a:extLst>
                    <a:ext uri="{9D8B030D-6E8A-4147-A177-3AD203B41FA5}">
                      <a16:colId xmlns:a16="http://schemas.microsoft.com/office/drawing/2014/main" val="1390989127"/>
                    </a:ext>
                  </a:extLst>
                </a:gridCol>
                <a:gridCol w="2891790">
                  <a:extLst>
                    <a:ext uri="{9D8B030D-6E8A-4147-A177-3AD203B41FA5}">
                      <a16:colId xmlns:a16="http://schemas.microsoft.com/office/drawing/2014/main" val="1400869162"/>
                    </a:ext>
                  </a:extLst>
                </a:gridCol>
              </a:tblGrid>
              <a:tr h="0">
                <a:tc gridSpan="2">
                  <a:txBody>
                    <a:bodyPr/>
                    <a:lstStyle/>
                    <a:p>
                      <a:pPr marL="0" marR="0" algn="just">
                        <a:lnSpc>
                          <a:spcPct val="115000"/>
                        </a:lnSpc>
                        <a:spcBef>
                          <a:spcPts val="0"/>
                        </a:spcBef>
                        <a:spcAft>
                          <a:spcPts val="0"/>
                        </a:spcAft>
                        <a:tabLst>
                          <a:tab pos="704215" algn="l"/>
                          <a:tab pos="1707515" algn="l"/>
                        </a:tabLst>
                      </a:pPr>
                      <a:r>
                        <a:rPr lang="en-US" sz="1200">
                          <a:effectLst/>
                        </a:rPr>
                        <a:t>Class Name: Admin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nSpc>
                          <a:spcPct val="115000"/>
                        </a:lnSpc>
                        <a:spcBef>
                          <a:spcPts val="0"/>
                        </a:spcBef>
                        <a:spcAft>
                          <a:spcPts val="100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028104730"/>
                  </a:ext>
                </a:extLst>
              </a:tr>
              <a:tr h="0">
                <a:tc gridSpan="2">
                  <a:txBody>
                    <a:bodyPr/>
                    <a:lstStyle/>
                    <a:p>
                      <a:pPr marL="0" marR="0">
                        <a:lnSpc>
                          <a:spcPct val="115000"/>
                        </a:lnSpc>
                        <a:spcBef>
                          <a:spcPts val="0"/>
                        </a:spcBef>
                        <a:spcAft>
                          <a:spcPts val="0"/>
                        </a:spcAft>
                      </a:pPr>
                      <a:r>
                        <a:rPr lang="en-US" sz="1200">
                          <a:effectLst/>
                        </a:rPr>
                        <a:t>Class type: Role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nSpc>
                          <a:spcPct val="115000"/>
                        </a:lnSpc>
                        <a:spcBef>
                          <a:spcPts val="0"/>
                        </a:spcBef>
                        <a:spcAft>
                          <a:spcPts val="100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948827"/>
                  </a:ext>
                </a:extLst>
              </a:tr>
              <a:tr h="0">
                <a:tc gridSpan="2">
                  <a:txBody>
                    <a:bodyPr/>
                    <a:lstStyle/>
                    <a:p>
                      <a:pPr marL="0" marR="0"/>
                      <a:r>
                        <a:rPr lang="en-US" sz="1100">
                          <a:effectLst/>
                        </a:rPr>
                        <a:t>Characteristics: Tangible, atomic, sequential, persistent, guarded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marL="0" marR="0">
                        <a:lnSpc>
                          <a:spcPct val="115000"/>
                        </a:lnSpc>
                        <a:spcBef>
                          <a:spcPts val="0"/>
                        </a:spcBef>
                        <a:spcAft>
                          <a:spcPts val="100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4118197076"/>
                  </a:ext>
                </a:extLst>
              </a:tr>
              <a:tr h="1719580">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Approve or reject doctor applications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Manage system data</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View reports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ApplicationUser</a:t>
                      </a:r>
                      <a:r>
                        <a:rPr lang="en-US" sz="1200" dirty="0">
                          <a:effectLst/>
                        </a:rPr>
                        <a:t>, Doctor</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Patient, Doctor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175265463"/>
                  </a:ext>
                </a:extLst>
              </a:tr>
            </a:tbl>
          </a:graphicData>
        </a:graphic>
      </p:graphicFrame>
    </p:spTree>
    <p:extLst>
      <p:ext uri="{BB962C8B-B14F-4D97-AF65-F5344CB8AC3E}">
        <p14:creationId xmlns:p14="http://schemas.microsoft.com/office/powerpoint/2010/main" val="2853028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BA6530CF-30EF-42E5-BB50-29D49E2DDC10}"/>
              </a:ext>
            </a:extLst>
          </p:cNvPr>
          <p:cNvGraphicFramePr>
            <a:graphicFrameLocks noGrp="1"/>
          </p:cNvGraphicFramePr>
          <p:nvPr/>
        </p:nvGraphicFramePr>
        <p:xfrm>
          <a:off x="1531620" y="1568005"/>
          <a:ext cx="6080760" cy="2624266"/>
        </p:xfrm>
        <a:graphic>
          <a:graphicData uri="http://schemas.openxmlformats.org/drawingml/2006/table">
            <a:tbl>
              <a:tblPr firstRow="1" firstCol="1" bandRow="1">
                <a:tableStyleId>{3E5BDD0F-B5EE-4CEE-9ACA-4190605349E3}</a:tableStyleId>
              </a:tblPr>
              <a:tblGrid>
                <a:gridCol w="3040380">
                  <a:extLst>
                    <a:ext uri="{9D8B030D-6E8A-4147-A177-3AD203B41FA5}">
                      <a16:colId xmlns:a16="http://schemas.microsoft.com/office/drawing/2014/main" val="2079860787"/>
                    </a:ext>
                  </a:extLst>
                </a:gridCol>
                <a:gridCol w="3040380">
                  <a:extLst>
                    <a:ext uri="{9D8B030D-6E8A-4147-A177-3AD203B41FA5}">
                      <a16:colId xmlns:a16="http://schemas.microsoft.com/office/drawing/2014/main" val="1378520790"/>
                    </a:ext>
                  </a:extLst>
                </a:gridCol>
              </a:tblGrid>
              <a:tr h="0">
                <a:tc gridSpan="2">
                  <a:txBody>
                    <a:bodyPr/>
                    <a:lstStyle/>
                    <a:p>
                      <a:pPr marL="0" marR="0">
                        <a:lnSpc>
                          <a:spcPct val="115000"/>
                        </a:lnSpc>
                        <a:spcBef>
                          <a:spcPts val="0"/>
                        </a:spcBef>
                        <a:spcAft>
                          <a:spcPts val="0"/>
                        </a:spcAft>
                      </a:pPr>
                      <a:r>
                        <a:rPr lang="en-US" sz="1200">
                          <a:effectLst/>
                        </a:rPr>
                        <a:t>Class Name: DoctorSchedule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44904547"/>
                  </a:ext>
                </a:extLst>
              </a:tr>
              <a:tr h="0">
                <a:tc gridSpan="2">
                  <a:txBody>
                    <a:bodyPr/>
                    <a:lstStyle/>
                    <a:p>
                      <a:pPr marL="0" marR="0">
                        <a:lnSpc>
                          <a:spcPct val="115000"/>
                        </a:lnSpc>
                        <a:spcBef>
                          <a:spcPts val="0"/>
                        </a:spcBef>
                        <a:spcAft>
                          <a:spcPts val="0"/>
                        </a:spcAft>
                      </a:pPr>
                      <a:r>
                        <a:rPr lang="en-US" sz="1200">
                          <a:effectLst/>
                        </a:rPr>
                        <a:t>Class type: Event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35516592"/>
                  </a:ext>
                </a:extLst>
              </a:tr>
              <a:tr h="0">
                <a:tc gridSpan="2">
                  <a:txBody>
                    <a:bodyPr/>
                    <a:lstStyle/>
                    <a:p>
                      <a:pPr marL="0" marR="0">
                        <a:lnSpc>
                          <a:spcPct val="115000"/>
                        </a:lnSpc>
                        <a:spcBef>
                          <a:spcPts val="0"/>
                        </a:spcBef>
                        <a:spcAft>
                          <a:spcPts val="0"/>
                        </a:spcAft>
                      </a:pPr>
                      <a:r>
                        <a:rPr lang="en-US" sz="1200">
                          <a:effectLst/>
                        </a:rPr>
                        <a:t>Characteristics: Abstract, aggregate, sequential,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914311250"/>
                  </a:ext>
                </a:extLst>
              </a:tr>
              <a:tr h="2033905">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Store available time slots</a:t>
                      </a:r>
                      <a:endParaRPr lang="en-US" sz="1100">
                        <a:effectLst/>
                      </a:endParaRPr>
                    </a:p>
                    <a:p>
                      <a:pPr marL="0" marR="0">
                        <a:lnSpc>
                          <a:spcPct val="115000"/>
                        </a:lnSpc>
                        <a:spcBef>
                          <a:spcPts val="0"/>
                        </a:spcBef>
                        <a:spcAft>
                          <a:spcPts val="0"/>
                        </a:spcAft>
                      </a:pPr>
                      <a:r>
                        <a:rPr lang="en-US" sz="1200">
                          <a:effectLst/>
                        </a:rPr>
                        <a:t>Validate booking availability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Doctor</a:t>
                      </a:r>
                      <a:endParaRPr lang="en-US" sz="1100" dirty="0">
                        <a:effectLst/>
                      </a:endParaRPr>
                    </a:p>
                    <a:p>
                      <a:pPr marL="0" marR="0">
                        <a:lnSpc>
                          <a:spcPct val="115000"/>
                        </a:lnSpc>
                        <a:spcBef>
                          <a:spcPts val="0"/>
                        </a:spcBef>
                        <a:spcAft>
                          <a:spcPts val="0"/>
                        </a:spcAft>
                      </a:pPr>
                      <a:r>
                        <a:rPr lang="en-US" sz="1200" dirty="0">
                          <a:effectLst/>
                        </a:rPr>
                        <a:t>Appointment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6626846"/>
                  </a:ext>
                </a:extLst>
              </a:tr>
            </a:tbl>
          </a:graphicData>
        </a:graphic>
      </p:graphicFrame>
    </p:spTree>
    <p:extLst>
      <p:ext uri="{BB962C8B-B14F-4D97-AF65-F5344CB8AC3E}">
        <p14:creationId xmlns:p14="http://schemas.microsoft.com/office/powerpoint/2010/main" val="3997844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98E4E849-4FBD-414E-9580-3E92B03F05BB}"/>
              </a:ext>
            </a:extLst>
          </p:cNvPr>
          <p:cNvGraphicFramePr>
            <a:graphicFrameLocks noGrp="1"/>
          </p:cNvGraphicFramePr>
          <p:nvPr/>
        </p:nvGraphicFramePr>
        <p:xfrm>
          <a:off x="1531620" y="1540033"/>
          <a:ext cx="6080760" cy="2679956"/>
        </p:xfrm>
        <a:graphic>
          <a:graphicData uri="http://schemas.openxmlformats.org/drawingml/2006/table">
            <a:tbl>
              <a:tblPr firstRow="1" firstCol="1" bandRow="1">
                <a:tableStyleId>{3E5BDD0F-B5EE-4CEE-9ACA-4190605349E3}</a:tableStyleId>
              </a:tblPr>
              <a:tblGrid>
                <a:gridCol w="3097530">
                  <a:extLst>
                    <a:ext uri="{9D8B030D-6E8A-4147-A177-3AD203B41FA5}">
                      <a16:colId xmlns:a16="http://schemas.microsoft.com/office/drawing/2014/main" val="3002068866"/>
                    </a:ext>
                  </a:extLst>
                </a:gridCol>
                <a:gridCol w="2983230">
                  <a:extLst>
                    <a:ext uri="{9D8B030D-6E8A-4147-A177-3AD203B41FA5}">
                      <a16:colId xmlns:a16="http://schemas.microsoft.com/office/drawing/2014/main" val="3893414946"/>
                    </a:ext>
                  </a:extLst>
                </a:gridCol>
              </a:tblGrid>
              <a:tr h="0">
                <a:tc gridSpan="2">
                  <a:txBody>
                    <a:bodyPr/>
                    <a:lstStyle/>
                    <a:p>
                      <a:pPr marL="0" marR="0" algn="just">
                        <a:lnSpc>
                          <a:spcPct val="115000"/>
                        </a:lnSpc>
                        <a:spcBef>
                          <a:spcPts val="0"/>
                        </a:spcBef>
                        <a:spcAft>
                          <a:spcPts val="0"/>
                        </a:spcAft>
                        <a:tabLst>
                          <a:tab pos="704215" algn="l"/>
                          <a:tab pos="1707515" algn="l"/>
                        </a:tabLst>
                      </a:pPr>
                      <a:r>
                        <a:rPr lang="en-US" sz="1200">
                          <a:effectLst/>
                        </a:rPr>
                        <a:t>Class Name: Appointment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657987290"/>
                  </a:ext>
                </a:extLst>
              </a:tr>
              <a:tr h="0">
                <a:tc gridSpan="2">
                  <a:txBody>
                    <a:bodyPr/>
                    <a:lstStyle/>
                    <a:p>
                      <a:pPr marL="0" marR="0">
                        <a:lnSpc>
                          <a:spcPct val="115000"/>
                        </a:lnSpc>
                        <a:spcBef>
                          <a:spcPts val="0"/>
                        </a:spcBef>
                        <a:spcAft>
                          <a:spcPts val="0"/>
                        </a:spcAft>
                      </a:pPr>
                      <a:r>
                        <a:rPr lang="en-US" sz="1200">
                          <a:effectLst/>
                        </a:rPr>
                        <a:t>Class type: Occurrence / Event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128462694"/>
                  </a:ext>
                </a:extLst>
              </a:tr>
              <a:tr h="0">
                <a:tc gridSpan="2">
                  <a:txBody>
                    <a:bodyPr/>
                    <a:lstStyle/>
                    <a:p>
                      <a:pPr marL="0" marR="0">
                        <a:lnSpc>
                          <a:spcPct val="115000"/>
                        </a:lnSpc>
                        <a:spcBef>
                          <a:spcPts val="0"/>
                        </a:spcBef>
                        <a:spcAft>
                          <a:spcPts val="0"/>
                        </a:spcAft>
                      </a:pPr>
                      <a:r>
                        <a:rPr lang="en-US" sz="1200">
                          <a:effectLst/>
                        </a:rPr>
                        <a:t>Characteristics: Abstract, aggregate, sequential,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466773723"/>
                  </a:ext>
                </a:extLst>
              </a:tr>
              <a:tr h="2063750">
                <a:tc>
                  <a:txBody>
                    <a:bodyPr/>
                    <a:lstStyle/>
                    <a:p>
                      <a:pPr marL="0" marR="0">
                        <a:lnSpc>
                          <a:spcPct val="115000"/>
                        </a:lnSpc>
                        <a:spcBef>
                          <a:spcPts val="0"/>
                        </a:spcBef>
                        <a:spcAft>
                          <a:spcPts val="0"/>
                        </a:spcAft>
                      </a:pPr>
                      <a:r>
                        <a:rPr lang="en-US" sz="1200">
                          <a:effectLst/>
                        </a:rPr>
                        <a:t>Responsibilities: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Track date, time, and status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Link doctor and patient</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Maintain payment status</a:t>
                      </a:r>
                      <a:endParaRPr lang="en-US" sz="1100">
                        <a:effectLst/>
                      </a:endParaRPr>
                    </a:p>
                    <a:p>
                      <a:pPr marL="0" marR="0">
                        <a:lnSpc>
                          <a:spcPct val="115000"/>
                        </a:lnSpc>
                        <a:spcBef>
                          <a:spcPts val="0"/>
                        </a:spcBef>
                        <a:spcAft>
                          <a:spcPts val="0"/>
                        </a:spcAft>
                      </a:pPr>
                      <a:r>
                        <a:rPr lang="en-US" sz="1200">
                          <a:effectLst/>
                        </a:rPr>
                        <a:t> </a:t>
                      </a:r>
                      <a:endParaRPr lang="en-US" sz="1100">
                        <a:effectLst/>
                      </a:endParaRPr>
                    </a:p>
                    <a:p>
                      <a:pPr marL="0" marR="0">
                        <a:lnSpc>
                          <a:spcPct val="115000"/>
                        </a:lnSpc>
                        <a:spcBef>
                          <a:spcPts val="0"/>
                        </a:spcBef>
                        <a:spcAft>
                          <a:spcPts val="0"/>
                        </a:spcAft>
                      </a:pPr>
                      <a:r>
                        <a:rPr lang="en-US" sz="1200">
                          <a:effectLst/>
                        </a:rPr>
                        <a:t>Link consultations, prescriptions, and feedback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dirty="0">
                          <a:effectLst/>
                        </a:rPr>
                        <a:t>Collaborators:</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DoctorSchedule</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Doctor, Patient</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a:effectLst/>
                        </a:rPr>
                        <a:t>Payment</a:t>
                      </a:r>
                      <a:endParaRPr lang="en-US" sz="1100" dirty="0">
                        <a:effectLst/>
                      </a:endParaRPr>
                    </a:p>
                    <a:p>
                      <a:pPr marL="0" marR="0">
                        <a:lnSpc>
                          <a:spcPct val="115000"/>
                        </a:lnSpc>
                        <a:spcBef>
                          <a:spcPts val="0"/>
                        </a:spcBef>
                        <a:spcAft>
                          <a:spcPts val="0"/>
                        </a:spcAft>
                      </a:pPr>
                      <a:r>
                        <a:rPr lang="en-US" sz="1200" dirty="0">
                          <a:effectLst/>
                        </a:rPr>
                        <a:t> </a:t>
                      </a:r>
                      <a:endParaRPr lang="en-US" sz="1100" dirty="0">
                        <a:effectLst/>
                      </a:endParaRPr>
                    </a:p>
                    <a:p>
                      <a:pPr marL="0" marR="0">
                        <a:lnSpc>
                          <a:spcPct val="115000"/>
                        </a:lnSpc>
                        <a:spcBef>
                          <a:spcPts val="0"/>
                        </a:spcBef>
                        <a:spcAft>
                          <a:spcPts val="0"/>
                        </a:spcAft>
                      </a:pPr>
                      <a:r>
                        <a:rPr lang="en-US" sz="1200" dirty="0" err="1">
                          <a:effectLst/>
                        </a:rPr>
                        <a:t>ConsultationSession</a:t>
                      </a:r>
                      <a:r>
                        <a:rPr lang="en-US" sz="1200" dirty="0">
                          <a:effectLst/>
                        </a:rPr>
                        <a:t>, </a:t>
                      </a:r>
                      <a:r>
                        <a:rPr lang="en-US" sz="1200" dirty="0" err="1">
                          <a:effectLst/>
                        </a:rPr>
                        <a:t>PrescriptionDocument</a:t>
                      </a:r>
                      <a:r>
                        <a:rPr lang="en-US" sz="1200" dirty="0">
                          <a:effectLst/>
                        </a:rPr>
                        <a:t>, Feedback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13871503"/>
                  </a:ext>
                </a:extLst>
              </a:tr>
            </a:tbl>
          </a:graphicData>
        </a:graphic>
      </p:graphicFrame>
    </p:spTree>
    <p:extLst>
      <p:ext uri="{BB962C8B-B14F-4D97-AF65-F5344CB8AC3E}">
        <p14:creationId xmlns:p14="http://schemas.microsoft.com/office/powerpoint/2010/main" val="32420003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CRC Cards (Cont.)</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graphicFrame>
        <p:nvGraphicFramePr>
          <p:cNvPr id="2" name="Table 1">
            <a:extLst>
              <a:ext uri="{FF2B5EF4-FFF2-40B4-BE49-F238E27FC236}">
                <a16:creationId xmlns:a16="http://schemas.microsoft.com/office/drawing/2014/main" id="{58CC7BDE-60CA-4DCC-81E2-05BEB654636A}"/>
              </a:ext>
            </a:extLst>
          </p:cNvPr>
          <p:cNvGraphicFramePr>
            <a:graphicFrameLocks noGrp="1"/>
          </p:cNvGraphicFramePr>
          <p:nvPr/>
        </p:nvGraphicFramePr>
        <p:xfrm>
          <a:off x="1531620" y="1592675"/>
          <a:ext cx="6080760" cy="2575117"/>
        </p:xfrm>
        <a:graphic>
          <a:graphicData uri="http://schemas.openxmlformats.org/drawingml/2006/table">
            <a:tbl>
              <a:tblPr firstRow="1" firstCol="1" bandRow="1">
                <a:tableStyleId>{3E5BDD0F-B5EE-4CEE-9ACA-4190605349E3}</a:tableStyleId>
              </a:tblPr>
              <a:tblGrid>
                <a:gridCol w="3040380">
                  <a:extLst>
                    <a:ext uri="{9D8B030D-6E8A-4147-A177-3AD203B41FA5}">
                      <a16:colId xmlns:a16="http://schemas.microsoft.com/office/drawing/2014/main" val="3692310747"/>
                    </a:ext>
                  </a:extLst>
                </a:gridCol>
                <a:gridCol w="3040380">
                  <a:extLst>
                    <a:ext uri="{9D8B030D-6E8A-4147-A177-3AD203B41FA5}">
                      <a16:colId xmlns:a16="http://schemas.microsoft.com/office/drawing/2014/main" val="633552466"/>
                    </a:ext>
                  </a:extLst>
                </a:gridCol>
              </a:tblGrid>
              <a:tr h="0">
                <a:tc gridSpan="2">
                  <a:txBody>
                    <a:bodyPr/>
                    <a:lstStyle/>
                    <a:p>
                      <a:pPr marL="0" marR="0">
                        <a:lnSpc>
                          <a:spcPct val="115000"/>
                        </a:lnSpc>
                        <a:spcBef>
                          <a:spcPts val="0"/>
                        </a:spcBef>
                        <a:spcAft>
                          <a:spcPts val="0"/>
                        </a:spcAft>
                      </a:pPr>
                      <a:r>
                        <a:rPr lang="en-US" sz="1100">
                          <a:effectLst/>
                        </a:rPr>
                        <a:t>Class name:  Feedback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575133576"/>
                  </a:ext>
                </a:extLst>
              </a:tr>
              <a:tr h="0">
                <a:tc gridSpan="2">
                  <a:txBody>
                    <a:bodyPr/>
                    <a:lstStyle/>
                    <a:p>
                      <a:pPr marL="0" marR="0">
                        <a:lnSpc>
                          <a:spcPct val="115000"/>
                        </a:lnSpc>
                        <a:spcBef>
                          <a:spcPts val="0"/>
                        </a:spcBef>
                        <a:spcAft>
                          <a:spcPts val="0"/>
                        </a:spcAft>
                      </a:pPr>
                      <a:r>
                        <a:rPr lang="en-US" sz="1100">
                          <a:effectLst/>
                        </a:rPr>
                        <a:t>Class type: Occurrence / Event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163863573"/>
                  </a:ext>
                </a:extLst>
              </a:tr>
              <a:tr h="0">
                <a:tc gridSpan="2">
                  <a:txBody>
                    <a:bodyPr/>
                    <a:lstStyle/>
                    <a:p>
                      <a:pPr marL="0" marR="0">
                        <a:lnSpc>
                          <a:spcPct val="115000"/>
                        </a:lnSpc>
                        <a:spcBef>
                          <a:spcPts val="0"/>
                        </a:spcBef>
                        <a:spcAft>
                          <a:spcPts val="0"/>
                        </a:spcAft>
                      </a:pPr>
                      <a:r>
                        <a:rPr lang="en-US" sz="1100">
                          <a:effectLst/>
                        </a:rPr>
                        <a:t>Characteristics: Abstract, Atomic, Concurrent, Persistent, Guarded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664106237"/>
                  </a:ext>
                </a:extLst>
              </a:tr>
              <a:tr h="2033905">
                <a:tc>
                  <a:txBody>
                    <a:bodyPr/>
                    <a:lstStyle/>
                    <a:p>
                      <a:pPr marL="0" marR="0">
                        <a:lnSpc>
                          <a:spcPct val="115000"/>
                        </a:lnSpc>
                        <a:spcBef>
                          <a:spcPts val="0"/>
                        </a:spcBef>
                        <a:spcAft>
                          <a:spcPts val="0"/>
                        </a:spcAft>
                      </a:pPr>
                      <a:r>
                        <a:rPr lang="en-US" sz="1100">
                          <a:effectLst/>
                        </a:rPr>
                        <a:t>Responsibilities:</a:t>
                      </a:r>
                    </a:p>
                    <a:p>
                      <a:pPr marL="0" marR="0">
                        <a:lnSpc>
                          <a:spcPct val="115000"/>
                        </a:lnSpc>
                        <a:spcBef>
                          <a:spcPts val="0"/>
                        </a:spcBef>
                        <a:spcAft>
                          <a:spcPts val="0"/>
                        </a:spcAft>
                      </a:pPr>
                      <a:r>
                        <a:rPr lang="en-US" sz="1100">
                          <a:effectLst/>
                        </a:rPr>
                        <a:t> </a:t>
                      </a:r>
                    </a:p>
                    <a:p>
                      <a:pPr marL="0" marR="0">
                        <a:lnSpc>
                          <a:spcPct val="115000"/>
                        </a:lnSpc>
                        <a:spcBef>
                          <a:spcPts val="0"/>
                        </a:spcBef>
                        <a:spcAft>
                          <a:spcPts val="0"/>
                        </a:spcAft>
                      </a:pPr>
                      <a:r>
                        <a:rPr lang="en-US" sz="1100">
                          <a:effectLst/>
                        </a:rPr>
                        <a:t>Show and store rating and comment</a:t>
                      </a:r>
                    </a:p>
                    <a:p>
                      <a:pPr marL="0" marR="0">
                        <a:lnSpc>
                          <a:spcPct val="115000"/>
                        </a:lnSpc>
                        <a:spcBef>
                          <a:spcPts val="0"/>
                        </a:spcBef>
                        <a:spcAft>
                          <a:spcPts val="0"/>
                        </a:spcAft>
                      </a:pPr>
                      <a:r>
                        <a:rPr lang="en-US" sz="1100">
                          <a:effectLst/>
                        </a:rPr>
                        <a:t>Associate to appointment and doctor</a:t>
                      </a:r>
                    </a:p>
                    <a:p>
                      <a:pPr marL="0" marR="0">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dirty="0">
                          <a:effectLst/>
                        </a:rPr>
                        <a:t>Collaborators:</a:t>
                      </a:r>
                    </a:p>
                    <a:p>
                      <a:pPr marL="0" marR="0">
                        <a:lnSpc>
                          <a:spcPct val="115000"/>
                        </a:lnSpc>
                        <a:spcBef>
                          <a:spcPts val="0"/>
                        </a:spcBef>
                        <a:spcAft>
                          <a:spcPts val="0"/>
                        </a:spcAft>
                      </a:pPr>
                      <a:r>
                        <a:rPr lang="en-US" sz="1100" dirty="0">
                          <a:effectLst/>
                        </a:rPr>
                        <a:t> </a:t>
                      </a:r>
                    </a:p>
                    <a:p>
                      <a:pPr marL="0" marR="0">
                        <a:lnSpc>
                          <a:spcPct val="115000"/>
                        </a:lnSpc>
                        <a:spcBef>
                          <a:spcPts val="0"/>
                        </a:spcBef>
                        <a:spcAft>
                          <a:spcPts val="0"/>
                        </a:spcAft>
                      </a:pPr>
                      <a:r>
                        <a:rPr lang="en-US" sz="1100" dirty="0">
                          <a:effectLst/>
                        </a:rPr>
                        <a:t>Appointment, Patient</a:t>
                      </a:r>
                    </a:p>
                    <a:p>
                      <a:pPr marL="0" marR="0">
                        <a:lnSpc>
                          <a:spcPct val="115000"/>
                        </a:lnSpc>
                        <a:spcBef>
                          <a:spcPts val="0"/>
                        </a:spcBef>
                        <a:spcAft>
                          <a:spcPts val="0"/>
                        </a:spcAft>
                      </a:pPr>
                      <a:r>
                        <a:rPr lang="en-US" sz="1100" dirty="0">
                          <a:effectLst/>
                        </a:rPr>
                        <a:t>Appointment, Doctor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5015047"/>
                  </a:ext>
                </a:extLst>
              </a:tr>
            </a:tbl>
          </a:graphicData>
        </a:graphic>
      </p:graphicFrame>
    </p:spTree>
    <p:extLst>
      <p:ext uri="{BB962C8B-B14F-4D97-AF65-F5344CB8AC3E}">
        <p14:creationId xmlns:p14="http://schemas.microsoft.com/office/powerpoint/2010/main" val="1719246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38"/>
          <p:cNvSpPr txBox="1">
            <a:spLocks noGrp="1"/>
          </p:cNvSpPr>
          <p:nvPr>
            <p:ph type="title"/>
          </p:nvPr>
        </p:nvSpPr>
        <p:spPr>
          <a:xfrm>
            <a:off x="2491320" y="56608"/>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t>Class Diagram</a:t>
            </a:r>
          </a:p>
        </p:txBody>
      </p:sp>
      <p:cxnSp>
        <p:nvCxnSpPr>
          <p:cNvPr id="305" name="Google Shape;305;p38"/>
          <p:cNvCxnSpPr>
            <a:cxnSpLocks/>
          </p:cNvCxnSpPr>
          <p:nvPr/>
        </p:nvCxnSpPr>
        <p:spPr>
          <a:xfrm>
            <a:off x="3343557" y="644187"/>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pic>
        <p:nvPicPr>
          <p:cNvPr id="4" name="Picture 3">
            <a:extLst>
              <a:ext uri="{FF2B5EF4-FFF2-40B4-BE49-F238E27FC236}">
                <a16:creationId xmlns:a16="http://schemas.microsoft.com/office/drawing/2014/main" id="{156DBD5D-27D5-42CC-A8C1-D5CD311E8016}"/>
              </a:ext>
            </a:extLst>
          </p:cNvPr>
          <p:cNvPicPr>
            <a:picLocks noChangeAspect="1"/>
          </p:cNvPicPr>
          <p:nvPr/>
        </p:nvPicPr>
        <p:blipFill>
          <a:blip r:embed="rId3"/>
          <a:stretch>
            <a:fillRect/>
          </a:stretch>
        </p:blipFill>
        <p:spPr>
          <a:xfrm>
            <a:off x="0" y="660644"/>
            <a:ext cx="9144000" cy="4482856"/>
          </a:xfrm>
          <a:prstGeom prst="rect">
            <a:avLst/>
          </a:prstGeom>
        </p:spPr>
      </p:pic>
    </p:spTree>
    <p:extLst>
      <p:ext uri="{BB962C8B-B14F-4D97-AF65-F5344CB8AC3E}">
        <p14:creationId xmlns:p14="http://schemas.microsoft.com/office/powerpoint/2010/main" val="1788540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3" name="Picture 2">
            <a:extLst>
              <a:ext uri="{FF2B5EF4-FFF2-40B4-BE49-F238E27FC236}">
                <a16:creationId xmlns:a16="http://schemas.microsoft.com/office/drawing/2014/main" id="{ECC673E7-F1B1-42BE-BC32-87957E1242F5}"/>
              </a:ext>
            </a:extLst>
          </p:cNvPr>
          <p:cNvPicPr>
            <a:picLocks noChangeAspect="1"/>
          </p:cNvPicPr>
          <p:nvPr/>
        </p:nvPicPr>
        <p:blipFill>
          <a:blip r:embed="rId3"/>
          <a:stretch>
            <a:fillRect/>
          </a:stretch>
        </p:blipFill>
        <p:spPr>
          <a:xfrm>
            <a:off x="645198" y="0"/>
            <a:ext cx="7853604" cy="5143500"/>
          </a:xfrm>
          <a:prstGeom prst="rect">
            <a:avLst/>
          </a:prstGeom>
        </p:spPr>
      </p:pic>
    </p:spTree>
    <p:extLst>
      <p:ext uri="{BB962C8B-B14F-4D97-AF65-F5344CB8AC3E}">
        <p14:creationId xmlns:p14="http://schemas.microsoft.com/office/powerpoint/2010/main" val="545540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6" name="Picture 5">
            <a:extLst>
              <a:ext uri="{FF2B5EF4-FFF2-40B4-BE49-F238E27FC236}">
                <a16:creationId xmlns:a16="http://schemas.microsoft.com/office/drawing/2014/main" id="{C3B8D502-BD90-42D7-9547-C366AD92ED0F}"/>
              </a:ext>
            </a:extLst>
          </p:cNvPr>
          <p:cNvPicPr>
            <a:picLocks noChangeAspect="1"/>
          </p:cNvPicPr>
          <p:nvPr/>
        </p:nvPicPr>
        <p:blipFill>
          <a:blip r:embed="rId3"/>
          <a:stretch>
            <a:fillRect/>
          </a:stretch>
        </p:blipFill>
        <p:spPr>
          <a:xfrm>
            <a:off x="1909483" y="0"/>
            <a:ext cx="5762064" cy="5143500"/>
          </a:xfrm>
          <a:prstGeom prst="rect">
            <a:avLst/>
          </a:prstGeom>
        </p:spPr>
      </p:pic>
    </p:spTree>
    <p:extLst>
      <p:ext uri="{BB962C8B-B14F-4D97-AF65-F5344CB8AC3E}">
        <p14:creationId xmlns:p14="http://schemas.microsoft.com/office/powerpoint/2010/main" val="3108591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3" name="Picture 2">
            <a:extLst>
              <a:ext uri="{FF2B5EF4-FFF2-40B4-BE49-F238E27FC236}">
                <a16:creationId xmlns:a16="http://schemas.microsoft.com/office/drawing/2014/main" id="{31BEE17C-22AB-4D24-B04C-4EC933D85C61}"/>
              </a:ext>
            </a:extLst>
          </p:cNvPr>
          <p:cNvPicPr>
            <a:picLocks noChangeAspect="1"/>
          </p:cNvPicPr>
          <p:nvPr/>
        </p:nvPicPr>
        <p:blipFill>
          <a:blip r:embed="rId3"/>
          <a:stretch>
            <a:fillRect/>
          </a:stretch>
        </p:blipFill>
        <p:spPr>
          <a:xfrm>
            <a:off x="2762861" y="0"/>
            <a:ext cx="4404421" cy="5143500"/>
          </a:xfrm>
          <a:prstGeom prst="rect">
            <a:avLst/>
          </a:prstGeom>
        </p:spPr>
      </p:pic>
    </p:spTree>
    <p:extLst>
      <p:ext uri="{BB962C8B-B14F-4D97-AF65-F5344CB8AC3E}">
        <p14:creationId xmlns:p14="http://schemas.microsoft.com/office/powerpoint/2010/main" val="2892679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3" name="Picture 2">
            <a:extLst>
              <a:ext uri="{FF2B5EF4-FFF2-40B4-BE49-F238E27FC236}">
                <a16:creationId xmlns:a16="http://schemas.microsoft.com/office/drawing/2014/main" id="{8DCFC0E6-D3B0-4F97-A185-687683A0FD8E}"/>
              </a:ext>
            </a:extLst>
          </p:cNvPr>
          <p:cNvPicPr>
            <a:picLocks noChangeAspect="1"/>
          </p:cNvPicPr>
          <p:nvPr/>
        </p:nvPicPr>
        <p:blipFill>
          <a:blip r:embed="rId3"/>
          <a:stretch>
            <a:fillRect/>
          </a:stretch>
        </p:blipFill>
        <p:spPr>
          <a:xfrm>
            <a:off x="2803712" y="0"/>
            <a:ext cx="4108076" cy="5143500"/>
          </a:xfrm>
          <a:prstGeom prst="rect">
            <a:avLst/>
          </a:prstGeom>
        </p:spPr>
      </p:pic>
    </p:spTree>
    <p:extLst>
      <p:ext uri="{BB962C8B-B14F-4D97-AF65-F5344CB8AC3E}">
        <p14:creationId xmlns:p14="http://schemas.microsoft.com/office/powerpoint/2010/main" val="179739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3" name="Picture 2">
            <a:extLst>
              <a:ext uri="{FF2B5EF4-FFF2-40B4-BE49-F238E27FC236}">
                <a16:creationId xmlns:a16="http://schemas.microsoft.com/office/drawing/2014/main" id="{A8940372-511F-40C2-85FC-495E8CB96E82}"/>
              </a:ext>
            </a:extLst>
          </p:cNvPr>
          <p:cNvPicPr>
            <a:picLocks noChangeAspect="1"/>
          </p:cNvPicPr>
          <p:nvPr/>
        </p:nvPicPr>
        <p:blipFill>
          <a:blip r:embed="rId3"/>
          <a:stretch>
            <a:fillRect/>
          </a:stretch>
        </p:blipFill>
        <p:spPr>
          <a:xfrm>
            <a:off x="2302578" y="0"/>
            <a:ext cx="4538844" cy="5143500"/>
          </a:xfrm>
          <a:prstGeom prst="rect">
            <a:avLst/>
          </a:prstGeom>
        </p:spPr>
      </p:pic>
    </p:spTree>
    <p:extLst>
      <p:ext uri="{BB962C8B-B14F-4D97-AF65-F5344CB8AC3E}">
        <p14:creationId xmlns:p14="http://schemas.microsoft.com/office/powerpoint/2010/main" val="20751495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3" name="Picture 2">
            <a:extLst>
              <a:ext uri="{FF2B5EF4-FFF2-40B4-BE49-F238E27FC236}">
                <a16:creationId xmlns:a16="http://schemas.microsoft.com/office/drawing/2014/main" id="{91E49802-4E98-4DE4-9366-96E11390A940}"/>
              </a:ext>
            </a:extLst>
          </p:cNvPr>
          <p:cNvPicPr>
            <a:picLocks noChangeAspect="1"/>
          </p:cNvPicPr>
          <p:nvPr/>
        </p:nvPicPr>
        <p:blipFill>
          <a:blip r:embed="rId3"/>
          <a:stretch>
            <a:fillRect/>
          </a:stretch>
        </p:blipFill>
        <p:spPr>
          <a:xfrm>
            <a:off x="2295900" y="0"/>
            <a:ext cx="4552200" cy="5143500"/>
          </a:xfrm>
          <a:prstGeom prst="rect">
            <a:avLst/>
          </a:prstGeom>
        </p:spPr>
      </p:pic>
    </p:spTree>
    <p:extLst>
      <p:ext uri="{BB962C8B-B14F-4D97-AF65-F5344CB8AC3E}">
        <p14:creationId xmlns:p14="http://schemas.microsoft.com/office/powerpoint/2010/main" val="282483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4" name="Picture 3">
            <a:extLst>
              <a:ext uri="{FF2B5EF4-FFF2-40B4-BE49-F238E27FC236}">
                <a16:creationId xmlns:a16="http://schemas.microsoft.com/office/drawing/2014/main" id="{830C4AB2-D1FE-4971-B478-BCE732D05E53}"/>
              </a:ext>
            </a:extLst>
          </p:cNvPr>
          <p:cNvPicPr>
            <a:picLocks noChangeAspect="1"/>
          </p:cNvPicPr>
          <p:nvPr/>
        </p:nvPicPr>
        <p:blipFill>
          <a:blip r:embed="rId3"/>
          <a:stretch>
            <a:fillRect/>
          </a:stretch>
        </p:blipFill>
        <p:spPr>
          <a:xfrm>
            <a:off x="2411876" y="0"/>
            <a:ext cx="4320248" cy="5143500"/>
          </a:xfrm>
          <a:prstGeom prst="rect">
            <a:avLst/>
          </a:prstGeom>
        </p:spPr>
      </p:pic>
    </p:spTree>
    <p:extLst>
      <p:ext uri="{BB962C8B-B14F-4D97-AF65-F5344CB8AC3E}">
        <p14:creationId xmlns:p14="http://schemas.microsoft.com/office/powerpoint/2010/main" val="1546616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4" name="Picture 3">
            <a:extLst>
              <a:ext uri="{FF2B5EF4-FFF2-40B4-BE49-F238E27FC236}">
                <a16:creationId xmlns:a16="http://schemas.microsoft.com/office/drawing/2014/main" id="{6A5CB19E-CDA8-4D1C-A1C6-79D2AD961649}"/>
              </a:ext>
            </a:extLst>
          </p:cNvPr>
          <p:cNvPicPr>
            <a:picLocks noChangeAspect="1"/>
          </p:cNvPicPr>
          <p:nvPr/>
        </p:nvPicPr>
        <p:blipFill>
          <a:blip r:embed="rId3"/>
          <a:stretch>
            <a:fillRect/>
          </a:stretch>
        </p:blipFill>
        <p:spPr>
          <a:xfrm>
            <a:off x="2092098" y="0"/>
            <a:ext cx="4959804" cy="5143500"/>
          </a:xfrm>
          <a:prstGeom prst="rect">
            <a:avLst/>
          </a:prstGeom>
        </p:spPr>
      </p:pic>
    </p:spTree>
    <p:extLst>
      <p:ext uri="{BB962C8B-B14F-4D97-AF65-F5344CB8AC3E}">
        <p14:creationId xmlns:p14="http://schemas.microsoft.com/office/powerpoint/2010/main" val="1213128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9" name="Picture 8">
            <a:extLst>
              <a:ext uri="{FF2B5EF4-FFF2-40B4-BE49-F238E27FC236}">
                <a16:creationId xmlns:a16="http://schemas.microsoft.com/office/drawing/2014/main" id="{B29821FA-6A92-41A3-A990-66350A8BB861}"/>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964751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232657" y="4666936"/>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84445" y="304115"/>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000" dirty="0"/>
              <a:t>System Architecture / Work flow </a:t>
            </a:r>
          </a:p>
        </p:txBody>
      </p:sp>
      <p:cxnSp>
        <p:nvCxnSpPr>
          <p:cNvPr id="305" name="Google Shape;305;p38"/>
          <p:cNvCxnSpPr>
            <a:cxnSpLocks/>
          </p:cNvCxnSpPr>
          <p:nvPr/>
        </p:nvCxnSpPr>
        <p:spPr>
          <a:xfrm>
            <a:off x="3336682" y="891694"/>
            <a:ext cx="2706608"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Rectangle 1">
            <a:extLst>
              <a:ext uri="{FF2B5EF4-FFF2-40B4-BE49-F238E27FC236}">
                <a16:creationId xmlns:a16="http://schemas.microsoft.com/office/drawing/2014/main" id="{F379A567-E6F5-4600-8E4F-653CA1FDE183}"/>
              </a:ext>
            </a:extLst>
          </p:cNvPr>
          <p:cNvSpPr>
            <a:spLocks noGrp="1" noChangeArrowheads="1"/>
          </p:cNvSpPr>
          <p:nvPr>
            <p:ph type="subTitle" idx="1"/>
          </p:nvPr>
        </p:nvSpPr>
        <p:spPr bwMode="auto">
          <a:xfrm>
            <a:off x="1637570" y="4106830"/>
            <a:ext cx="153439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accent2">
                    <a:lumMod val="95000"/>
                    <a:lumOff val="5000"/>
                  </a:schemeClr>
                </a:solidFill>
                <a:effectLst/>
                <a:latin typeface="Arial" panose="020B0604020202020204" pitchFamily="34" charset="0"/>
              </a:rPr>
              <a:t>Database </a:t>
            </a:r>
            <a:r>
              <a:rPr kumimoji="0" lang="en-US" altLang="en-US" sz="1100" b="0" i="0" u="none" strike="noStrike" cap="none" normalizeH="0" baseline="0">
                <a:ln>
                  <a:noFill/>
                </a:ln>
                <a:solidFill>
                  <a:schemeClr val="accent2">
                    <a:lumMod val="95000"/>
                    <a:lumOff val="5000"/>
                  </a:schemeClr>
                </a:solidFill>
                <a:effectLst/>
                <a:latin typeface="Arial" panose="020B0604020202020204" pitchFamily="34" charset="0"/>
              </a:rPr>
              <a:t>stores </a:t>
            </a:r>
            <a:endParaRPr kumimoji="0" lang="en-US" altLang="en-US" sz="1100" b="0" i="0" u="none" strike="noStrike" cap="none" normalizeH="0" baseline="0" dirty="0">
              <a:ln>
                <a:noFill/>
              </a:ln>
              <a:solidFill>
                <a:schemeClr val="accent2">
                  <a:lumMod val="95000"/>
                  <a:lumOff val="5000"/>
                </a:schemeClr>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accent2">
                    <a:lumMod val="95000"/>
                    <a:lumOff val="5000"/>
                  </a:schemeClr>
                </a:solidFill>
                <a:effectLst/>
                <a:latin typeface="Arial" panose="020B0604020202020204" pitchFamily="34" charset="0"/>
              </a:rPr>
              <a:t>users + appointments</a:t>
            </a:r>
          </a:p>
        </p:txBody>
      </p:sp>
      <p:sp>
        <p:nvSpPr>
          <p:cNvPr id="4" name="Rectangle: Rounded Corners 3">
            <a:extLst>
              <a:ext uri="{FF2B5EF4-FFF2-40B4-BE49-F238E27FC236}">
                <a16:creationId xmlns:a16="http://schemas.microsoft.com/office/drawing/2014/main" id="{DA2573C1-1DC0-4F2E-9E15-9904BFB552AD}"/>
              </a:ext>
            </a:extLst>
          </p:cNvPr>
          <p:cNvSpPr/>
          <p:nvPr/>
        </p:nvSpPr>
        <p:spPr>
          <a:xfrm>
            <a:off x="1615670" y="1540039"/>
            <a:ext cx="1439416" cy="55001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0" lang="en-US" altLang="en-US" sz="1800" b="1" i="0" u="none" strike="noStrike" cap="none" normalizeH="0" baseline="0" dirty="0">
                <a:ln>
                  <a:noFill/>
                </a:ln>
                <a:solidFill>
                  <a:schemeClr val="accent2">
                    <a:lumMod val="95000"/>
                    <a:lumOff val="5000"/>
                  </a:schemeClr>
                </a:solidFill>
                <a:effectLst/>
                <a:latin typeface="Arial" panose="020B0604020202020204" pitchFamily="34" charset="0"/>
              </a:rPr>
              <a:t>User</a:t>
            </a:r>
            <a:endParaRPr kumimoji="0" lang="en-US" altLang="en-US" sz="1400" b="1" i="0" u="none" strike="noStrike" cap="none" normalizeH="0" baseline="0" dirty="0">
              <a:ln>
                <a:noFill/>
              </a:ln>
              <a:solidFill>
                <a:schemeClr val="accent2">
                  <a:lumMod val="95000"/>
                  <a:lumOff val="5000"/>
                </a:schemeClr>
              </a:solidFill>
              <a:effectLst/>
              <a:latin typeface="Arial" panose="020B0604020202020204" pitchFamily="34" charset="0"/>
            </a:endParaRPr>
          </a:p>
          <a:p>
            <a:pPr algn="ctr"/>
            <a:r>
              <a:rPr kumimoji="0" lang="en-US" altLang="en-US" sz="1100" b="0" i="0" u="none" strike="noStrike" cap="none" normalizeH="0" baseline="0" dirty="0">
                <a:ln>
                  <a:noFill/>
                </a:ln>
                <a:solidFill>
                  <a:schemeClr val="accent2">
                    <a:lumMod val="95000"/>
                    <a:lumOff val="5000"/>
                  </a:schemeClr>
                </a:solidFill>
                <a:effectLst/>
                <a:latin typeface="Arial" panose="020B0604020202020204" pitchFamily="34" charset="0"/>
              </a:rPr>
              <a:t>Login/Register</a:t>
            </a:r>
            <a:endParaRPr lang="en-US" dirty="0"/>
          </a:p>
        </p:txBody>
      </p:sp>
      <p:sp>
        <p:nvSpPr>
          <p:cNvPr id="11" name="Rectangle: Rounded Corners 10">
            <a:extLst>
              <a:ext uri="{FF2B5EF4-FFF2-40B4-BE49-F238E27FC236}">
                <a16:creationId xmlns:a16="http://schemas.microsoft.com/office/drawing/2014/main" id="{290D15E1-3FFA-4CBD-A0E8-E53C03AB032B}"/>
              </a:ext>
            </a:extLst>
          </p:cNvPr>
          <p:cNvSpPr/>
          <p:nvPr/>
        </p:nvSpPr>
        <p:spPr>
          <a:xfrm>
            <a:off x="3689782" y="1540038"/>
            <a:ext cx="1439416" cy="55001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en-US" sz="1800" b="1" dirty="0">
                <a:solidFill>
                  <a:schemeClr val="accent2">
                    <a:lumMod val="95000"/>
                    <a:lumOff val="5000"/>
                  </a:schemeClr>
                </a:solidFill>
                <a:latin typeface="Arial" panose="020B0604020202020204" pitchFamily="34" charset="0"/>
              </a:rPr>
              <a:t>Admin</a:t>
            </a:r>
            <a:r>
              <a:rPr lang="en-US" altLang="en-US" sz="1800" dirty="0">
                <a:solidFill>
                  <a:schemeClr val="accent2">
                    <a:lumMod val="95000"/>
                    <a:lumOff val="5000"/>
                  </a:schemeClr>
                </a:solidFill>
                <a:latin typeface="Arial" panose="020B0604020202020204" pitchFamily="34" charset="0"/>
              </a:rPr>
              <a:t> </a:t>
            </a:r>
            <a:r>
              <a:rPr lang="en-US" altLang="en-US" sz="1100" dirty="0">
                <a:solidFill>
                  <a:schemeClr val="accent2">
                    <a:lumMod val="95000"/>
                    <a:lumOff val="5000"/>
                  </a:schemeClr>
                </a:solidFill>
                <a:latin typeface="Arial" panose="020B0604020202020204" pitchFamily="34" charset="0"/>
              </a:rPr>
              <a:t>Approve Doctors</a:t>
            </a:r>
            <a:endParaRPr lang="en-US" dirty="0"/>
          </a:p>
        </p:txBody>
      </p:sp>
      <p:sp>
        <p:nvSpPr>
          <p:cNvPr id="12" name="Rectangle: Rounded Corners 11">
            <a:extLst>
              <a:ext uri="{FF2B5EF4-FFF2-40B4-BE49-F238E27FC236}">
                <a16:creationId xmlns:a16="http://schemas.microsoft.com/office/drawing/2014/main" id="{44BE0E3D-A562-4340-A9DC-9E6833B25D1E}"/>
              </a:ext>
            </a:extLst>
          </p:cNvPr>
          <p:cNvSpPr/>
          <p:nvPr/>
        </p:nvSpPr>
        <p:spPr>
          <a:xfrm>
            <a:off x="5656141" y="1540037"/>
            <a:ext cx="1439416" cy="55001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0" lang="en-US" altLang="en-US" sz="1800" b="1" i="0" u="none" strike="noStrike" cap="none" normalizeH="0" baseline="0" dirty="0">
                <a:ln>
                  <a:noFill/>
                </a:ln>
                <a:solidFill>
                  <a:schemeClr val="accent2">
                    <a:lumMod val="95000"/>
                    <a:lumOff val="5000"/>
                  </a:schemeClr>
                </a:solidFill>
                <a:effectLst/>
                <a:latin typeface="Arial" panose="020B0604020202020204" pitchFamily="34" charset="0"/>
              </a:rPr>
              <a:t>Patient</a:t>
            </a:r>
            <a:r>
              <a:rPr lang="en-US" altLang="en-US" sz="1800" dirty="0">
                <a:solidFill>
                  <a:schemeClr val="accent2">
                    <a:lumMod val="95000"/>
                    <a:lumOff val="5000"/>
                  </a:schemeClr>
                </a:solidFill>
                <a:latin typeface="Arial" panose="020B0604020202020204" pitchFamily="34" charset="0"/>
              </a:rPr>
              <a:t> </a:t>
            </a:r>
            <a:r>
              <a:rPr kumimoji="0" lang="en-US" altLang="en-US" sz="1100" b="0" i="0" u="none" strike="noStrike" cap="none" normalizeH="0" baseline="0" dirty="0">
                <a:ln>
                  <a:noFill/>
                </a:ln>
                <a:solidFill>
                  <a:schemeClr val="accent2">
                    <a:lumMod val="95000"/>
                    <a:lumOff val="5000"/>
                  </a:schemeClr>
                </a:solidFill>
                <a:effectLst/>
                <a:latin typeface="Arial" panose="020B0604020202020204" pitchFamily="34" charset="0"/>
              </a:rPr>
              <a:t>Select Doctor </a:t>
            </a:r>
            <a:endParaRPr lang="en-US" dirty="0"/>
          </a:p>
        </p:txBody>
      </p:sp>
      <p:sp>
        <p:nvSpPr>
          <p:cNvPr id="13" name="Rectangle: Rounded Corners 12">
            <a:extLst>
              <a:ext uri="{FF2B5EF4-FFF2-40B4-BE49-F238E27FC236}">
                <a16:creationId xmlns:a16="http://schemas.microsoft.com/office/drawing/2014/main" id="{9B489A6D-689C-4933-9BB6-DBCBD1A09F8F}"/>
              </a:ext>
            </a:extLst>
          </p:cNvPr>
          <p:cNvSpPr/>
          <p:nvPr/>
        </p:nvSpPr>
        <p:spPr>
          <a:xfrm>
            <a:off x="5656141" y="2509871"/>
            <a:ext cx="1439416" cy="55001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0" lang="en-US" altLang="en-US" sz="1800" b="1" i="0" u="none" strike="noStrike" cap="none" normalizeH="0" baseline="0" dirty="0">
                <a:ln>
                  <a:noFill/>
                </a:ln>
                <a:solidFill>
                  <a:schemeClr val="accent2">
                    <a:lumMod val="95000"/>
                    <a:lumOff val="5000"/>
                  </a:schemeClr>
                </a:solidFill>
                <a:effectLst/>
                <a:latin typeface="Arial" panose="020B0604020202020204" pitchFamily="34" charset="0"/>
              </a:rPr>
              <a:t>Patient</a:t>
            </a:r>
            <a:r>
              <a:rPr lang="en-US" altLang="en-US" sz="1800" dirty="0">
                <a:solidFill>
                  <a:schemeClr val="accent2">
                    <a:lumMod val="95000"/>
                    <a:lumOff val="5000"/>
                  </a:schemeClr>
                </a:solidFill>
                <a:latin typeface="Arial" panose="020B0604020202020204" pitchFamily="34" charset="0"/>
              </a:rPr>
              <a:t> </a:t>
            </a:r>
          </a:p>
          <a:p>
            <a:pPr algn="ctr"/>
            <a:r>
              <a:rPr kumimoji="0" lang="en-US" altLang="en-US" sz="1100" b="0" i="0" u="none" strike="noStrike" cap="none" normalizeH="0" baseline="0" dirty="0">
                <a:ln>
                  <a:noFill/>
                </a:ln>
                <a:solidFill>
                  <a:schemeClr val="accent2">
                    <a:lumMod val="95000"/>
                    <a:lumOff val="5000"/>
                  </a:schemeClr>
                </a:solidFill>
                <a:effectLst/>
                <a:latin typeface="Arial" panose="020B0604020202020204" pitchFamily="34" charset="0"/>
              </a:rPr>
              <a:t>Make payment </a:t>
            </a:r>
            <a:endParaRPr lang="en-US" dirty="0"/>
          </a:p>
        </p:txBody>
      </p:sp>
      <p:sp>
        <p:nvSpPr>
          <p:cNvPr id="14" name="Rectangle: Rounded Corners 13">
            <a:extLst>
              <a:ext uri="{FF2B5EF4-FFF2-40B4-BE49-F238E27FC236}">
                <a16:creationId xmlns:a16="http://schemas.microsoft.com/office/drawing/2014/main" id="{19BB2DD6-C4B7-4133-90D4-125AB87E1A5B}"/>
              </a:ext>
            </a:extLst>
          </p:cNvPr>
          <p:cNvSpPr/>
          <p:nvPr/>
        </p:nvSpPr>
        <p:spPr>
          <a:xfrm>
            <a:off x="3727878" y="2509871"/>
            <a:ext cx="1439416" cy="55001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0" lang="en-US" altLang="en-US" sz="1800" b="1" i="0" u="none" strike="noStrike" cap="none" normalizeH="0" baseline="0" dirty="0">
                <a:ln>
                  <a:noFill/>
                </a:ln>
                <a:solidFill>
                  <a:schemeClr val="accent2">
                    <a:lumMod val="95000"/>
                    <a:lumOff val="5000"/>
                  </a:schemeClr>
                </a:solidFill>
                <a:effectLst/>
                <a:latin typeface="Arial" panose="020B0604020202020204" pitchFamily="34" charset="0"/>
              </a:rPr>
              <a:t>Patient</a:t>
            </a:r>
            <a:r>
              <a:rPr lang="en-US" altLang="en-US" sz="1800" dirty="0">
                <a:solidFill>
                  <a:schemeClr val="accent2">
                    <a:lumMod val="95000"/>
                    <a:lumOff val="5000"/>
                  </a:schemeClr>
                </a:solidFill>
                <a:latin typeface="Arial" panose="020B0604020202020204" pitchFamily="34" charset="0"/>
              </a:rPr>
              <a:t> </a:t>
            </a:r>
          </a:p>
          <a:p>
            <a:pPr algn="ctr"/>
            <a:r>
              <a:rPr kumimoji="0" lang="en-US" altLang="en-US" sz="1100" b="0" i="0" u="none" strike="noStrike" cap="none" normalizeH="0" baseline="0" dirty="0">
                <a:ln>
                  <a:noFill/>
                </a:ln>
                <a:solidFill>
                  <a:schemeClr val="accent2">
                    <a:lumMod val="95000"/>
                    <a:lumOff val="5000"/>
                  </a:schemeClr>
                </a:solidFill>
                <a:effectLst/>
                <a:latin typeface="Arial" panose="020B0604020202020204" pitchFamily="34" charset="0"/>
              </a:rPr>
              <a:t>Book Appointment</a:t>
            </a:r>
            <a:endParaRPr lang="en-US" dirty="0"/>
          </a:p>
        </p:txBody>
      </p:sp>
      <p:sp>
        <p:nvSpPr>
          <p:cNvPr id="15" name="Rectangle: Rounded Corners 14">
            <a:extLst>
              <a:ext uri="{FF2B5EF4-FFF2-40B4-BE49-F238E27FC236}">
                <a16:creationId xmlns:a16="http://schemas.microsoft.com/office/drawing/2014/main" id="{531BB669-FBB3-4605-A87A-B1A798BE61B4}"/>
              </a:ext>
            </a:extLst>
          </p:cNvPr>
          <p:cNvSpPr/>
          <p:nvPr/>
        </p:nvSpPr>
        <p:spPr>
          <a:xfrm>
            <a:off x="1615670" y="2509871"/>
            <a:ext cx="1623361" cy="55001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Doctor</a:t>
            </a:r>
            <a:r>
              <a:rPr lang="en-US" altLang="en-US" sz="1800" dirty="0">
                <a:solidFill>
                  <a:schemeClr val="accent2">
                    <a:lumMod val="95000"/>
                    <a:lumOff val="5000"/>
                  </a:schemeClr>
                </a:solidFill>
                <a:latin typeface="Arial" panose="020B0604020202020204" pitchFamily="34" charset="0"/>
              </a:rPr>
              <a:t> </a:t>
            </a:r>
          </a:p>
          <a:p>
            <a:pPr algn="ctr"/>
            <a:r>
              <a:rPr kumimoji="0" lang="en-US" altLang="en-US" sz="1100" b="0" i="0" u="none" strike="noStrike" cap="none" normalizeH="0" baseline="0" dirty="0">
                <a:ln>
                  <a:noFill/>
                </a:ln>
                <a:solidFill>
                  <a:schemeClr val="accent2">
                    <a:lumMod val="95000"/>
                    <a:lumOff val="5000"/>
                  </a:schemeClr>
                </a:solidFill>
                <a:effectLst/>
                <a:latin typeface="Arial" panose="020B0604020202020204" pitchFamily="34" charset="0"/>
              </a:rPr>
              <a:t>Manage Appointment</a:t>
            </a:r>
            <a:endParaRPr lang="en-US" dirty="0"/>
          </a:p>
        </p:txBody>
      </p:sp>
      <p:sp>
        <p:nvSpPr>
          <p:cNvPr id="5" name="Flowchart: Magnetic Disk 4">
            <a:extLst>
              <a:ext uri="{FF2B5EF4-FFF2-40B4-BE49-F238E27FC236}">
                <a16:creationId xmlns:a16="http://schemas.microsoft.com/office/drawing/2014/main" id="{C19B642C-8F22-4108-8C70-8F3EADB6A13D}"/>
              </a:ext>
            </a:extLst>
          </p:cNvPr>
          <p:cNvSpPr/>
          <p:nvPr/>
        </p:nvSpPr>
        <p:spPr>
          <a:xfrm>
            <a:off x="2119447" y="3610335"/>
            <a:ext cx="570640" cy="474388"/>
          </a:xfrm>
          <a:prstGeom prst="flowChartMagneticDisk">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D6826739-2A1E-43CF-8798-9B1B626B9C00}"/>
              </a:ext>
            </a:extLst>
          </p:cNvPr>
          <p:cNvSpPr/>
          <p:nvPr/>
        </p:nvSpPr>
        <p:spPr>
          <a:xfrm>
            <a:off x="3178839" y="1732546"/>
            <a:ext cx="341257" cy="220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1FD41DA5-FE51-48F0-BF54-675B31998350}"/>
              </a:ext>
            </a:extLst>
          </p:cNvPr>
          <p:cNvSpPr/>
          <p:nvPr/>
        </p:nvSpPr>
        <p:spPr>
          <a:xfrm>
            <a:off x="5213751" y="1741572"/>
            <a:ext cx="341257" cy="220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5AA911E4-495A-4506-9AD8-E4416A38271D}"/>
              </a:ext>
            </a:extLst>
          </p:cNvPr>
          <p:cNvSpPr/>
          <p:nvPr/>
        </p:nvSpPr>
        <p:spPr>
          <a:xfrm rot="5400000">
            <a:off x="6205221" y="2192109"/>
            <a:ext cx="341257" cy="220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E24F5F43-D353-4144-B02C-F0D3532C2589}"/>
              </a:ext>
            </a:extLst>
          </p:cNvPr>
          <p:cNvSpPr/>
          <p:nvPr/>
        </p:nvSpPr>
        <p:spPr>
          <a:xfrm rot="10800000">
            <a:off x="5241089" y="2674875"/>
            <a:ext cx="341257" cy="220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6D389F14-A188-426A-9DB5-DE4BB1ECEDC5}"/>
              </a:ext>
            </a:extLst>
          </p:cNvPr>
          <p:cNvSpPr/>
          <p:nvPr/>
        </p:nvSpPr>
        <p:spPr>
          <a:xfrm rot="10800000">
            <a:off x="3298769" y="2674876"/>
            <a:ext cx="341257" cy="220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699E8B6E-4E9E-42A0-A789-6FFA400B4AFC}"/>
              </a:ext>
            </a:extLst>
          </p:cNvPr>
          <p:cNvSpPr/>
          <p:nvPr/>
        </p:nvSpPr>
        <p:spPr>
          <a:xfrm rot="5400000">
            <a:off x="2241013" y="3237410"/>
            <a:ext cx="341257" cy="220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1552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5985800" y="3837374"/>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2443194" y="309000"/>
            <a:ext cx="4362738" cy="6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000" dirty="0"/>
              <a:t>Key Features </a:t>
            </a:r>
          </a:p>
        </p:txBody>
      </p:sp>
      <p:cxnSp>
        <p:nvCxnSpPr>
          <p:cNvPr id="305" name="Google Shape;305;p38"/>
          <p:cNvCxnSpPr>
            <a:cxnSpLocks/>
          </p:cNvCxnSpPr>
          <p:nvPr/>
        </p:nvCxnSpPr>
        <p:spPr>
          <a:xfrm>
            <a:off x="3467312" y="889705"/>
            <a:ext cx="2355973"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Rectangle 2">
            <a:extLst>
              <a:ext uri="{FF2B5EF4-FFF2-40B4-BE49-F238E27FC236}">
                <a16:creationId xmlns:a16="http://schemas.microsoft.com/office/drawing/2014/main" id="{5FA60F8F-F544-42F6-8BB0-84AC19D0DD1B}"/>
              </a:ext>
            </a:extLst>
          </p:cNvPr>
          <p:cNvSpPr>
            <a:spLocks noGrp="1" noChangeArrowheads="1"/>
          </p:cNvSpPr>
          <p:nvPr>
            <p:ph type="subTitle" idx="1"/>
          </p:nvPr>
        </p:nvSpPr>
        <p:spPr bwMode="auto">
          <a:xfrm>
            <a:off x="536575" y="1394397"/>
            <a:ext cx="5583580"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Patient registration/login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Doctor registration/login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Appointment booking &amp; management</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Doctor profile &amp; availability</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US" altLang="en-US" sz="1800" dirty="0">
                <a:solidFill>
                  <a:schemeClr val="accent2">
                    <a:lumMod val="95000"/>
                    <a:lumOff val="5000"/>
                  </a:schemeClr>
                </a:solidFill>
                <a:latin typeface="Arial" panose="020B0604020202020204" pitchFamily="34" charset="0"/>
              </a:rPr>
              <a:t>Make payment through secure payment gateway </a:t>
            </a:r>
            <a:endPar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Admin control</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lang="en-US" altLang="en-US" sz="1800" dirty="0">
                <a:solidFill>
                  <a:schemeClr val="accent2">
                    <a:lumMod val="95000"/>
                    <a:lumOff val="5000"/>
                  </a:schemeClr>
                </a:solidFill>
                <a:latin typeface="Arial" panose="020B0604020202020204" pitchFamily="34" charset="0"/>
              </a:rPr>
              <a:t>AI integration </a:t>
            </a:r>
            <a:endPar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endParaRPr>
          </a:p>
        </p:txBody>
      </p:sp>
    </p:spTree>
    <p:extLst>
      <p:ext uri="{BB962C8B-B14F-4D97-AF65-F5344CB8AC3E}">
        <p14:creationId xmlns:p14="http://schemas.microsoft.com/office/powerpoint/2010/main" val="1754716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384B5B2F-68A9-4168-9F84-68345AB4F1E6}"/>
              </a:ext>
            </a:extLst>
          </p:cNvPr>
          <p:cNvPicPr>
            <a:picLocks noChangeAspect="1"/>
          </p:cNvPicPr>
          <p:nvPr/>
        </p:nvPicPr>
        <p:blipFill>
          <a:blip r:embed="rId3"/>
          <a:stretch>
            <a:fillRect/>
          </a:stretch>
        </p:blipFill>
        <p:spPr>
          <a:xfrm>
            <a:off x="0" y="-9802"/>
            <a:ext cx="9144000" cy="5143500"/>
          </a:xfrm>
          <a:prstGeom prst="rect">
            <a:avLst/>
          </a:prstGeom>
        </p:spPr>
      </p:pic>
    </p:spTree>
    <p:extLst>
      <p:ext uri="{BB962C8B-B14F-4D97-AF65-F5344CB8AC3E}">
        <p14:creationId xmlns:p14="http://schemas.microsoft.com/office/powerpoint/2010/main" val="684884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4" name="Picture 3">
            <a:extLst>
              <a:ext uri="{FF2B5EF4-FFF2-40B4-BE49-F238E27FC236}">
                <a16:creationId xmlns:a16="http://schemas.microsoft.com/office/drawing/2014/main" id="{C8E29C59-7DBD-48FE-BAEA-7788537361E5}"/>
              </a:ext>
            </a:extLst>
          </p:cNvPr>
          <p:cNvPicPr>
            <a:picLocks noChangeAspect="1"/>
          </p:cNvPicPr>
          <p:nvPr/>
        </p:nvPicPr>
        <p:blipFill>
          <a:blip r:embed="rId3"/>
          <a:stretch>
            <a:fillRect/>
          </a:stretch>
        </p:blipFill>
        <p:spPr>
          <a:xfrm>
            <a:off x="0" y="-16677"/>
            <a:ext cx="9144000" cy="5143500"/>
          </a:xfrm>
          <a:prstGeom prst="rect">
            <a:avLst/>
          </a:prstGeom>
        </p:spPr>
      </p:pic>
    </p:spTree>
    <p:extLst>
      <p:ext uri="{BB962C8B-B14F-4D97-AF65-F5344CB8AC3E}">
        <p14:creationId xmlns:p14="http://schemas.microsoft.com/office/powerpoint/2010/main" val="3339131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5" name="Picture 4">
            <a:extLst>
              <a:ext uri="{FF2B5EF4-FFF2-40B4-BE49-F238E27FC236}">
                <a16:creationId xmlns:a16="http://schemas.microsoft.com/office/drawing/2014/main" id="{99101C66-2667-4F3B-A43D-4369F0359EF2}"/>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567806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5992700" y="385800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448389" y="996474"/>
            <a:ext cx="4387800" cy="67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t>Patient Module </a:t>
            </a:r>
            <a:endParaRPr sz="2400" dirty="0"/>
          </a:p>
        </p:txBody>
      </p:sp>
      <p:cxnSp>
        <p:nvCxnSpPr>
          <p:cNvPr id="305" name="Google Shape;305;p38"/>
          <p:cNvCxnSpPr>
            <a:cxnSpLocks/>
          </p:cNvCxnSpPr>
          <p:nvPr/>
        </p:nvCxnSpPr>
        <p:spPr>
          <a:xfrm>
            <a:off x="511200" y="1641091"/>
            <a:ext cx="3297654"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1607075" y="3416900"/>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892050" y="416225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2">
            <a:extLst>
              <a:ext uri="{FF2B5EF4-FFF2-40B4-BE49-F238E27FC236}">
                <a16:creationId xmlns:a16="http://schemas.microsoft.com/office/drawing/2014/main" id="{E87AB3C6-7F40-432A-B02A-B98B155A4AED}"/>
              </a:ext>
            </a:extLst>
          </p:cNvPr>
          <p:cNvSpPr>
            <a:spLocks noGrp="1" noChangeArrowheads="1"/>
          </p:cNvSpPr>
          <p:nvPr>
            <p:ph type="subTitle" idx="1"/>
          </p:nvPr>
        </p:nvSpPr>
        <p:spPr bwMode="auto">
          <a:xfrm>
            <a:off x="511175" y="1965257"/>
            <a:ext cx="420499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Patient can create account and login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Browse doctors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Book appointment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View appointment history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4" name="Picture 3">
            <a:extLst>
              <a:ext uri="{FF2B5EF4-FFF2-40B4-BE49-F238E27FC236}">
                <a16:creationId xmlns:a16="http://schemas.microsoft.com/office/drawing/2014/main" id="{FA4CCD1B-0111-4733-AF8B-C785AB4D54EF}"/>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4057267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5" name="Picture 4">
            <a:extLst>
              <a:ext uri="{FF2B5EF4-FFF2-40B4-BE49-F238E27FC236}">
                <a16:creationId xmlns:a16="http://schemas.microsoft.com/office/drawing/2014/main" id="{ECE6AD4C-360C-4242-871C-3C6EEB80068E}"/>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2008914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4" name="Picture 3">
            <a:extLst>
              <a:ext uri="{FF2B5EF4-FFF2-40B4-BE49-F238E27FC236}">
                <a16:creationId xmlns:a16="http://schemas.microsoft.com/office/drawing/2014/main" id="{1DE6C4E5-F822-463B-A1CE-2829F4C72468}"/>
              </a:ext>
            </a:extLst>
          </p:cNvPr>
          <p:cNvPicPr>
            <a:picLocks noChangeAspect="1"/>
          </p:cNvPicPr>
          <p:nvPr/>
        </p:nvPicPr>
        <p:blipFill>
          <a:blip r:embed="rId3"/>
          <a:stretch>
            <a:fillRect/>
          </a:stretch>
        </p:blipFill>
        <p:spPr>
          <a:xfrm>
            <a:off x="-68752" y="0"/>
            <a:ext cx="9144000" cy="5143500"/>
          </a:xfrm>
          <a:prstGeom prst="rect">
            <a:avLst/>
          </a:prstGeom>
        </p:spPr>
      </p:pic>
    </p:spTree>
    <p:extLst>
      <p:ext uri="{BB962C8B-B14F-4D97-AF65-F5344CB8AC3E}">
        <p14:creationId xmlns:p14="http://schemas.microsoft.com/office/powerpoint/2010/main" val="9648240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5992700" y="385800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448389" y="996474"/>
            <a:ext cx="4387800" cy="67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t>Doctor Module </a:t>
            </a:r>
            <a:endParaRPr sz="2400" dirty="0"/>
          </a:p>
        </p:txBody>
      </p:sp>
      <p:cxnSp>
        <p:nvCxnSpPr>
          <p:cNvPr id="305" name="Google Shape;305;p38"/>
          <p:cNvCxnSpPr>
            <a:cxnSpLocks/>
          </p:cNvCxnSpPr>
          <p:nvPr/>
        </p:nvCxnSpPr>
        <p:spPr>
          <a:xfrm>
            <a:off x="511200" y="1641091"/>
            <a:ext cx="3297654"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1607075" y="3416900"/>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892050" y="416225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DBB30054-B191-4382-B024-E7CD630D4DBC}"/>
              </a:ext>
            </a:extLst>
          </p:cNvPr>
          <p:cNvSpPr>
            <a:spLocks noGrp="1" noChangeArrowheads="1"/>
          </p:cNvSpPr>
          <p:nvPr>
            <p:ph type="subTitle" idx="1"/>
          </p:nvPr>
        </p:nvSpPr>
        <p:spPr bwMode="auto">
          <a:xfrm>
            <a:off x="511175" y="1965257"/>
            <a:ext cx="343555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Doctor can login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Manage appointments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View patient details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Provide consultation updates</a:t>
            </a:r>
          </a:p>
        </p:txBody>
      </p:sp>
    </p:spTree>
    <p:extLst>
      <p:ext uri="{BB962C8B-B14F-4D97-AF65-F5344CB8AC3E}">
        <p14:creationId xmlns:p14="http://schemas.microsoft.com/office/powerpoint/2010/main" val="1696316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5" name="Picture 4">
            <a:extLst>
              <a:ext uri="{FF2B5EF4-FFF2-40B4-BE49-F238E27FC236}">
                <a16:creationId xmlns:a16="http://schemas.microsoft.com/office/drawing/2014/main" id="{58BE65AB-1AE9-421D-B6AD-E32AF32C9DC7}"/>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40720465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6" name="Picture 5">
            <a:extLst>
              <a:ext uri="{FF2B5EF4-FFF2-40B4-BE49-F238E27FC236}">
                <a16:creationId xmlns:a16="http://schemas.microsoft.com/office/drawing/2014/main" id="{E0D9D524-422F-473F-8F69-1EC80343D3EE}"/>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2866753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8" name="Picture 7">
            <a:extLst>
              <a:ext uri="{FF2B5EF4-FFF2-40B4-BE49-F238E27FC236}">
                <a16:creationId xmlns:a16="http://schemas.microsoft.com/office/drawing/2014/main" id="{851B8517-5834-4021-BBE7-651792BF29A9}"/>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475682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6" name="Picture 5">
            <a:extLst>
              <a:ext uri="{FF2B5EF4-FFF2-40B4-BE49-F238E27FC236}">
                <a16:creationId xmlns:a16="http://schemas.microsoft.com/office/drawing/2014/main" id="{4B99553F-A925-4F4A-B2B9-D70A4EB3ADDF}"/>
              </a:ext>
            </a:extLst>
          </p:cNvPr>
          <p:cNvPicPr>
            <a:picLocks noChangeAspect="1"/>
          </p:cNvPicPr>
          <p:nvPr/>
        </p:nvPicPr>
        <p:blipFill>
          <a:blip r:embed="rId3"/>
          <a:stretch>
            <a:fillRect/>
          </a:stretch>
        </p:blipFill>
        <p:spPr>
          <a:xfrm>
            <a:off x="0" y="-9802"/>
            <a:ext cx="9144000" cy="5143500"/>
          </a:xfrm>
          <a:prstGeom prst="rect">
            <a:avLst/>
          </a:prstGeom>
        </p:spPr>
      </p:pic>
    </p:spTree>
    <p:extLst>
      <p:ext uri="{BB962C8B-B14F-4D97-AF65-F5344CB8AC3E}">
        <p14:creationId xmlns:p14="http://schemas.microsoft.com/office/powerpoint/2010/main" val="572530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7" name="Picture 6">
            <a:extLst>
              <a:ext uri="{FF2B5EF4-FFF2-40B4-BE49-F238E27FC236}">
                <a16:creationId xmlns:a16="http://schemas.microsoft.com/office/drawing/2014/main" id="{FD4CEACF-E804-42C7-B71B-FE193DC702F8}"/>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429870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8" name="Picture 7">
            <a:extLst>
              <a:ext uri="{FF2B5EF4-FFF2-40B4-BE49-F238E27FC236}">
                <a16:creationId xmlns:a16="http://schemas.microsoft.com/office/drawing/2014/main" id="{858ED042-4381-4ED5-830A-4A09F9756F7B}"/>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527202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8" name="Picture 7">
            <a:extLst>
              <a:ext uri="{FF2B5EF4-FFF2-40B4-BE49-F238E27FC236}">
                <a16:creationId xmlns:a16="http://schemas.microsoft.com/office/drawing/2014/main" id="{54F3E601-00FB-4E02-BEEA-449CFDFE3969}"/>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4071550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0" name="Picture 9">
            <a:extLst>
              <a:ext uri="{FF2B5EF4-FFF2-40B4-BE49-F238E27FC236}">
                <a16:creationId xmlns:a16="http://schemas.microsoft.com/office/drawing/2014/main" id="{136E1029-BAF3-4B1E-85B5-BDD40D21F2A0}"/>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746528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3" name="Google Shape;303;p38"/>
          <p:cNvSpPr/>
          <p:nvPr/>
        </p:nvSpPr>
        <p:spPr>
          <a:xfrm>
            <a:off x="5992700" y="385800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38"/>
          <p:cNvSpPr txBox="1">
            <a:spLocks noGrp="1"/>
          </p:cNvSpPr>
          <p:nvPr>
            <p:ph type="title"/>
          </p:nvPr>
        </p:nvSpPr>
        <p:spPr>
          <a:xfrm>
            <a:off x="448389" y="996474"/>
            <a:ext cx="4387800" cy="67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t>Admin Module </a:t>
            </a:r>
            <a:endParaRPr sz="2400" dirty="0"/>
          </a:p>
        </p:txBody>
      </p:sp>
      <p:cxnSp>
        <p:nvCxnSpPr>
          <p:cNvPr id="305" name="Google Shape;305;p38"/>
          <p:cNvCxnSpPr>
            <a:cxnSpLocks/>
          </p:cNvCxnSpPr>
          <p:nvPr/>
        </p:nvCxnSpPr>
        <p:spPr>
          <a:xfrm>
            <a:off x="511200" y="1641091"/>
            <a:ext cx="3297654"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06" name="Google Shape;306;p38"/>
          <p:cNvSpPr/>
          <p:nvPr/>
        </p:nvSpPr>
        <p:spPr>
          <a:xfrm>
            <a:off x="-1607075" y="3416900"/>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892050" y="4162250"/>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ubtitle 1">
            <a:extLst>
              <a:ext uri="{FF2B5EF4-FFF2-40B4-BE49-F238E27FC236}">
                <a16:creationId xmlns:a16="http://schemas.microsoft.com/office/drawing/2014/main" id="{6E032CE9-75BD-4E03-A7DF-0EA5C21E5D9F}"/>
              </a:ext>
            </a:extLst>
          </p:cNvPr>
          <p:cNvSpPr>
            <a:spLocks noGrp="1" noChangeArrowheads="1"/>
          </p:cNvSpPr>
          <p:nvPr>
            <p:ph type="subTitle" idx="1"/>
          </p:nvPr>
        </p:nvSpPr>
        <p:spPr bwMode="auto">
          <a:xfrm>
            <a:off x="511175" y="2173005"/>
            <a:ext cx="3563796"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Admin manages system users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Controls doctors/patients data</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accent2">
                    <a:lumMod val="95000"/>
                    <a:lumOff val="5000"/>
                  </a:schemeClr>
                </a:solidFill>
                <a:effectLst/>
                <a:latin typeface="Arial" panose="020B0604020202020204" pitchFamily="34" charset="0"/>
              </a:rPr>
              <a:t>Manages platform monitoring</a:t>
            </a:r>
          </a:p>
        </p:txBody>
      </p:sp>
    </p:spTree>
    <p:extLst>
      <p:ext uri="{BB962C8B-B14F-4D97-AF65-F5344CB8AC3E}">
        <p14:creationId xmlns:p14="http://schemas.microsoft.com/office/powerpoint/2010/main" val="36760804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1" name="Picture 10">
            <a:extLst>
              <a:ext uri="{FF2B5EF4-FFF2-40B4-BE49-F238E27FC236}">
                <a16:creationId xmlns:a16="http://schemas.microsoft.com/office/drawing/2014/main" id="{9647C879-07E2-4E64-976D-5B4955057E83}"/>
              </a:ext>
            </a:extLst>
          </p:cNvPr>
          <p:cNvPicPr>
            <a:picLocks noChangeAspect="1"/>
          </p:cNvPicPr>
          <p:nvPr/>
        </p:nvPicPr>
        <p:blipFill>
          <a:blip r:embed="rId3"/>
          <a:stretch>
            <a:fillRect/>
          </a:stretch>
        </p:blipFill>
        <p:spPr>
          <a:xfrm>
            <a:off x="0" y="-49318"/>
            <a:ext cx="9144000" cy="5143500"/>
          </a:xfrm>
          <a:prstGeom prst="rect">
            <a:avLst/>
          </a:prstGeom>
        </p:spPr>
      </p:pic>
    </p:spTree>
    <p:extLst>
      <p:ext uri="{BB962C8B-B14F-4D97-AF65-F5344CB8AC3E}">
        <p14:creationId xmlns:p14="http://schemas.microsoft.com/office/powerpoint/2010/main" val="1518000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1" name="Picture 10">
            <a:extLst>
              <a:ext uri="{FF2B5EF4-FFF2-40B4-BE49-F238E27FC236}">
                <a16:creationId xmlns:a16="http://schemas.microsoft.com/office/drawing/2014/main" id="{DD85C42D-86FF-41B5-9E0A-7328E40B1265}"/>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776480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1" name="Picture 10">
            <a:extLst>
              <a:ext uri="{FF2B5EF4-FFF2-40B4-BE49-F238E27FC236}">
                <a16:creationId xmlns:a16="http://schemas.microsoft.com/office/drawing/2014/main" id="{04DF5F3F-727D-4D66-BFD4-FE1DFEACF3A9}"/>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167378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1" name="Picture 10">
            <a:extLst>
              <a:ext uri="{FF2B5EF4-FFF2-40B4-BE49-F238E27FC236}">
                <a16:creationId xmlns:a16="http://schemas.microsoft.com/office/drawing/2014/main" id="{FB9A2215-EDA1-4BE8-B3F4-16C3C5F6816B}"/>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2235205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1" name="Picture 10">
            <a:extLst>
              <a:ext uri="{FF2B5EF4-FFF2-40B4-BE49-F238E27FC236}">
                <a16:creationId xmlns:a16="http://schemas.microsoft.com/office/drawing/2014/main" id="{46D5DB13-262D-4E9A-BA2F-61F5DE7B08A3}"/>
              </a:ext>
            </a:extLst>
          </p:cNvPr>
          <p:cNvPicPr>
            <a:picLocks noChangeAspect="1"/>
          </p:cNvPicPr>
          <p:nvPr/>
        </p:nvPicPr>
        <p:blipFill>
          <a:blip r:embed="rId3"/>
          <a:stretch>
            <a:fillRect/>
          </a:stretch>
        </p:blipFill>
        <p:spPr>
          <a:xfrm>
            <a:off x="-137196" y="0"/>
            <a:ext cx="9144000" cy="5143500"/>
          </a:xfrm>
          <a:prstGeom prst="rect">
            <a:avLst/>
          </a:prstGeom>
        </p:spPr>
      </p:pic>
    </p:spTree>
    <p:extLst>
      <p:ext uri="{BB962C8B-B14F-4D97-AF65-F5344CB8AC3E}">
        <p14:creationId xmlns:p14="http://schemas.microsoft.com/office/powerpoint/2010/main" val="2905157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1" name="Picture 10">
            <a:extLst>
              <a:ext uri="{FF2B5EF4-FFF2-40B4-BE49-F238E27FC236}">
                <a16:creationId xmlns:a16="http://schemas.microsoft.com/office/drawing/2014/main" id="{363719A9-B050-44A7-881B-027287151DE3}"/>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569965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1" name="Picture 10">
            <a:extLst>
              <a:ext uri="{FF2B5EF4-FFF2-40B4-BE49-F238E27FC236}">
                <a16:creationId xmlns:a16="http://schemas.microsoft.com/office/drawing/2014/main" id="{26916EE3-276B-4B71-BF17-D0EEA54418A1}"/>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229283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1" name="Picture 10">
            <a:extLst>
              <a:ext uri="{FF2B5EF4-FFF2-40B4-BE49-F238E27FC236}">
                <a16:creationId xmlns:a16="http://schemas.microsoft.com/office/drawing/2014/main" id="{B25E7EFE-8CE8-4A6E-936A-ED2837DF561F}"/>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2745322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F2710DDE-0C15-4F03-82CF-8019952E90C0}"/>
              </a:ext>
            </a:extLst>
          </p:cNvPr>
          <p:cNvPicPr>
            <a:picLocks noChangeAspect="1"/>
          </p:cNvPicPr>
          <p:nvPr/>
        </p:nvPicPr>
        <p:blipFill>
          <a:blip r:embed="rId3"/>
          <a:stretch>
            <a:fillRect/>
          </a:stretch>
        </p:blipFill>
        <p:spPr>
          <a:xfrm>
            <a:off x="2341739" y="0"/>
            <a:ext cx="4460521" cy="5143500"/>
          </a:xfrm>
          <a:prstGeom prst="rect">
            <a:avLst/>
          </a:prstGeom>
        </p:spPr>
      </p:pic>
    </p:spTree>
    <p:extLst>
      <p:ext uri="{BB962C8B-B14F-4D97-AF65-F5344CB8AC3E}">
        <p14:creationId xmlns:p14="http://schemas.microsoft.com/office/powerpoint/2010/main" val="2062144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4" name="Picture 3">
            <a:extLst>
              <a:ext uri="{FF2B5EF4-FFF2-40B4-BE49-F238E27FC236}">
                <a16:creationId xmlns:a16="http://schemas.microsoft.com/office/drawing/2014/main" id="{FDF76160-30AF-44CD-B5E2-D7745508B054}"/>
              </a:ext>
            </a:extLst>
          </p:cNvPr>
          <p:cNvPicPr>
            <a:picLocks noChangeAspect="1"/>
          </p:cNvPicPr>
          <p:nvPr/>
        </p:nvPicPr>
        <p:blipFill>
          <a:blip r:embed="rId3"/>
          <a:stretch>
            <a:fillRect/>
          </a:stretch>
        </p:blipFill>
        <p:spPr>
          <a:xfrm>
            <a:off x="1970942" y="0"/>
            <a:ext cx="5202116" cy="5143500"/>
          </a:xfrm>
          <a:prstGeom prst="rect">
            <a:avLst/>
          </a:prstGeom>
        </p:spPr>
      </p:pic>
    </p:spTree>
    <p:extLst>
      <p:ext uri="{BB962C8B-B14F-4D97-AF65-F5344CB8AC3E}">
        <p14:creationId xmlns:p14="http://schemas.microsoft.com/office/powerpoint/2010/main" val="2684254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22DB6529-0FB9-43C9-B472-EC8941F19E4A}"/>
              </a:ext>
            </a:extLst>
          </p:cNvPr>
          <p:cNvPicPr>
            <a:picLocks noChangeAspect="1"/>
          </p:cNvPicPr>
          <p:nvPr/>
        </p:nvPicPr>
        <p:blipFill>
          <a:blip r:embed="rId3"/>
          <a:stretch>
            <a:fillRect/>
          </a:stretch>
        </p:blipFill>
        <p:spPr>
          <a:xfrm>
            <a:off x="1175863" y="285431"/>
            <a:ext cx="6792273" cy="4572638"/>
          </a:xfrm>
          <a:prstGeom prst="rect">
            <a:avLst/>
          </a:prstGeom>
        </p:spPr>
      </p:pic>
    </p:spTree>
    <p:extLst>
      <p:ext uri="{BB962C8B-B14F-4D97-AF65-F5344CB8AC3E}">
        <p14:creationId xmlns:p14="http://schemas.microsoft.com/office/powerpoint/2010/main" val="3663536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6ABA1726-53DF-4DED-B580-12EAF347B813}"/>
              </a:ext>
            </a:extLst>
          </p:cNvPr>
          <p:cNvPicPr>
            <a:picLocks noChangeAspect="1"/>
          </p:cNvPicPr>
          <p:nvPr/>
        </p:nvPicPr>
        <p:blipFill>
          <a:blip r:embed="rId3"/>
          <a:stretch>
            <a:fillRect/>
          </a:stretch>
        </p:blipFill>
        <p:spPr>
          <a:xfrm>
            <a:off x="1166337" y="185404"/>
            <a:ext cx="6811326" cy="4772691"/>
          </a:xfrm>
          <a:prstGeom prst="rect">
            <a:avLst/>
          </a:prstGeom>
        </p:spPr>
      </p:pic>
    </p:spTree>
    <p:extLst>
      <p:ext uri="{BB962C8B-B14F-4D97-AF65-F5344CB8AC3E}">
        <p14:creationId xmlns:p14="http://schemas.microsoft.com/office/powerpoint/2010/main" val="3995300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AAA6D2A6-417E-4D83-AEBA-25DBD5D184D6}"/>
              </a:ext>
            </a:extLst>
          </p:cNvPr>
          <p:cNvPicPr>
            <a:picLocks noChangeAspect="1"/>
          </p:cNvPicPr>
          <p:nvPr/>
        </p:nvPicPr>
        <p:blipFill>
          <a:blip r:embed="rId3"/>
          <a:stretch>
            <a:fillRect/>
          </a:stretch>
        </p:blipFill>
        <p:spPr>
          <a:xfrm>
            <a:off x="1242548" y="237799"/>
            <a:ext cx="6658904" cy="4667901"/>
          </a:xfrm>
          <a:prstGeom prst="rect">
            <a:avLst/>
          </a:prstGeom>
        </p:spPr>
      </p:pic>
    </p:spTree>
    <p:extLst>
      <p:ext uri="{BB962C8B-B14F-4D97-AF65-F5344CB8AC3E}">
        <p14:creationId xmlns:p14="http://schemas.microsoft.com/office/powerpoint/2010/main" val="3505215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4" name="Google Shape;304;p38"/>
          <p:cNvSpPr/>
          <p:nvPr/>
        </p:nvSpPr>
        <p:spPr>
          <a:xfrm>
            <a:off x="7745700" y="-741600"/>
            <a:ext cx="2162700" cy="2162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38"/>
          <p:cNvSpPr/>
          <p:nvPr/>
        </p:nvSpPr>
        <p:spPr>
          <a:xfrm>
            <a:off x="7940842" y="3757796"/>
            <a:ext cx="2981400" cy="29814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366792" y="-363194"/>
            <a:ext cx="1490700" cy="14907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TextBox 5">
            <a:extLst>
              <a:ext uri="{FF2B5EF4-FFF2-40B4-BE49-F238E27FC236}">
                <a16:creationId xmlns:a16="http://schemas.microsoft.com/office/drawing/2014/main" id="{CE8437AB-6F63-4B53-86E7-21D696208A55}"/>
              </a:ext>
            </a:extLst>
          </p:cNvPr>
          <p:cNvSpPr txBox="1"/>
          <p:nvPr/>
        </p:nvSpPr>
        <p:spPr>
          <a:xfrm>
            <a:off x="1123908" y="818738"/>
            <a:ext cx="6689557" cy="3506024"/>
          </a:xfrm>
          <a:prstGeom prst="rect">
            <a:avLst/>
          </a:prstGeom>
          <a:noFill/>
        </p:spPr>
        <p:txBody>
          <a:bodyPr wrap="square">
            <a:spAutoFit/>
          </a:bodyPr>
          <a:lstStyle/>
          <a:p>
            <a:pPr algn="l"/>
            <a:r>
              <a:rPr lang="en-US" b="1" i="0" dirty="0">
                <a:solidFill>
                  <a:schemeClr val="accent2"/>
                </a:solidFill>
                <a:effectLst/>
                <a:latin typeface="-apple-system"/>
              </a:rPr>
              <a:t>⚠️ </a:t>
            </a:r>
            <a:r>
              <a:rPr lang="en-US" b="1" i="0" dirty="0">
                <a:solidFill>
                  <a:srgbClr val="C00000"/>
                </a:solidFill>
                <a:effectLst/>
                <a:latin typeface="-apple-system"/>
              </a:rPr>
              <a:t>Limitations</a:t>
            </a:r>
          </a:p>
          <a:p>
            <a:pPr algn="l"/>
            <a:endParaRPr lang="en-US" b="1" i="0" dirty="0">
              <a:solidFill>
                <a:srgbClr val="C00000"/>
              </a:solidFill>
              <a:effectLst/>
              <a:latin typeface="-apple-system"/>
            </a:endParaRPr>
          </a:p>
          <a:p>
            <a:pPr algn="l"/>
            <a:r>
              <a:rPr lang="en-US" b="0" i="0" dirty="0">
                <a:solidFill>
                  <a:schemeClr val="accent2"/>
                </a:solidFill>
                <a:effectLst/>
                <a:latin typeface="-apple-system"/>
              </a:rPr>
              <a:t>This project works well, but like any real system, it has boundaries. These help reviewers see that you understand tradeoffs.</a:t>
            </a:r>
          </a:p>
          <a:p>
            <a:pPr marL="285750" indent="-285750" algn="l">
              <a:lnSpc>
                <a:spcPct val="150000"/>
              </a:lnSpc>
              <a:buFont typeface="Wingdings" panose="05000000000000000000" pitchFamily="2" charset="2"/>
              <a:buChar char="q"/>
            </a:pPr>
            <a:r>
              <a:rPr lang="en-US" b="0" i="0" dirty="0">
                <a:solidFill>
                  <a:schemeClr val="accent2"/>
                </a:solidFill>
                <a:effectLst/>
                <a:latin typeface="-apple-system"/>
              </a:rPr>
              <a:t>System currently depends on reliable internet access for most features.</a:t>
            </a:r>
          </a:p>
          <a:p>
            <a:pPr marL="285750" indent="-285750" algn="l">
              <a:lnSpc>
                <a:spcPct val="150000"/>
              </a:lnSpc>
              <a:buFont typeface="Wingdings" panose="05000000000000000000" pitchFamily="2" charset="2"/>
              <a:buChar char="q"/>
            </a:pPr>
            <a:r>
              <a:rPr lang="en-US" b="0" i="0" dirty="0">
                <a:solidFill>
                  <a:schemeClr val="accent2"/>
                </a:solidFill>
                <a:effectLst/>
                <a:latin typeface="-apple-system"/>
              </a:rPr>
              <a:t>Payment testing may rely on sandbox mode instead of fully live production transactions.</a:t>
            </a:r>
          </a:p>
          <a:p>
            <a:pPr marL="285750" indent="-285750" algn="l">
              <a:lnSpc>
                <a:spcPct val="150000"/>
              </a:lnSpc>
              <a:buFont typeface="Wingdings" panose="05000000000000000000" pitchFamily="2" charset="2"/>
              <a:buChar char="q"/>
            </a:pPr>
            <a:r>
              <a:rPr lang="en-US" b="0" i="0" dirty="0">
                <a:solidFill>
                  <a:schemeClr val="accent2"/>
                </a:solidFill>
                <a:effectLst/>
                <a:latin typeface="-apple-system"/>
              </a:rPr>
              <a:t>AI chatbot suggestions are supportive, not medically certified or expert-approved.</a:t>
            </a:r>
          </a:p>
          <a:p>
            <a:pPr marL="285750" indent="-285750" algn="l">
              <a:lnSpc>
                <a:spcPct val="150000"/>
              </a:lnSpc>
              <a:buFont typeface="Wingdings" panose="05000000000000000000" pitchFamily="2" charset="2"/>
              <a:buChar char="q"/>
            </a:pPr>
            <a:r>
              <a:rPr lang="en-US" b="0" i="0" dirty="0">
                <a:solidFill>
                  <a:schemeClr val="accent2"/>
                </a:solidFill>
                <a:effectLst/>
                <a:latin typeface="-apple-system"/>
              </a:rPr>
              <a:t>Refund logic follows predefined rules and may not handle all real-world edge cases.</a:t>
            </a:r>
          </a:p>
          <a:p>
            <a:pPr marL="285750" indent="-285750" algn="l">
              <a:lnSpc>
                <a:spcPct val="150000"/>
              </a:lnSpc>
              <a:buFont typeface="Wingdings" panose="05000000000000000000" pitchFamily="2" charset="2"/>
              <a:buChar char="q"/>
            </a:pPr>
            <a:r>
              <a:rPr lang="en-US" b="0" i="0" dirty="0">
                <a:solidFill>
                  <a:schemeClr val="accent2"/>
                </a:solidFill>
                <a:effectLst/>
                <a:latin typeface="-apple-system"/>
              </a:rPr>
              <a:t>No mobile app version yet, only web-based.</a:t>
            </a:r>
          </a:p>
          <a:p>
            <a:pPr marL="285750" indent="-285750" algn="l">
              <a:lnSpc>
                <a:spcPct val="150000"/>
              </a:lnSpc>
              <a:buFont typeface="Wingdings" panose="05000000000000000000" pitchFamily="2" charset="2"/>
              <a:buChar char="q"/>
            </a:pPr>
            <a:r>
              <a:rPr lang="en-US" b="0" i="0" dirty="0">
                <a:solidFill>
                  <a:schemeClr val="accent2"/>
                </a:solidFill>
                <a:effectLst/>
                <a:latin typeface="-apple-system"/>
              </a:rPr>
              <a:t>Role permissions are predefined and not configurable through UI.</a:t>
            </a:r>
          </a:p>
          <a:p>
            <a:pPr marL="285750" indent="-285750" algn="l">
              <a:lnSpc>
                <a:spcPct val="150000"/>
              </a:lnSpc>
              <a:buFont typeface="Wingdings" panose="05000000000000000000" pitchFamily="2" charset="2"/>
              <a:buChar char="q"/>
            </a:pPr>
            <a:r>
              <a:rPr lang="en-US" b="0" i="0" dirty="0">
                <a:solidFill>
                  <a:schemeClr val="accent2"/>
                </a:solidFill>
                <a:effectLst/>
                <a:latin typeface="-apple-system"/>
              </a:rPr>
              <a:t>Performance not fully stress-tested for very high traffic.</a:t>
            </a:r>
          </a:p>
        </p:txBody>
      </p:sp>
    </p:spTree>
    <p:extLst>
      <p:ext uri="{BB962C8B-B14F-4D97-AF65-F5344CB8AC3E}">
        <p14:creationId xmlns:p14="http://schemas.microsoft.com/office/powerpoint/2010/main" val="718562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66" name="Google Shape;366;p42"/>
          <p:cNvSpPr txBox="1">
            <a:spLocks noGrp="1"/>
          </p:cNvSpPr>
          <p:nvPr>
            <p:ph type="title" idx="8"/>
          </p:nvPr>
        </p:nvSpPr>
        <p:spPr>
          <a:xfrm>
            <a:off x="713225" y="539500"/>
            <a:ext cx="7717500" cy="47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Conclusion !</a:t>
            </a:r>
            <a:endParaRPr dirty="0"/>
          </a:p>
        </p:txBody>
      </p:sp>
      <p:sp>
        <p:nvSpPr>
          <p:cNvPr id="387" name="Google Shape;387;p42"/>
          <p:cNvSpPr/>
          <p:nvPr/>
        </p:nvSpPr>
        <p:spPr>
          <a:xfrm>
            <a:off x="8111975" y="4289825"/>
            <a:ext cx="637500" cy="6375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 name="Google Shape;305;p38">
            <a:extLst>
              <a:ext uri="{FF2B5EF4-FFF2-40B4-BE49-F238E27FC236}">
                <a16:creationId xmlns:a16="http://schemas.microsoft.com/office/drawing/2014/main" id="{FB6456BC-341D-434A-8D34-BFB9D38972DB}"/>
              </a:ext>
            </a:extLst>
          </p:cNvPr>
          <p:cNvCxnSpPr>
            <a:cxnSpLocks/>
          </p:cNvCxnSpPr>
          <p:nvPr/>
        </p:nvCxnSpPr>
        <p:spPr>
          <a:xfrm>
            <a:off x="827502" y="1141880"/>
            <a:ext cx="2063616" cy="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32" name="Subtitle 1">
            <a:extLst>
              <a:ext uri="{FF2B5EF4-FFF2-40B4-BE49-F238E27FC236}">
                <a16:creationId xmlns:a16="http://schemas.microsoft.com/office/drawing/2014/main" id="{B3D005D2-F03E-482A-8631-2A35434CE988}"/>
              </a:ext>
            </a:extLst>
          </p:cNvPr>
          <p:cNvSpPr>
            <a:spLocks noGrp="1" noChangeArrowheads="1"/>
          </p:cNvSpPr>
          <p:nvPr>
            <p:ph type="subTitle" idx="1"/>
          </p:nvPr>
        </p:nvSpPr>
        <p:spPr bwMode="auto">
          <a:xfrm>
            <a:off x="521764" y="1565259"/>
            <a:ext cx="7590211" cy="2177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a:lnSpc>
                <a:spcPct val="115000"/>
              </a:lnSpc>
              <a:spcAft>
                <a:spcPts val="800"/>
              </a:spcAft>
            </a:pPr>
            <a:r>
              <a:rPr lang="en-US" sz="2800" dirty="0"/>
              <a:t>TeleMed System makes healthcare access easier, faster, and more organized through online appointment &amp; consultation support.</a:t>
            </a:r>
            <a:endParaRPr lang="en-US" sz="2000" dirty="0">
              <a:solidFill>
                <a:schemeClr val="bg1">
                  <a:lumMod val="10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pic>
        <p:nvPicPr>
          <p:cNvPr id="8" name="Google Shape;914;p67">
            <a:extLst>
              <a:ext uri="{FF2B5EF4-FFF2-40B4-BE49-F238E27FC236}">
                <a16:creationId xmlns:a16="http://schemas.microsoft.com/office/drawing/2014/main" id="{A1188894-D100-4F3A-823F-2E69085EA2C0}"/>
              </a:ext>
            </a:extLst>
          </p:cNvPr>
          <p:cNvPicPr preferRelativeResize="0"/>
          <p:nvPr/>
        </p:nvPicPr>
        <p:blipFill rotWithShape="1">
          <a:blip r:embed="rId3"/>
          <a:srcRect l="2262" t="166" b="-1316"/>
          <a:stretch/>
        </p:blipFill>
        <p:spPr>
          <a:xfrm>
            <a:off x="5667935" y="966749"/>
            <a:ext cx="3476066" cy="3210000"/>
          </a:xfrm>
          <a:prstGeom prst="roundRect">
            <a:avLst>
              <a:gd name="adj" fmla="val 16667"/>
            </a:avLst>
          </a:prstGeom>
          <a:noFill/>
          <a:ln>
            <a:noFill/>
          </a:ln>
        </p:spPr>
      </p:pic>
      <p:sp>
        <p:nvSpPr>
          <p:cNvPr id="9" name="Google Shape;915;p67">
            <a:extLst>
              <a:ext uri="{FF2B5EF4-FFF2-40B4-BE49-F238E27FC236}">
                <a16:creationId xmlns:a16="http://schemas.microsoft.com/office/drawing/2014/main" id="{2A439418-7429-466D-8904-9FEA885273E4}"/>
              </a:ext>
            </a:extLst>
          </p:cNvPr>
          <p:cNvSpPr txBox="1">
            <a:spLocks noGrp="1"/>
          </p:cNvSpPr>
          <p:nvPr>
            <p:ph type="title"/>
          </p:nvPr>
        </p:nvSpPr>
        <p:spPr>
          <a:xfrm>
            <a:off x="713225" y="539500"/>
            <a:ext cx="4057500" cy="87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t>Thanks</a:t>
            </a:r>
            <a:r>
              <a:rPr lang="en" sz="4800" b="1" dirty="0">
                <a:solidFill>
                  <a:srgbClr val="00B0F0"/>
                </a:solidFill>
              </a:rPr>
              <a:t>!</a:t>
            </a:r>
            <a:endParaRPr sz="4800" b="1" dirty="0">
              <a:solidFill>
                <a:srgbClr val="00B0F0"/>
              </a:solidFill>
            </a:endParaRPr>
          </a:p>
        </p:txBody>
      </p:sp>
      <p:sp>
        <p:nvSpPr>
          <p:cNvPr id="10" name="Google Shape;916;p67">
            <a:extLst>
              <a:ext uri="{FF2B5EF4-FFF2-40B4-BE49-F238E27FC236}">
                <a16:creationId xmlns:a16="http://schemas.microsoft.com/office/drawing/2014/main" id="{E6A0B7A1-E5BD-4E54-A6D6-6B6B1B4DC938}"/>
              </a:ext>
            </a:extLst>
          </p:cNvPr>
          <p:cNvSpPr txBox="1">
            <a:spLocks/>
          </p:cNvSpPr>
          <p:nvPr/>
        </p:nvSpPr>
        <p:spPr>
          <a:xfrm>
            <a:off x="713225" y="1886129"/>
            <a:ext cx="4057500" cy="1165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lt1"/>
              </a:buClr>
              <a:buSzPts val="1100"/>
            </a:pPr>
            <a:r>
              <a:rPr lang="en-US" sz="2000" dirty="0"/>
              <a:t>Let me know, if you have any questions</a:t>
            </a:r>
            <a:r>
              <a:rPr lang="en-US" sz="2000" b="1" dirty="0">
                <a:solidFill>
                  <a:srgbClr val="C00000"/>
                </a:solidFill>
              </a:rPr>
              <a:t>?</a:t>
            </a:r>
          </a:p>
        </p:txBody>
      </p:sp>
      <p:cxnSp>
        <p:nvCxnSpPr>
          <p:cNvPr id="11" name="Google Shape;918;p67">
            <a:extLst>
              <a:ext uri="{FF2B5EF4-FFF2-40B4-BE49-F238E27FC236}">
                <a16:creationId xmlns:a16="http://schemas.microsoft.com/office/drawing/2014/main" id="{2337E1EB-8846-48B7-ADB3-E4E3E826DA08}"/>
              </a:ext>
            </a:extLst>
          </p:cNvPr>
          <p:cNvCxnSpPr/>
          <p:nvPr/>
        </p:nvCxnSpPr>
        <p:spPr>
          <a:xfrm>
            <a:off x="713225" y="1667200"/>
            <a:ext cx="1272300" cy="0"/>
          </a:xfrm>
          <a:prstGeom prst="straightConnector1">
            <a:avLst/>
          </a:prstGeom>
          <a:noFill/>
          <a:ln w="9525" cap="flat" cmpd="sng">
            <a:solidFill>
              <a:schemeClr val="accent2"/>
            </a:solidFill>
            <a:prstDash val="solid"/>
            <a:round/>
            <a:headEnd type="none" w="med" len="med"/>
            <a:tailEnd type="none" w="med" len="med"/>
          </a:ln>
        </p:spPr>
      </p:cxnSp>
      <p:sp>
        <p:nvSpPr>
          <p:cNvPr id="12" name="Google Shape;934;p67">
            <a:extLst>
              <a:ext uri="{FF2B5EF4-FFF2-40B4-BE49-F238E27FC236}">
                <a16:creationId xmlns:a16="http://schemas.microsoft.com/office/drawing/2014/main" id="{F0A24523-ADFA-4FFA-A544-0E9AD1FC5786}"/>
              </a:ext>
            </a:extLst>
          </p:cNvPr>
          <p:cNvSpPr/>
          <p:nvPr/>
        </p:nvSpPr>
        <p:spPr>
          <a:xfrm>
            <a:off x="8197175" y="539500"/>
            <a:ext cx="637500" cy="637500"/>
          </a:xfrm>
          <a:prstGeom prst="ellipse">
            <a:avLst/>
          </a:prstGeom>
          <a:solidFill>
            <a:schemeClr val="dk1"/>
          </a:solidFill>
          <a:ln>
            <a:noFill/>
          </a:ln>
          <a:effectLst>
            <a:outerShdw blurRad="214313" algn="bl" rotWithShape="0">
              <a:schemeClr val="accent2">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35;p67">
            <a:extLst>
              <a:ext uri="{FF2B5EF4-FFF2-40B4-BE49-F238E27FC236}">
                <a16:creationId xmlns:a16="http://schemas.microsoft.com/office/drawing/2014/main" id="{B4A7E9FC-EE62-48C3-BAAA-5957326E0991}"/>
              </a:ext>
            </a:extLst>
          </p:cNvPr>
          <p:cNvSpPr/>
          <p:nvPr/>
        </p:nvSpPr>
        <p:spPr>
          <a:xfrm>
            <a:off x="5393275" y="2381238"/>
            <a:ext cx="381000" cy="381000"/>
          </a:xfrm>
          <a:prstGeom prst="ellipse">
            <a:avLst/>
          </a:pr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omputer Science &amp; Mathematics Major For College: Mathematics by Slidesgo">
  <a:themeElements>
    <a:clrScheme name="Simple Light">
      <a:dk1>
        <a:srgbClr val="FFFFFF"/>
      </a:dk1>
      <a:lt1>
        <a:srgbClr val="F3F3F3"/>
      </a:lt1>
      <a:dk2>
        <a:srgbClr val="666666"/>
      </a:dk2>
      <a:lt2>
        <a:srgbClr val="D149CE"/>
      </a:lt2>
      <a:accent1>
        <a:srgbClr val="43309F"/>
      </a:accent1>
      <a:accent2>
        <a:srgbClr val="000000"/>
      </a:accent2>
      <a:accent3>
        <a:srgbClr val="FFFFFF"/>
      </a:accent3>
      <a:accent4>
        <a:srgbClr val="FFFFFF"/>
      </a:accent4>
      <a:accent5>
        <a:srgbClr val="FFFFFF"/>
      </a:accent5>
      <a:accent6>
        <a:srgbClr val="FFFFFF"/>
      </a:accent6>
      <a:hlink>
        <a:srgbClr val="6666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799</TotalTime>
  <Words>3512</Words>
  <Application>Microsoft Office PowerPoint</Application>
  <PresentationFormat>On-screen Show (16:9)</PresentationFormat>
  <Paragraphs>578</Paragraphs>
  <Slides>131</Slides>
  <Notes>131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131</vt:i4>
      </vt:variant>
    </vt:vector>
  </HeadingPairs>
  <TitlesOfParts>
    <vt:vector size="144" baseType="lpstr">
      <vt:lpstr>Nunito Light</vt:lpstr>
      <vt:lpstr>Bebas Neue</vt:lpstr>
      <vt:lpstr>Wingdings</vt:lpstr>
      <vt:lpstr>Calibri</vt:lpstr>
      <vt:lpstr>Poppins SemiBold</vt:lpstr>
      <vt:lpstr>Sora</vt:lpstr>
      <vt:lpstr>Open Sans</vt:lpstr>
      <vt:lpstr>Times New Roman</vt:lpstr>
      <vt:lpstr>Arial</vt:lpstr>
      <vt:lpstr>Poppins</vt:lpstr>
      <vt:lpstr>Aptos</vt:lpstr>
      <vt:lpstr>-apple-system</vt:lpstr>
      <vt:lpstr>Computer Science &amp; Mathematics Major For College: Mathematics by Slidesgo</vt:lpstr>
      <vt:lpstr>Welcome!</vt:lpstr>
      <vt:lpstr>Table of Contents</vt:lpstr>
      <vt:lpstr>Abir Hasan</vt:lpstr>
      <vt:lpstr>Introduction!</vt:lpstr>
      <vt:lpstr>Problem Statement </vt:lpstr>
      <vt:lpstr>Solution Overview </vt:lpstr>
      <vt:lpstr>Database Design</vt:lpstr>
      <vt:lpstr>PowerPoint Presentation</vt:lpstr>
      <vt:lpstr>User Requirements!</vt:lpstr>
      <vt:lpstr>User Requirements (Cont.)</vt:lpstr>
      <vt:lpstr>User Requirements (Cont.)</vt:lpstr>
      <vt:lpstr>System Requirements!</vt:lpstr>
      <vt:lpstr>System Requirements (Cont.)</vt:lpstr>
      <vt:lpstr>System Requirements (Cont.)</vt:lpstr>
      <vt:lpstr>System Requirements (Cont.)</vt:lpstr>
      <vt:lpstr>System Requirements (Cont.)</vt:lpstr>
      <vt:lpstr>System Requirements (Cont.)</vt:lpstr>
      <vt:lpstr>System Requirements (Cont.)</vt:lpstr>
      <vt:lpstr>System Requirements (Cont.)</vt:lpstr>
      <vt:lpstr>System Requirements (Cont.)</vt:lpstr>
      <vt:lpstr>System Requirements (Cont.)</vt:lpstr>
      <vt:lpstr>Functional Requirements!</vt:lpstr>
      <vt:lpstr>Non-functional Requirements!</vt:lpstr>
      <vt:lpstr>Non-functional Requirements (Cont.)</vt:lpstr>
      <vt:lpstr>Non-functional Requirements (Cont.)</vt:lpstr>
      <vt:lpstr>Non-functional Requirements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Selected Process Model</vt:lpstr>
      <vt:lpstr>Iterative Development Plan for TeleMed </vt:lpstr>
      <vt:lpstr>Why Iterative Model for TeleMed?</vt:lpstr>
      <vt:lpstr>Advantages for TeleMed Development</vt:lpstr>
      <vt:lpstr>Why Not Other Models?  </vt:lpstr>
      <vt:lpstr>Evidence of Incremental Development</vt:lpstr>
      <vt:lpstr>Challenges with Incremental Approach</vt:lpstr>
      <vt:lpstr>Project Outcomes</vt:lpstr>
      <vt:lpstr>Activity Diagram(Cont.)</vt:lpstr>
      <vt:lpstr>Activity Diagram(Cont.)</vt:lpstr>
      <vt:lpstr>Activity Diagram(Cont.)</vt:lpstr>
      <vt:lpstr>Activity Diagram(Cont.)</vt:lpstr>
      <vt:lpstr>Activity Diagram(Cont.)</vt:lpstr>
      <vt:lpstr>Activity Diagram(Cont.)</vt:lpstr>
      <vt:lpstr>Activity Diagram(Cont.)</vt:lpstr>
      <vt:lpstr>Activity Diagram(Cont.)</vt:lpstr>
      <vt:lpstr>Activity Diagram(Cont.)</vt:lpstr>
      <vt:lpstr>Swim Lane Diagrams(Cont.)</vt:lpstr>
      <vt:lpstr>Swim Lane Diagrams(Cont.)</vt:lpstr>
      <vt:lpstr>Swim Lane Diagrams(Cont.)</vt:lpstr>
      <vt:lpstr>Swim Lane Diagrams(Cont.)</vt:lpstr>
      <vt:lpstr>Swim Lane Diagrams(Cont.)</vt:lpstr>
      <vt:lpstr>Swim Lane Diagrams(Cont.)</vt:lpstr>
      <vt:lpstr>Swim Lane Diagrams(Cont.)</vt:lpstr>
      <vt:lpstr>Swim Lane Diagrams(Cont.)</vt:lpstr>
      <vt:lpstr>Swim Lane Diagrams(Cont.)</vt:lpstr>
      <vt:lpstr>Sequence Diagrams(Cont.)</vt:lpstr>
      <vt:lpstr>Sequence Diagrams(Cont.)</vt:lpstr>
      <vt:lpstr>Sequence Diagrams(Cont.)</vt:lpstr>
      <vt:lpstr>Sequence Diagrams(Cont.)</vt:lpstr>
      <vt:lpstr>Sequence Diagrams(Cont.)</vt:lpstr>
      <vt:lpstr>Sequence Diagrams(Cont.)</vt:lpstr>
      <vt:lpstr>Sequence Diagrams(Cont.)</vt:lpstr>
      <vt:lpstr>Sequence Diagrams(Cont.)</vt:lpstr>
      <vt:lpstr>Sequence Diagrams(Cont.)</vt:lpstr>
      <vt:lpstr>CRC Cards (Cont.)</vt:lpstr>
      <vt:lpstr>CRC Cards (Cont.)</vt:lpstr>
      <vt:lpstr>CRC Cards (Cont.)</vt:lpstr>
      <vt:lpstr>CRC Cards (Cont.)</vt:lpstr>
      <vt:lpstr>CRC Cards (Cont.)</vt:lpstr>
      <vt:lpstr>CRC Cards (Cont.)</vt:lpstr>
      <vt:lpstr>CRC Cards (Cont.)</vt:lpstr>
      <vt:lpstr>CRC Cards (Cont.)</vt:lpstr>
      <vt:lpstr>CRC Cards (Cont.)</vt:lpstr>
      <vt:lpstr>CRC Cards (Cont.)</vt:lpstr>
      <vt:lpstr>CRC Cards (Cont.)</vt:lpstr>
      <vt:lpstr>CRC Cards (Cont.)</vt:lpstr>
      <vt:lpstr>CRC Cards (Cont.)</vt:lpstr>
      <vt:lpstr>Class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 / Work flow </vt:lpstr>
      <vt:lpstr>Key Features </vt:lpstr>
      <vt:lpstr>PowerPoint Presentation</vt:lpstr>
      <vt:lpstr>PowerPoint Presentation</vt:lpstr>
      <vt:lpstr>PowerPoint Presentation</vt:lpstr>
      <vt:lpstr>Patient Module </vt:lpstr>
      <vt:lpstr>PowerPoint Presentation</vt:lpstr>
      <vt:lpstr>PowerPoint Presentation</vt:lpstr>
      <vt:lpstr>PowerPoint Presentation</vt:lpstr>
      <vt:lpstr>Doctor Module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Admin Module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Abir Hasan</dc:creator>
  <cp:lastModifiedBy>Abir Hasan</cp:lastModifiedBy>
  <cp:revision>64</cp:revision>
  <dcterms:modified xsi:type="dcterms:W3CDTF">2026-01-20T07:51:10Z</dcterms:modified>
</cp:coreProperties>
</file>