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3" r:id="rId7"/>
    <p:sldId id="307" r:id="rId8"/>
    <p:sldId id="264" r:id="rId9"/>
    <p:sldId id="265" r:id="rId10"/>
    <p:sldId id="267" r:id="rId11"/>
    <p:sldId id="268" r:id="rId12"/>
    <p:sldId id="281" r:id="rId13"/>
    <p:sldId id="308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Sora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774C20-65E5-456E-B282-159E91E297FB}">
  <a:tblStyle styleId="{31774C20-65E5-456E-B282-159E91E297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71" y="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d1bf8d60a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d1bf8d60a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d1bf8d60a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d1bf8d60a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d1bf8d60a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d1bf8d60a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d1bf8d60a4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d1bf8d60a4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2" hasCustomPrompt="1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-5400000" flipH="1">
            <a:off x="-1741502" y="1903025"/>
            <a:ext cx="4581000" cy="3420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>
            <a:spLocks noGrp="1"/>
          </p:cNvSpPr>
          <p:nvPr>
            <p:ph type="pic" idx="2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name="adj1" fmla="val 6414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name="adj1" fmla="val 34437"/>
                <a:gd name="adj2" fmla="val 30563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3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4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 hasCustomPrompt="1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name="adj1" fmla="val 3258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39" name="Google Shape;139;p14"/>
            <p:cNvCxnSpPr/>
            <p:nvPr/>
          </p:nvCxnSpPr>
          <p:spPr>
            <a:xfrm rot="-5400000" flipH="1">
              <a:off x="-2164550" y="1408116"/>
              <a:ext cx="4877100" cy="9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rot="-5400000" flipH="1">
              <a:off x="6857075" y="1775500"/>
              <a:ext cx="4097100" cy="187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6" name="Google Shape;166;p17"/>
            <p:cNvCxnSpPr/>
            <p:nvPr/>
          </p:nvCxnSpPr>
          <p:spPr>
            <a:xfrm rot="10800000" flipH="1">
              <a:off x="667900" y="4271400"/>
              <a:ext cx="2765700" cy="96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7" name="Google Shape;167;p17"/>
            <p:cNvCxnSpPr/>
            <p:nvPr/>
          </p:nvCxnSpPr>
          <p:spPr>
            <a:xfrm rot="5400000" flipH="1">
              <a:off x="7318025" y="3907700"/>
              <a:ext cx="3045000" cy="331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8" name="Google Shape;168;p17"/>
            <p:cNvCxnSpPr/>
            <p:nvPr/>
          </p:nvCxnSpPr>
          <p:spPr>
            <a:xfrm rot="5400000" flipH="1">
              <a:off x="7083950" y="4541675"/>
              <a:ext cx="3325500" cy="317400"/>
            </a:xfrm>
            <a:prstGeom prst="bentConnector3">
              <a:avLst>
                <a:gd name="adj1" fmla="val 64575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9" name="Google Shape;169;p17"/>
            <p:cNvCxnSpPr/>
            <p:nvPr/>
          </p:nvCxnSpPr>
          <p:spPr>
            <a:xfrm rot="10800000" flipH="1">
              <a:off x="-320650" y="4087825"/>
              <a:ext cx="5808300" cy="878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name="adj1" fmla="val 43507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subTitle" idx="2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3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subTitle" idx="1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subTitle" idx="2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4"/>
          <p:cNvSpPr txBox="1">
            <a:spLocks noGrp="1"/>
          </p:cNvSpPr>
          <p:nvPr>
            <p:ph type="subTitle" idx="3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4"/>
          <p:cNvSpPr txBox="1">
            <a:spLocks noGrp="1"/>
          </p:cNvSpPr>
          <p:nvPr>
            <p:ph type="subTitle" idx="4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4"/>
          <p:cNvSpPr txBox="1">
            <a:spLocks noGrp="1"/>
          </p:cNvSpPr>
          <p:nvPr>
            <p:ph type="subTitle" idx="5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4" name="Google Shape;274;p24"/>
          <p:cNvSpPr txBox="1">
            <a:spLocks noGrp="1"/>
          </p:cNvSpPr>
          <p:nvPr>
            <p:ph type="subTitle" idx="6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7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subTitle" idx="8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name="adj1" fmla="val 1888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name="adj1" fmla="val 32793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5"/>
          <p:cNvSpPr txBox="1">
            <a:spLocks noGrp="1"/>
          </p:cNvSpPr>
          <p:nvPr>
            <p:ph type="subTitle" idx="1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25"/>
          <p:cNvSpPr txBox="1">
            <a:spLocks noGrp="1"/>
          </p:cNvSpPr>
          <p:nvPr>
            <p:ph type="subTitle" idx="2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5"/>
          <p:cNvSpPr txBox="1">
            <a:spLocks noGrp="1"/>
          </p:cNvSpPr>
          <p:nvPr>
            <p:ph type="subTitle" idx="3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subTitle" idx="4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5"/>
          <p:cNvSpPr txBox="1">
            <a:spLocks noGrp="1"/>
          </p:cNvSpPr>
          <p:nvPr>
            <p:ph type="subTitle" idx="5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subTitle" idx="6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5"/>
          <p:cNvSpPr txBox="1">
            <a:spLocks noGrp="1"/>
          </p:cNvSpPr>
          <p:nvPr>
            <p:ph type="subTitle" idx="7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97" name="Google Shape;297;p25"/>
          <p:cNvSpPr txBox="1">
            <a:spLocks noGrp="1"/>
          </p:cNvSpPr>
          <p:nvPr>
            <p:ph type="subTitle" idx="8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98" name="Google Shape;298;p25"/>
          <p:cNvSpPr txBox="1">
            <a:spLocks noGrp="1"/>
          </p:cNvSpPr>
          <p:nvPr>
            <p:ph type="subTitle" idx="9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99" name="Google Shape;299;p25"/>
          <p:cNvSpPr txBox="1">
            <a:spLocks noGrp="1"/>
          </p:cNvSpPr>
          <p:nvPr>
            <p:ph type="subTitle" idx="13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00" name="Google Shape;300;p25"/>
          <p:cNvSpPr txBox="1">
            <a:spLocks noGrp="1"/>
          </p:cNvSpPr>
          <p:nvPr>
            <p:ph type="subTitle" idx="14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01" name="Google Shape;301;p25"/>
          <p:cNvSpPr txBox="1">
            <a:spLocks noGrp="1"/>
          </p:cNvSpPr>
          <p:nvPr>
            <p:ph type="subTitle" idx="15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000" b="1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name="adj1" fmla="val -366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name="adj1" fmla="val -97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rot="5400000" flipH="1">
                <a:off x="-1093800" y="3815900"/>
                <a:ext cx="3045000" cy="3318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rot="5400000" flipH="1">
                <a:off x="-1327875" y="4449875"/>
                <a:ext cx="3325500" cy="317400"/>
              </a:xfrm>
              <a:prstGeom prst="bentConnector3">
                <a:avLst>
                  <a:gd name="adj1" fmla="val 64575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rot="10800000" flipH="1">
                <a:off x="-709225" y="4185350"/>
                <a:ext cx="7895400" cy="1147500"/>
              </a:xfrm>
              <a:prstGeom prst="bentConnector3">
                <a:avLst>
                  <a:gd name="adj1" fmla="val 71221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rot="10800000" flipH="1">
                <a:off x="2953025" y="4367125"/>
                <a:ext cx="3567000" cy="1794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name="adj1" fmla="val 4494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avLst/>
              <a:gdLst/>
              <a:ahLst/>
              <a:cxnLst/>
              <a:rect l="l" t="t" r="r" b="b"/>
              <a:pathLst>
                <a:path w="3298" h="3298" extrusionOk="0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avLst/>
              <a:gdLst/>
              <a:ahLst/>
              <a:cxnLst/>
              <a:rect l="l" t="t" r="r" b="b"/>
              <a:pathLst>
                <a:path w="6648" h="6648" extrusionOk="0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5" r:id="rId5"/>
    <p:sldLayoutId id="2147483658" r:id="rId6"/>
    <p:sldLayoutId id="2147483659" r:id="rId7"/>
    <p:sldLayoutId id="2147483660" r:id="rId8"/>
    <p:sldLayoutId id="2147483663" r:id="rId9"/>
    <p:sldLayoutId id="2147483668" r:id="rId10"/>
    <p:sldLayoutId id="2147483670" r:id="rId11"/>
    <p:sldLayoutId id="2147483671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>
            <a:spLocks noGrp="1"/>
          </p:cNvSpPr>
          <p:nvPr>
            <p:ph type="ctrTitle"/>
          </p:nvPr>
        </p:nvSpPr>
        <p:spPr>
          <a:xfrm>
            <a:off x="4157699" y="1061225"/>
            <a:ext cx="4715367" cy="175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dirty="0"/>
              <a:t>Software Process Model Selection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0" dirty="0"/>
              <a:t>For TeleMed System</a:t>
            </a:r>
            <a:br>
              <a:rPr lang="en-US" sz="2000" b="0" dirty="0"/>
            </a:br>
            <a:r>
              <a:rPr lang="en-US" sz="2000" b="0" dirty="0"/>
              <a:t>A Web-Based Telemedicine Platform</a:t>
            </a:r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1"/>
          </p:nvPr>
        </p:nvSpPr>
        <p:spPr>
          <a:xfrm>
            <a:off x="4157700" y="2997199"/>
            <a:ext cx="4260000" cy="856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Presented by: The Anonymous</a:t>
            </a:r>
          </a:p>
          <a:p>
            <a:r>
              <a:rPr lang="en-US" dirty="0"/>
              <a:t>Course Name: Software Engineering</a:t>
            </a:r>
          </a:p>
        </p:txBody>
      </p:sp>
      <p:cxnSp>
        <p:nvCxnSpPr>
          <p:cNvPr id="370" name="Google Shape;370;p33"/>
          <p:cNvCxnSpPr>
            <a:endCxn id="369" idx="1"/>
          </p:cNvCxnSpPr>
          <p:nvPr/>
        </p:nvCxnSpPr>
        <p:spPr>
          <a:xfrm rot="16200000" flipH="1">
            <a:off x="2272738" y="1540650"/>
            <a:ext cx="3425611" cy="344313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371" name="Google Shape;371;p33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372" name="Google Shape;372;p33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373" name="Google Shape;373;p33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4231" extrusionOk="0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3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3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avLst/>
                <a:gdLst/>
                <a:ahLst/>
                <a:cxnLst/>
                <a:rect l="l" t="t" r="r" b="b"/>
                <a:pathLst>
                  <a:path w="3298" h="3298" extrusionOk="0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3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505" extrusionOk="0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3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504" extrusionOk="0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3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avLst/>
                <a:gdLst/>
                <a:ahLst/>
                <a:cxnLst/>
                <a:rect l="l" t="t" r="r" b="b"/>
                <a:pathLst>
                  <a:path w="6648" h="6648" extrusionOk="0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3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avLst/>
                <a:gdLst/>
                <a:ahLst/>
                <a:cxnLst/>
                <a:rect l="l" t="t" r="r" b="b"/>
                <a:pathLst>
                  <a:path w="4230" h="4231" extrusionOk="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3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avLst/>
                <a:gdLst/>
                <a:ahLst/>
                <a:cxnLst/>
                <a:rect l="l" t="t" r="r" b="b"/>
                <a:pathLst>
                  <a:path w="34075" h="8058" extrusionOk="0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3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8887" extrusionOk="0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avLst/>
                <a:gdLst/>
                <a:ahLst/>
                <a:cxnLst/>
                <a:rect l="l" t="t" r="r" b="b"/>
                <a:pathLst>
                  <a:path w="11833" h="8454" extrusionOk="0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avLst/>
                <a:gdLst/>
                <a:ahLst/>
                <a:cxnLst/>
                <a:rect l="l" t="t" r="r" b="b"/>
                <a:pathLst>
                  <a:path w="30761" h="25679" extrusionOk="0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3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avLst/>
                <a:gdLst/>
                <a:ahLst/>
                <a:cxnLst/>
                <a:rect l="l" t="t" r="r" b="b"/>
                <a:pathLst>
                  <a:path w="30778" h="25639" extrusionOk="0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3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avLst/>
                <a:gdLst/>
                <a:ahLst/>
                <a:cxnLst/>
                <a:rect l="l" t="t" r="r" b="b"/>
                <a:pathLst>
                  <a:path w="30732" h="22819" extrusionOk="0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3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avLst/>
                <a:gdLst/>
                <a:ahLst/>
                <a:cxnLst/>
                <a:rect l="l" t="t" r="r" b="b"/>
                <a:pathLst>
                  <a:path w="28401" h="19608" extrusionOk="0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3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avLst/>
                <a:gdLst/>
                <a:ahLst/>
                <a:cxnLst/>
                <a:rect l="l" t="t" r="r" b="b"/>
                <a:pathLst>
                  <a:path w="28216" h="19384" extrusionOk="0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3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avLst/>
                <a:gdLst/>
                <a:ahLst/>
                <a:cxnLst/>
                <a:rect l="l" t="t" r="r" b="b"/>
                <a:pathLst>
                  <a:path w="15176" h="12466" extrusionOk="0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3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avLst/>
                <a:gdLst/>
                <a:ahLst/>
                <a:cxnLst/>
                <a:rect l="l" t="t" r="r" b="b"/>
                <a:pathLst>
                  <a:path w="13531" h="11638" extrusionOk="0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3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avLst/>
                <a:gdLst/>
                <a:ahLst/>
                <a:cxnLst/>
                <a:rect l="l" t="t" r="r" b="b"/>
                <a:pathLst>
                  <a:path w="17363" h="22393" extrusionOk="0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3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avLst/>
                <a:gdLst/>
                <a:ahLst/>
                <a:cxnLst/>
                <a:rect l="l" t="t" r="r" b="b"/>
                <a:pathLst>
                  <a:path w="12155" h="17697" extrusionOk="0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3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avLst/>
                <a:gdLst/>
                <a:ahLst/>
                <a:cxnLst/>
                <a:rect l="l" t="t" r="r" b="b"/>
                <a:pathLst>
                  <a:path w="13237" h="4473" extrusionOk="0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3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avLst/>
                <a:gdLst/>
                <a:ahLst/>
                <a:cxnLst/>
                <a:rect l="l" t="t" r="r" b="b"/>
                <a:pathLst>
                  <a:path w="16149" h="13737" extrusionOk="0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3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8109" extrusionOk="0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3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4975" extrusionOk="0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3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avLst/>
                <a:gdLst/>
                <a:ahLst/>
                <a:cxnLst/>
                <a:rect l="l" t="t" r="r" b="b"/>
                <a:pathLst>
                  <a:path w="7073" h="1966" extrusionOk="0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3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avLst/>
                <a:gdLst/>
                <a:ahLst/>
                <a:cxnLst/>
                <a:rect l="l" t="t" r="r" b="b"/>
                <a:pathLst>
                  <a:path w="13271" h="7402" extrusionOk="0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3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avLst/>
                <a:gdLst/>
                <a:ahLst/>
                <a:cxnLst/>
                <a:rect l="l" t="t" r="r" b="b"/>
                <a:pathLst>
                  <a:path w="16961" h="8483" extrusionOk="0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3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718" extrusionOk="0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3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3758" extrusionOk="0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3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3995" extrusionOk="0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3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1284" extrusionOk="0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3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avLst/>
                <a:gdLst/>
                <a:ahLst/>
                <a:cxnLst/>
                <a:rect l="l" t="t" r="r" b="b"/>
                <a:pathLst>
                  <a:path w="3506" h="5653" extrusionOk="0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3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avLst/>
                <a:gdLst/>
                <a:ahLst/>
                <a:cxnLst/>
                <a:rect l="l" t="t" r="r" b="b"/>
                <a:pathLst>
                  <a:path w="3011" h="5779" extrusionOk="0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3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avLst/>
                <a:gdLst/>
                <a:ahLst/>
                <a:cxnLst/>
                <a:rect l="l" t="t" r="r" b="b"/>
                <a:pathLst>
                  <a:path w="12472" h="14624" extrusionOk="0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3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avLst/>
                <a:gdLst/>
                <a:ahLst/>
                <a:cxnLst/>
                <a:rect l="l" t="t" r="r" b="b"/>
                <a:pathLst>
                  <a:path w="18704" h="2159" extrusionOk="0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3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avLst/>
                <a:gdLst/>
                <a:ahLst/>
                <a:cxnLst/>
                <a:rect l="l" t="t" r="r" b="b"/>
                <a:pathLst>
                  <a:path w="547" h="617" extrusionOk="0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3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avLst/>
                <a:gdLst/>
                <a:ahLst/>
                <a:cxnLst/>
                <a:rect l="l" t="t" r="r" b="b"/>
                <a:pathLst>
                  <a:path w="1417" h="3793" extrusionOk="0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3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1693" extrusionOk="0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3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821" extrusionOk="0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3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avLst/>
                <a:gdLst/>
                <a:ahLst/>
                <a:cxnLst/>
                <a:rect l="l" t="t" r="r" b="b"/>
                <a:pathLst>
                  <a:path w="2521" h="2545" extrusionOk="0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avLst/>
                <a:gdLst/>
                <a:ahLst/>
                <a:cxnLst/>
                <a:rect l="l" t="t" r="r" b="b"/>
                <a:pathLst>
                  <a:path w="4599" h="3989" extrusionOk="0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3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avLst/>
                <a:gdLst/>
                <a:ahLst/>
                <a:cxnLst/>
                <a:rect l="l" t="t" r="r" b="b"/>
                <a:pathLst>
                  <a:path w="6936" h="5652" extrusionOk="0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3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879" h="10832" extrusionOk="0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3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021" h="10832" extrusionOk="0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2901" h="10832" extrusionOk="0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0832" extrusionOk="0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3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avLst/>
                <a:gdLst/>
                <a:ahLst/>
                <a:cxnLst/>
                <a:rect l="l" t="t" r="r" b="b"/>
                <a:pathLst>
                  <a:path w="669" h="3333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1123" extrusionOk="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123" extrusionOk="0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761" extrusionOk="0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4893" extrusionOk="0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avLst/>
                <a:gdLst/>
                <a:ahLst/>
                <a:cxnLst/>
                <a:rect l="l" t="t" r="r" b="b"/>
                <a:pathLst>
                  <a:path w="2095" h="3851" extrusionOk="0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avLst/>
                <a:gdLst/>
                <a:ahLst/>
                <a:cxnLst/>
                <a:rect l="l" t="t" r="r" b="b"/>
                <a:pathLst>
                  <a:path w="12760" h="11516" extrusionOk="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5" name="Google Shape;425;p33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426" name="Google Shape;426;p33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1" h="427" extrusionOk="0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427;p33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33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2" h="427" extrusionOk="0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429" name="Google Shape;429;p33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427" extrusionOk="0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430;p33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" h="421" extrusionOk="0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33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4" h="421" extrusionOk="0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" h="421" extrusionOk="0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421" extrusionOk="0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34" name="Google Shape;434;p33"/>
            <p:cNvSpPr/>
            <p:nvPr/>
          </p:nvSpPr>
          <p:spPr>
            <a:xfrm>
              <a:off x="1049321" y="900579"/>
              <a:ext cx="136492" cy="136492"/>
            </a:xfrm>
            <a:custGeom>
              <a:avLst/>
              <a:gdLst/>
              <a:ahLst/>
              <a:cxnLst/>
              <a:rect l="l" t="t" r="r" b="b"/>
              <a:pathLst>
                <a:path w="4231" h="4231" extrusionOk="0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"/>
          <p:cNvSpPr txBox="1">
            <a:spLocks noGrp="1"/>
          </p:cNvSpPr>
          <p:nvPr>
            <p:ph type="title"/>
          </p:nvPr>
        </p:nvSpPr>
        <p:spPr>
          <a:xfrm>
            <a:off x="828373" y="4788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/>
              <a:t>Project Overview: TeleMed System</a:t>
            </a:r>
          </a:p>
        </p:txBody>
      </p:sp>
      <p:cxnSp>
        <p:nvCxnSpPr>
          <p:cNvPr id="444" name="Google Shape;444;p34"/>
          <p:cNvCxnSpPr/>
          <p:nvPr/>
        </p:nvCxnSpPr>
        <p:spPr>
          <a:xfrm rot="10800000" flipV="1">
            <a:off x="548642" y="5025813"/>
            <a:ext cx="8595358" cy="6541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3593253" y="1639146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📅 Appointment System</a:t>
            </a:r>
          </a:p>
          <a:p>
            <a:endParaRPr lang="en-US" sz="1100" b="1" dirty="0"/>
          </a:p>
          <a:p>
            <a:r>
              <a:rPr lang="en-US" sz="1100" dirty="0"/>
              <a:t>Scheduling and management of virtual consultations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474" y="1656079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🏥 Role-Based Access</a:t>
            </a:r>
          </a:p>
          <a:p>
            <a:endParaRPr lang="en-US" sz="1100" dirty="0"/>
          </a:p>
          <a:p>
            <a:r>
              <a:rPr lang="en-US" sz="1100" dirty="0"/>
              <a:t>Admin, Doctor, and Patient roles with specific functionalities</a:t>
            </a:r>
          </a:p>
          <a:p>
            <a:pPr algn="ctr"/>
            <a:endParaRPr lang="en-US" sz="1100" dirty="0"/>
          </a:p>
        </p:txBody>
      </p:sp>
      <p:sp>
        <p:nvSpPr>
          <p:cNvPr id="15" name="Rounded Rectangle 14"/>
          <p:cNvSpPr/>
          <p:nvPr/>
        </p:nvSpPr>
        <p:spPr>
          <a:xfrm>
            <a:off x="6095955" y="1639146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🎥 Video Sessions</a:t>
            </a:r>
          </a:p>
          <a:p>
            <a:endParaRPr lang="en-US" sz="1100" b="1" dirty="0"/>
          </a:p>
          <a:p>
            <a:r>
              <a:rPr lang="en-US" sz="1100" dirty="0"/>
              <a:t>Real-time video consultations between doctors and patients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6791" y="3044615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📊 Admin Dashboard</a:t>
            </a:r>
          </a:p>
          <a:p>
            <a:endParaRPr lang="en-US" sz="1100" b="1" dirty="0"/>
          </a:p>
          <a:p>
            <a:r>
              <a:rPr lang="en-US" sz="1100" dirty="0"/>
              <a:t>Doctor approval, schedule management, and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9861" y="3047999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💊 Prescription Management</a:t>
            </a:r>
          </a:p>
          <a:p>
            <a:endParaRPr lang="en-US" sz="1100" b="1" dirty="0"/>
          </a:p>
          <a:p>
            <a:r>
              <a:rPr lang="en-US" sz="1100" dirty="0"/>
              <a:t>Digital prescription creation, upload, and download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2889" y="3044614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🔐 Secure </a:t>
            </a:r>
          </a:p>
          <a:p>
            <a:r>
              <a:rPr lang="en-US" sz="1100" b="1" dirty="0"/>
              <a:t>Authentication</a:t>
            </a:r>
          </a:p>
          <a:p>
            <a:endParaRPr lang="en-US" sz="1100" b="1" dirty="0"/>
          </a:p>
          <a:p>
            <a:r>
              <a:rPr lang="en-US" sz="1100" dirty="0"/>
              <a:t>ASP.NET Identity with role-based security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Technology Stack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4108" y="1524001"/>
            <a:ext cx="2255519" cy="2499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Backend &amp; Framework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ASP.NET Core MVC 8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Entity Framework Core with SQL Server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ASP.NET Identity for authentication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135" y="1554480"/>
            <a:ext cx="2255519" cy="2363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Frontend Technologies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Razor Pages for dynamic views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Bootstrap 5 for responsive design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jQuery for client-side interactions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9256" y="1686560"/>
            <a:ext cx="2255519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Additional Tools</a:t>
            </a:r>
          </a:p>
          <a:p>
            <a:endParaRPr lang="en-US" b="1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QuestPDF for prescription generation</a:t>
            </a:r>
          </a:p>
          <a:p>
            <a:pPr>
              <a:buFont typeface="Wingdings" pitchFamily="2" charset="2"/>
              <a:buChar char="ü"/>
            </a:pP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File storage system for document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9;p34"/>
          <p:cNvSpPr txBox="1">
            <a:spLocks noGrp="1"/>
          </p:cNvSpPr>
          <p:nvPr>
            <p:ph type="title"/>
          </p:nvPr>
        </p:nvSpPr>
        <p:spPr>
          <a:xfrm>
            <a:off x="753866" y="214731"/>
            <a:ext cx="7704000" cy="794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Selected Process 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5383" y="1381761"/>
            <a:ext cx="7592905" cy="1354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Incremental Model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A hybrid approach that combines elements of waterfall and evolutionary paradigms, delivering the system in functional increments.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613" y="2919306"/>
            <a:ext cx="7620000" cy="213360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Key Characteristics</a:t>
            </a:r>
          </a:p>
          <a:p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System functionality delivered in increments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Each increment adds new features to the system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Early increments serve as prototypes for later ones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Supports iterative refinement and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>
            <a:spLocks noGrp="1"/>
          </p:cNvSpPr>
          <p:nvPr>
            <p:ph type="title"/>
          </p:nvPr>
        </p:nvSpPr>
        <p:spPr>
          <a:xfrm>
            <a:off x="719999" y="356975"/>
            <a:ext cx="8031147" cy="618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Incremental Development Plan for TeleMed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981" y="1449493"/>
            <a:ext cx="2448566" cy="1347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Core Authentication &amp; User Management</a:t>
            </a:r>
          </a:p>
          <a:p>
            <a:r>
              <a:rPr lang="en-US" sz="1100" dirty="0"/>
              <a:t>Implemented ASP.NET Identity with role-based access control for Admin, Doctor, and Patient roles. Basic user registration and login functionality.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7968" y="1446110"/>
            <a:ext cx="2448566" cy="1347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Appointment Scheduling System</a:t>
            </a:r>
          </a:p>
          <a:p>
            <a:r>
              <a:rPr lang="en-US" sz="1100" dirty="0"/>
              <a:t>Developed appointment booking functionality, schedule management for doctors, and appointment viewing/management for patients.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0368" y="1449498"/>
            <a:ext cx="2448566" cy="1347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Video Consultation Feature</a:t>
            </a:r>
          </a:p>
          <a:p>
            <a:r>
              <a:rPr lang="en-US" sz="1100" dirty="0"/>
              <a:t>Integrated virtual video session capabilities for real-time doctor-patient consultations.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8141" y="3159764"/>
            <a:ext cx="2448566" cy="1347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Prescription Management System</a:t>
            </a:r>
          </a:p>
          <a:p>
            <a:r>
              <a:rPr lang="en-US" sz="1100" dirty="0"/>
              <a:t>Implemented digital prescription creation using QuestPDF, file upload/download functionality, and prescription viewing for patients.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6539" y="3152990"/>
            <a:ext cx="2448566" cy="1347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Admin Dashboard &amp; Reporting</a:t>
            </a:r>
          </a:p>
          <a:p>
            <a:r>
              <a:rPr lang="en-US" sz="1100" dirty="0"/>
              <a:t>Built admin panel for doctor approval, schedule management, payment summaries, and system-wide reports.</a:t>
            </a:r>
          </a:p>
        </p:txBody>
      </p:sp>
      <p:sp>
        <p:nvSpPr>
          <p:cNvPr id="19" name="8-Point Star 18"/>
          <p:cNvSpPr/>
          <p:nvPr/>
        </p:nvSpPr>
        <p:spPr>
          <a:xfrm>
            <a:off x="1503680" y="1076960"/>
            <a:ext cx="318347" cy="270933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8-Point Star 19"/>
          <p:cNvSpPr/>
          <p:nvPr/>
        </p:nvSpPr>
        <p:spPr>
          <a:xfrm>
            <a:off x="4263814" y="1073574"/>
            <a:ext cx="318347" cy="270933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1" name="8-Point Star 20"/>
          <p:cNvSpPr/>
          <p:nvPr/>
        </p:nvSpPr>
        <p:spPr>
          <a:xfrm>
            <a:off x="7020560" y="1053255"/>
            <a:ext cx="318347" cy="270933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2" name="8-Point Star 21"/>
          <p:cNvSpPr/>
          <p:nvPr/>
        </p:nvSpPr>
        <p:spPr>
          <a:xfrm>
            <a:off x="2794000" y="4582160"/>
            <a:ext cx="318347" cy="270933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8-Point Star 22"/>
          <p:cNvSpPr/>
          <p:nvPr/>
        </p:nvSpPr>
        <p:spPr>
          <a:xfrm>
            <a:off x="5604934" y="4609253"/>
            <a:ext cx="318347" cy="270933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Why Incremental Model for TeleMed?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760" y="1320800"/>
            <a:ext cx="7159413" cy="35830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Project-Specific Justifications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Multiple Independent Modules: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system has distinct subsystems (authentication, appointments, video, prescriptions, admin) that can be developed and delivered separately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Early Functional Delivery: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Core features like user registration and appointment booking could be delivered early while advanced features were being developed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Risk Management: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Each increment reduced technical risks by validating critical features (authentication, video integration) early in development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Easier Integration: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modular nature of TeleMed aligned perfectly with incremental integration of subsystems</a:t>
            </a:r>
          </a:p>
          <a:p>
            <a:pPr marL="342900" indent="-342900" algn="just"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Priority-Based Development: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Critical features (security, basic appointments) were implemented first, followed by enhancements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79701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900" dirty="0"/>
              <a:t>Advantages for TeleMed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760" y="1320800"/>
            <a:ext cx="7159413" cy="358309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Early Value Delivery: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Basic telemedicine functionality was available early, allowing for early testing and feedback</a:t>
            </a:r>
          </a:p>
          <a:p>
            <a:pPr algn="just">
              <a:buFont typeface="Wingdings" pitchFamily="2" charset="2"/>
              <a:buChar char="ü"/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Reduced Project Failure Risk: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Each increment validated the approach, reducing the risk of complete project failure</a:t>
            </a:r>
          </a:p>
          <a:p>
            <a:pPr algn="just">
              <a:buFont typeface="Wingdings" pitchFamily="2" charset="2"/>
              <a:buChar char="ü"/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Better Process Iteration: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Lessons learned from early increments (like authentication) improved later increments (like video sessions)</a:t>
            </a:r>
          </a:p>
          <a:p>
            <a:pPr algn="just">
              <a:buFont typeface="Wingdings" pitchFamily="2" charset="2"/>
              <a:buChar char="ü"/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Flexible Priority Management: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Could adjust priorities based on stakeholder feedback (e.g., prioritizing prescription management over advanced reporting)</a:t>
            </a:r>
          </a:p>
          <a:p>
            <a:pPr algn="just">
              <a:buFont typeface="Wingdings" pitchFamily="2" charset="2"/>
              <a:buChar char="ü"/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Parallel Development Opportunities: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Different teams or developers could work on different increments simultaneously</a:t>
            </a:r>
          </a:p>
          <a:p>
            <a:pPr algn="just">
              <a:buFont typeface="Wingdings" pitchFamily="2" charset="2"/>
              <a:buChar char="ü"/>
            </a:pP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1300" b="1" dirty="0">
                <a:latin typeface="Times New Roman" pitchFamily="18" charset="0"/>
                <a:cs typeface="Times New Roman" pitchFamily="18" charset="0"/>
              </a:rPr>
              <a:t>Continuous Testing:</a:t>
            </a:r>
            <a:r>
              <a:rPr lang="en-US" sz="1300" dirty="0">
                <a:latin typeface="Times New Roman" pitchFamily="18" charset="0"/>
                <a:cs typeface="Times New Roman" pitchFamily="18" charset="0"/>
              </a:rPr>
              <a:t> Each increment was fully tested before moving to the next, ensuring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1"/>
          <p:cNvSpPr txBox="1">
            <a:spLocks noGrp="1"/>
          </p:cNvSpPr>
          <p:nvPr>
            <p:ph type="title"/>
          </p:nvPr>
        </p:nvSpPr>
        <p:spPr>
          <a:xfrm>
            <a:off x="659040" y="30955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Why Not Other Models?</a:t>
            </a:r>
            <a:br>
              <a:rPr lang="en-US" dirty="0"/>
            </a:br>
            <a:br>
              <a:rPr lang="en-US" dirty="0"/>
            </a:br>
            <a:endParaRPr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50240" y="1074844"/>
          <a:ext cx="7802880" cy="384937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60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8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Model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Suitable?</a:t>
                      </a: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Reason</a:t>
                      </a:r>
                      <a:endParaRPr lang="en-US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34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Waterfall Model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Requirements were not completely defined upfront; changes were expected during development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Prototyping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Not just a prototype needed; required a fully functional, production-ready system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Spiral Model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Too complex for a university project; requires extensive risk assessment expertise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122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Evolutionary Development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Partial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While some evolution occurred, the structured incremental approach provided better control</a:t>
                      </a: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Incremental Model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28A745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✓</a:t>
                      </a:r>
                      <a:r>
                        <a:rPr lang="en-US" sz="1400" b="1" i="0" u="none" strike="noStrike" cap="none" dirty="0">
                          <a:solidFill>
                            <a:srgbClr val="00B05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Yes</a:t>
                      </a:r>
                      <a:endParaRPr lang="en-US" b="1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42875" marR="142875" marT="142875" marB="142875"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Arial"/>
                        </a:rPr>
                        <a:t>Perfect fit: modular system, manageable complexity, ability to deliver working parts early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42875" marR="142875" marT="142875" marB="1428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2"/>
          <p:cNvSpPr txBox="1">
            <a:spLocks noGrp="1"/>
          </p:cNvSpPr>
          <p:nvPr>
            <p:ph type="title"/>
          </p:nvPr>
        </p:nvSpPr>
        <p:spPr>
          <a:xfrm>
            <a:off x="720000" y="36374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/>
              <a:t>Evidence of Incremental Development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5387" y="1076959"/>
            <a:ext cx="7084907" cy="283125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Observable Patterns in the Project</a:t>
            </a: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Modular Architecture: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Clear separation between authentication module, appointment module, prescription module, and admin module</a:t>
            </a:r>
          </a:p>
          <a:p>
            <a:pPr>
              <a:buFont typeface="Wingdings" pitchFamily="2" charset="2"/>
              <a:buChar char="ü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Progressive Feature Addition: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Started with basic CRUD operations, then added file uploads, then integrated video capabilities</a:t>
            </a:r>
          </a:p>
          <a:p>
            <a:pPr>
              <a:buFont typeface="Wingdings" pitchFamily="2" charset="2"/>
              <a:buChar char="ü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Independent Testing: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Each module could be tested independently before integration</a:t>
            </a:r>
          </a:p>
          <a:p>
            <a:pPr>
              <a:buFont typeface="Wingdings" pitchFamily="2" charset="2"/>
              <a:buChar char="ü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Layered Database Design: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Entity Framework migrations show incremental database schema evolution</a:t>
            </a:r>
          </a:p>
          <a:p>
            <a:pPr>
              <a:buFont typeface="Wingdings" pitchFamily="2" charset="2"/>
              <a:buChar char="ü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Role-Based Progressive Access: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 User roles were implemented in stages, with Patient first, then Doctor,  then Admin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0534" y="4091099"/>
            <a:ext cx="6854613" cy="7247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Development Flow</a:t>
            </a:r>
          </a:p>
          <a:p>
            <a:pPr algn="ctr"/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Foundation (Auth &amp; DB) → Appointments → Video Sessions → Prescriptions → Admin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4"/>
          <p:cNvSpPr txBox="1">
            <a:spLocks noGrp="1"/>
          </p:cNvSpPr>
          <p:nvPr>
            <p:ph type="title"/>
          </p:nvPr>
        </p:nvSpPr>
        <p:spPr>
          <a:xfrm>
            <a:off x="645493" y="309558"/>
            <a:ext cx="81327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Challenges with Incremental Approach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65387" y="1076959"/>
            <a:ext cx="7084907" cy="174752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Challenges Faced</a:t>
            </a:r>
          </a:p>
          <a:p>
            <a:endParaRPr lang="en-US" sz="1200" b="1" dirty="0"/>
          </a:p>
          <a:p>
            <a:pPr>
              <a:buFont typeface="Wingdings" pitchFamily="2" charset="2"/>
              <a:buChar char="ü"/>
            </a:pPr>
            <a:r>
              <a:rPr lang="en-US" sz="1200" dirty="0"/>
              <a:t>Mapping complex requirements (like video integration) to specific increments</a:t>
            </a:r>
          </a:p>
          <a:p>
            <a:pPr>
              <a:buFont typeface="Wingdings" pitchFamily="2" charset="2"/>
              <a:buChar char="ü"/>
            </a:pPr>
            <a:endParaRPr lang="en-US" sz="1200" dirty="0"/>
          </a:p>
          <a:p>
            <a:pPr>
              <a:buFont typeface="Wingdings" pitchFamily="2" charset="2"/>
              <a:buChar char="ü"/>
            </a:pPr>
            <a:r>
              <a:rPr lang="en-US" sz="1200" dirty="0"/>
              <a:t>Managing dependencies between increments (e.g., prescriptions needed appointments first)</a:t>
            </a:r>
          </a:p>
          <a:p>
            <a:pPr>
              <a:buFont typeface="Wingdings" pitchFamily="2" charset="2"/>
              <a:buChar char="ü"/>
            </a:pPr>
            <a:endParaRPr lang="en-US" sz="1200" dirty="0"/>
          </a:p>
          <a:p>
            <a:pPr>
              <a:buFont typeface="Wingdings" pitchFamily="2" charset="2"/>
              <a:buChar char="ü"/>
            </a:pPr>
            <a:r>
              <a:rPr lang="en-US" sz="1200" dirty="0"/>
              <a:t>Ensuring consistent design across all increments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9091" y="2943010"/>
            <a:ext cx="7084907" cy="187282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Solutions Applied</a:t>
            </a:r>
          </a:p>
          <a:p>
            <a:endParaRPr lang="en-US" sz="1200" b="1" dirty="0"/>
          </a:p>
          <a:p>
            <a:pPr marL="228600" indent="-228600">
              <a:buFont typeface="Wingdings" pitchFamily="2" charset="2"/>
              <a:buChar char="ü"/>
            </a:pPr>
            <a:r>
              <a:rPr lang="en-US" sz="1200" dirty="0"/>
              <a:t>Created a clear dependency map before starting development</a:t>
            </a:r>
          </a:p>
          <a:p>
            <a:pPr marL="228600" indent="-228600">
              <a:buFont typeface="Wingdings" pitchFamily="2" charset="2"/>
              <a:buChar char="ü"/>
            </a:pPr>
            <a:endParaRPr lang="en-US" sz="1200" dirty="0"/>
          </a:p>
          <a:p>
            <a:pPr marL="228600" indent="-228600">
              <a:buFont typeface="Wingdings" pitchFamily="2" charset="2"/>
              <a:buChar char="ü"/>
            </a:pPr>
            <a:r>
              <a:rPr lang="en-US" sz="1200" dirty="0"/>
              <a:t>Established design patterns and UI standards in Increment 1</a:t>
            </a:r>
          </a:p>
          <a:p>
            <a:pPr marL="228600" indent="-228600">
              <a:buFont typeface="Wingdings" pitchFamily="2" charset="2"/>
              <a:buChar char="ü"/>
            </a:pPr>
            <a:endParaRPr lang="en-US" sz="1200" dirty="0"/>
          </a:p>
          <a:p>
            <a:pPr marL="228600" indent="-228600">
              <a:buFont typeface="Wingdings" pitchFamily="2" charset="2"/>
              <a:buChar char="ü"/>
            </a:pPr>
            <a:r>
              <a:rPr lang="en-US" sz="1200" dirty="0"/>
              <a:t>Used Entity Framework Core for consistent data access across increments</a:t>
            </a:r>
          </a:p>
          <a:p>
            <a:pPr marL="228600" indent="-228600"/>
            <a:endParaRPr lang="en-US" sz="1200" dirty="0"/>
          </a:p>
          <a:p>
            <a:pPr marL="228600" indent="-228600">
              <a:buFont typeface="Wingdings" pitchFamily="2" charset="2"/>
              <a:buChar char="ü"/>
            </a:pPr>
            <a:r>
              <a:rPr lang="en-US" sz="1200" dirty="0"/>
              <a:t>Implemented common services and utilities in the foundation increment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38;p44"/>
          <p:cNvSpPr txBox="1">
            <a:spLocks noGrp="1"/>
          </p:cNvSpPr>
          <p:nvPr>
            <p:ph type="title"/>
          </p:nvPr>
        </p:nvSpPr>
        <p:spPr>
          <a:xfrm>
            <a:off x="645493" y="309558"/>
            <a:ext cx="813274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/>
              <a:t>Project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387" y="1076959"/>
            <a:ext cx="7531946" cy="10972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Successful Delivery</a:t>
            </a:r>
          </a:p>
          <a:p>
            <a:pPr algn="ctr"/>
            <a:endParaRPr lang="en-US" sz="1200" b="1" dirty="0"/>
          </a:p>
          <a:p>
            <a:pPr algn="ctr"/>
            <a:r>
              <a:rPr lang="en-US" sz="1200" dirty="0"/>
              <a:t>The incremental approach enabled successful delivery of a fully functional telemedicine platform with all planned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9854" y="2316483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✓ Quality Maintained</a:t>
            </a:r>
          </a:p>
          <a:p>
            <a:endParaRPr lang="en-US" sz="1100" b="1" dirty="0"/>
          </a:p>
          <a:p>
            <a:r>
              <a:rPr lang="en-US" sz="1100" dirty="0"/>
              <a:t>Each increment thoroughly tested before moving forward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2320" y="2326639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✓ All Features Delivered</a:t>
            </a:r>
          </a:p>
          <a:p>
            <a:endParaRPr lang="en-US" sz="1100" b="1" dirty="0"/>
          </a:p>
          <a:p>
            <a:r>
              <a:rPr lang="en-US" sz="1100" dirty="0"/>
              <a:t>Every planned increment was completed successfully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9978" y="2299549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✓ Scalable Architecture</a:t>
            </a:r>
          </a:p>
          <a:p>
            <a:endParaRPr lang="en-US" sz="1100" b="1" dirty="0"/>
          </a:p>
          <a:p>
            <a:r>
              <a:rPr lang="en-US" sz="1100" dirty="0"/>
              <a:t>Modular design allows easy addition of new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1066" y="3711786"/>
            <a:ext cx="1957494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✓ Production Ready</a:t>
            </a:r>
          </a:p>
          <a:p>
            <a:endParaRPr lang="en-US" sz="1100" b="1" dirty="0"/>
          </a:p>
          <a:p>
            <a:r>
              <a:rPr lang="en-US" sz="1100" dirty="0"/>
              <a:t>System is fully functional and deployment-ready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707" y="1327560"/>
            <a:ext cx="7084907" cy="186944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Why Incremental Model Was the Right Choice</a:t>
            </a:r>
          </a:p>
          <a:p>
            <a:endParaRPr lang="en-US" sz="1200" b="1" dirty="0"/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200" dirty="0"/>
              <a:t>Enabled structured, manageable development of a complex healthcare system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200" dirty="0"/>
              <a:t>Reduced risks through early validation of critical features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200" dirty="0"/>
              <a:t>Allowed for iterative improvements based on testing and feedback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200" dirty="0"/>
              <a:t>Provided flexibility to adjust priorities during development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200" dirty="0"/>
              <a:t>Resulted in a robust, well-tested, and maintainable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1279" y="3349405"/>
            <a:ext cx="5963919" cy="1097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Final Recommendation</a:t>
            </a:r>
          </a:p>
          <a:p>
            <a:pPr algn="ctr"/>
            <a:endParaRPr lang="en-US" sz="1100" b="1" dirty="0"/>
          </a:p>
          <a:p>
            <a:pPr algn="ctr"/>
            <a:r>
              <a:rPr lang="en-US" sz="1100" dirty="0"/>
              <a:t>The Incremental Model is highly recommended for similar healthcare software projects with multiple independent modules, moderate complexity, and the need for early functional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30;p62"/>
          <p:cNvSpPr txBox="1">
            <a:spLocks/>
          </p:cNvSpPr>
          <p:nvPr/>
        </p:nvSpPr>
        <p:spPr>
          <a:xfrm>
            <a:off x="1492197" y="1347893"/>
            <a:ext cx="3066257" cy="205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tabLst/>
              <a:defRPr/>
            </a:pPr>
            <a:r>
              <a:rPr kumimoji="0" lang="en-US" sz="45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Sora"/>
                <a:ea typeface="Sora"/>
                <a:cs typeface="Sora"/>
                <a:sym typeface="Sora"/>
              </a:rPr>
              <a:t>Thanks!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tabLst/>
              <a:defRPr/>
            </a:pPr>
            <a:endParaRPr lang="en-US" sz="3000" b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lvl="0">
              <a:buClr>
                <a:schemeClr val="dk1"/>
              </a:buClr>
              <a:buSzPts val="3000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Any Questions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?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itchFamily="18" charset="0"/>
              <a:ea typeface="Sora"/>
              <a:cs typeface="Times New Roman" pitchFamily="18" charset="0"/>
              <a:sym typeface="Sora"/>
            </a:endParaRPr>
          </a:p>
        </p:txBody>
      </p:sp>
      <p:pic>
        <p:nvPicPr>
          <p:cNvPr id="26" name="Google Shape;914;p67">
            <a:extLst>
              <a:ext uri="{FF2B5EF4-FFF2-40B4-BE49-F238E27FC236}">
                <a16:creationId xmlns:a16="http://schemas.microsoft.com/office/drawing/2014/main" id="{E6747327-417D-4749-A1E8-EFFEF2E3ADA3}"/>
              </a:ext>
            </a:extLst>
          </p:cNvPr>
          <p:cNvPicPr preferRelativeResize="0"/>
          <p:nvPr/>
        </p:nvPicPr>
        <p:blipFill rotWithShape="1">
          <a:blip r:embed="rId2"/>
          <a:srcRect l="2262" t="166" b="-1316"/>
          <a:stretch/>
        </p:blipFill>
        <p:spPr>
          <a:xfrm>
            <a:off x="5230905" y="966750"/>
            <a:ext cx="3476066" cy="321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959</Words>
  <Application>Microsoft Office PowerPoint</Application>
  <PresentationFormat>On-screen Show (16:9)</PresentationFormat>
  <Paragraphs>175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Open Sans</vt:lpstr>
      <vt:lpstr>Wingdings</vt:lpstr>
      <vt:lpstr>Lato Light</vt:lpstr>
      <vt:lpstr>Lato</vt:lpstr>
      <vt:lpstr>Arial</vt:lpstr>
      <vt:lpstr>Sora</vt:lpstr>
      <vt:lpstr>Times New Roman</vt:lpstr>
      <vt:lpstr>AI Essentials Workshop by Slidesgo</vt:lpstr>
      <vt:lpstr>Software Process Model Selection  For TeleMed System A Web-Based Telemedicine Platform</vt:lpstr>
      <vt:lpstr>Project Overview: TeleMed System</vt:lpstr>
      <vt:lpstr>Technology Stack</vt:lpstr>
      <vt:lpstr>Selected Process Model</vt:lpstr>
      <vt:lpstr>Incremental Development Plan for TeleMed </vt:lpstr>
      <vt:lpstr>Why Incremental Model for TeleMed?</vt:lpstr>
      <vt:lpstr>Advantages for TeleMed Development</vt:lpstr>
      <vt:lpstr>Why Not Other Models?  </vt:lpstr>
      <vt:lpstr>Evidence of Incremental Development</vt:lpstr>
      <vt:lpstr>Challenges with Incremental Approach</vt:lpstr>
      <vt:lpstr>Project Outcomes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Model Selection  For TeleMed System A Web-Based Telemedicine Platform</dc:title>
  <cp:lastModifiedBy>Abir Hasan</cp:lastModifiedBy>
  <cp:revision>8</cp:revision>
  <dcterms:modified xsi:type="dcterms:W3CDTF">2025-11-02T13:09:39Z</dcterms:modified>
</cp:coreProperties>
</file>